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4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5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6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7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8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charts/chart9.xml" ContentType="application/vnd.openxmlformats-officedocument.drawingml.chart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charts/chart10.xml" ContentType="application/vnd.openxmlformats-officedocument.drawingml.chart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notesMasterIdLst>
    <p:notesMasterId r:id="rId6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0.00&quot;×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裸 Thrift</c:v>
                  </c:pt>
                  <c:pt idx="1">
                    <c:v>① library（SRLib）</c:v>
                  </c:pt>
                  <c:pt idx="2">
                    <c:v>② sidecar（SRProxy）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1.36</c:v>
                </c:pt>
                <c:pt idx="2">
                  <c:v>3.73</c:v>
                </c:pt>
              </c:numCache>
            </c:numRef>
          </c:val>
        </c:ser>
        <c:dLbls>
          <c:numFmt formatCode="0.00&quot;×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三次穿越内核协议栈</c:v>
                  </c:pt>
                  <c:pt idx="1">
                    <c:v>连接拼接</c:v>
                  </c:pt>
                  <c:pt idx="2">
                    <c:v>跨进程调度 / 一致性</c:v>
                  </c:pt>
                  <c:pt idx="3">
                    <c:v>负载均衡（真正的功能）</c:v>
                  </c:pt>
                  <c:pt idx="4">
                    <c:v>协议解析（真正的功能）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压缩</c:v>
                  </c:pt>
                  <c:pt idx="1">
                    <c:v>TCP 栈</c:v>
                  </c:pt>
                  <c:pt idx="2">
                    <c:v>序列化</c:v>
                  </c:pt>
                  <c:pt idx="3">
                    <c:v>RPC 库</c:v>
                  </c:pt>
                  <c:pt idx="4">
                    <c:v>加密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3.1</c:v>
                </c:pt>
                <c:pt idx="1">
                  <c:v>1.7</c:v>
                </c:pt>
                <c:pt idx="2">
                  <c:v>1.2</c:v>
                </c:pt>
                <c:pt idx="3">
                  <c:v>1.1</c:v>
                </c:pt>
                <c:pt idx="4">
                  <c:v>0.2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library（[02] 口径）</c:v>
                  </c:pt>
                  <c:pt idx="1">
                    <c:v>sidecar ×2.7</c:v>
                  </c:pt>
                  <c:pt idx="2">
                    <c:v>sidecar ×3.7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7.1</c:v>
                </c:pt>
                <c:pt idx="1">
                  <c:v>19</c:v>
                </c:pt>
                <c:pt idx="2">
                  <c:v>26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贴核能覆盖（整行）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序列化</c:v>
                  </c:pt>
                  <c:pt idx="1">
                    <c:v>压缩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9.6</c:v>
                </c:pt>
                <c:pt idx="1">
                  <c:v>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网卡能覆盖（服务那一格）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序列化</c:v>
                  </c:pt>
                  <c:pt idx="1">
                    <c:v>压缩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1.2</c:v>
                </c:pt>
                <c:pt idx="1">
                  <c:v>0.4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85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F29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Gbps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无序列化</c:v>
                  </c:pt>
                  <c:pt idx="1">
                    <c:v>零拷贝</c:v>
                  </c:pt>
                  <c:pt idx="2">
                    <c:v>一次拷贝</c:v>
                  </c:pt>
                  <c:pt idx="3">
                    <c:v>两次拷贝</c:v>
                  </c:pt>
                  <c:pt idx="4">
                    <c:v>Protobuf / FlatBuffers / Cap'n Proto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</c:v>
                </c:pt>
                <c:pt idx="1">
                  <c:v>48</c:v>
                </c:pt>
                <c:pt idx="2">
                  <c:v>28</c:v>
                </c:pt>
                <c:pt idx="3">
                  <c:v>23</c:v>
                </c:pt>
                <c:pt idx="4">
                  <c:v>14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训练集群（今天）</c:v>
                  </c:pt>
                  <c:pt idx="1">
                    <c:v>推理集群（今天）</c:v>
                  </c:pt>
                  <c:pt idx="2">
                    <c:v>TrendForce 预测</c:v>
                  </c:pt>
                  <c:pt idx="3">
                    <c:v>Intel、AMD：接近 1:1</c:v>
                  </c:pt>
                  <c:pt idx="4">
                    <c:v>Intel 提到的部分 Agent 客户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7.5</c:v>
                </c:pt>
                <c:pt idx="1">
                  <c:v>3.5</c:v>
                </c:pt>
                <c:pt idx="2">
                  <c:v>1.5</c:v>
                </c:pt>
                <c:pt idx="3">
                  <c:v>1</c:v>
                </c:pt>
                <c:pt idx="4">
                  <c:v>0.25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#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AMD 数据中心（Q2 2026，含 GPU）</c:v>
                  </c:pt>
                  <c:pt idx="1">
                    <c:v>海光 营收（2026 上半年）</c:v>
                  </c:pt>
                  <c:pt idx="2">
                    <c:v>Intel DCAI（Q2 2026）</c:v>
                  </c:pt>
                  <c:pt idx="3">
                    <c:v>Arm 总版税（Q1 FY27）</c:v>
                  </c:pt>
                  <c:pt idx="4">
                    <c:v>服务器 CPU 市场（Q2 2026）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</c:v>
                </c:pt>
                <c:pt idx="1">
                  <c:v>66.5</c:v>
                </c:pt>
                <c:pt idx="2">
                  <c:v>59</c:v>
                </c:pt>
                <c:pt idx="3">
                  <c:v>22</c:v>
                </c:pt>
                <c:pt idx="4">
                  <c:v>20</c:v>
                </c:pt>
              </c:numCache>
            </c:numRef>
          </c:val>
        </c:ser>
        <c:dLbls>
          <c:numFmt formatCode="0.#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A1 本地执行（CLI / IDE）</c:v>
                  </c:pt>
                  <c:pt idx="1">
                    <c:v>B 服务端、无沙箱</c:v>
                  </c:pt>
                  <c:pt idx="2">
                    <c:v>C 云端任务沙箱</c:v>
                  </c:pt>
                  <c:pt idx="3">
                    <c:v>E 企业托管 / CI</c:v>
                  </c:pt>
                  <c:pt idx="4">
                    <c:v>D 每用户常驻机</c:v>
                  </c:pt>
                  <c:pt idx="5">
                    <c:v>A2 端侧 GUI</c:v>
                  </c:pt>
                  <c:pt idx="6">
                    <c:v>A3 全本地（含推理）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</c:v>
                </c:pt>
                <c:pt idx="1">
                  <c:v>28</c:v>
                </c:pt>
                <c:pt idx="2">
                  <c:v>11</c:v>
                </c:pt>
                <c:pt idx="3">
                  <c:v>7</c:v>
                </c:pt>
                <c:pt idx="4">
                  <c:v>5</c:v>
                </c:pt>
                <c:pt idx="5">
                  <c:v>2</c:v>
                </c:pt>
                <c:pt idx="6">
                  <c:v>0.6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按内存峰值（每个 3 GB，不超卖）</c:v>
                  </c:pt>
                  <c:pt idx="1">
                    <c:v>按 CPU（每个约 0.1 核，全部活跃）</c:v>
                  </c:pt>
                  <c:pt idx="2">
                    <c:v>按内存均值（每个约 0.3 GB）</c:v>
                  </c:pt>
                  <c:pt idx="3">
                    <c:v>只有 20% 同时活跃、其余暂停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510</c:v>
                </c:pt>
                <c:pt idx="1">
                  <c:v>1340</c:v>
                </c:pt>
                <c:pt idx="2">
                  <c:v>5100</c:v>
                </c:pt>
                <c:pt idx="3">
                  <c:v>6700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F29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2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22-1.png"/><Relationship Id="rId3" Type="http://schemas.openxmlformats.org/officeDocument/2006/relationships/image" Target="../media/image-2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31-1.png"/><Relationship Id="rId3" Type="http://schemas.openxmlformats.org/officeDocument/2006/relationships/image" Target="../media/image-31-2.png"/><Relationship Id="rId4" Type="http://schemas.openxmlformats.org/officeDocument/2006/relationships/image" Target="../media/image-3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0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数据中心的“税”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RPC 微服务到 Agent：负载洞察与鲲鹏的软硬件发力点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主问题：鲲鹏 950（软件）和 960（硬件）该在哪些通用开销上发力，各由哪个团队做？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160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基于约 75 篇论文（2015–2026）的综述，完整版 v3（团队学习 / 评审用）：全篇按“一张矩阵 + 一个乘法”组织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配套：REPORT.md · INSIGHT_DATACENTER_TAX_AI_ERA.md · ~/AgenticAI 阅读报告 · 逻辑提案 OUTLINE_RPC_DECK_V3_LOGIC.md；图均截自论文原文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Kunpeng 基础加速 / 洞察工作组 · v3 · 2026-10-16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一页结论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一页结论：税是数据跨边界的成本——按操作看是数据中心税，按边界看 RPC 税是其中一列；Agent 给这张表加了三列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51560" cy="6309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1051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45920" y="1371600"/>
            <a:ext cx="8915400" cy="630936"/>
          </a:xfrm>
          <a:prstGeom prst="roundRect">
            <a:avLst>
              <a:gd name="adj" fmla="val 1159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37360" y="1389888"/>
            <a:ext cx="8732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数据中心没有杀手应用；CPU 的通用开销是一批共享操作（数据中心税）。Google 2015 年六项合计 22–27%，另有内核约 18–20%（fleet 平均）[01]。</a:t>
            </a:r>
            <a:endParaRPr lang="en-US" sz="1030" dirty="0"/>
          </a:p>
        </p:txBody>
      </p:sp>
      <p:sp>
        <p:nvSpPr>
          <p:cNvPr id="9" name="Text 7"/>
          <p:cNvSpPr txBox="1"/>
          <p:nvPr/>
        </p:nvSpPr>
        <p:spPr>
          <a:xfrm>
            <a:off x="10607040" y="1371600"/>
            <a:ext cx="1005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8–11 页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1051560" cy="6309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075688"/>
            <a:ext cx="1051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成因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645920" y="2075688"/>
            <a:ext cx="8915400" cy="630936"/>
          </a:xfrm>
          <a:prstGeom prst="roundRect">
            <a:avLst>
              <a:gd name="adj" fmla="val 11594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37360" y="2093976"/>
            <a:ext cx="8732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这些操作是数据跨边界的代价。业务拆成数百个服务、存储与计算分开：Meta 一次 Fetch 请求中位经过 498 个服务块 [03]。部署形态再把每次跨越放大：sidecar 让每次 RPC 的 CPU 变成 2.7–3.7 倍 [21][18]。</a:t>
            </a:r>
            <a:endParaRPr lang="en-US" sz="103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0" y="2075688"/>
            <a:ext cx="1005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13–20 页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779776"/>
            <a:ext cx="1051560" cy="63093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779776"/>
            <a:ext cx="1051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645920" y="2779776"/>
            <a:ext cx="8915400" cy="630936"/>
          </a:xfrm>
          <a:prstGeom prst="roundRect">
            <a:avLst>
              <a:gd name="adj" fmla="val 1159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737360" y="2798064"/>
            <a:ext cx="8732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按操作切得到数据中心税，按边界切得到 RPC 税等，两者只在交叉格重叠：序列化 9.6% 里只有约 1.2 个百分点在 RPC 上 [25][02]。两本账有五处对得上；压缩那一格对不上，所以 RPC 税要说口径：[02] 口径 7.1%，严格按 RPC 路径约 4–5%（推算）。</a:t>
            </a:r>
            <a:endParaRPr lang="en-US" sz="103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0" y="2779776"/>
            <a:ext cx="1005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21–24 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1051560" cy="6309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483864"/>
            <a:ext cx="1051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削减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645920" y="3483864"/>
            <a:ext cx="8915400" cy="630936"/>
          </a:xfrm>
          <a:prstGeom prst="roundRect">
            <a:avLst>
              <a:gd name="adj" fmla="val 11594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737360" y="3502152"/>
            <a:ext cx="8732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四个杠杆：减次数、降系数、降每次固定开销、降每字节开销。放的位置决定能吃多少：贴核吃整行（序列化 9.6%、压缩 2.9% 全覆盖），网卡只吃 RPC 那一格（序列化约 1.2%）。</a:t>
            </a:r>
            <a:endParaRPr lang="en-US" sz="1030" dirty="0"/>
          </a:p>
        </p:txBody>
      </p:sp>
      <p:sp>
        <p:nvSpPr>
          <p:cNvPr id="24" name="Text 22"/>
          <p:cNvSpPr txBox="1"/>
          <p:nvPr/>
        </p:nvSpPr>
        <p:spPr>
          <a:xfrm>
            <a:off x="10607040" y="3483864"/>
            <a:ext cx="1005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27–36 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187952"/>
            <a:ext cx="1051560" cy="6309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187952"/>
            <a:ext cx="1051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645920" y="4187952"/>
            <a:ext cx="8915400" cy="630936"/>
          </a:xfrm>
          <a:prstGeom prst="roundRect">
            <a:avLst>
              <a:gd name="adj" fmla="val 1159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737360" y="4206240"/>
            <a:ext cx="8732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同一张表多了三列：模型、执行环境、会话状态。每次调用的单价随上下文变长而上涨，还多了“内存 × 时间”这种货币；先撞上的是内存容量、单核速度和沙箱启动，不是峰值算力。</a:t>
            </a:r>
            <a:endParaRPr lang="en-US" sz="103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4187952"/>
            <a:ext cx="1005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38–52 页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892040"/>
            <a:ext cx="1051560" cy="6309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892040"/>
            <a:ext cx="1051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鲲鹏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645920" y="4892040"/>
            <a:ext cx="8915400" cy="630936"/>
          </a:xfrm>
          <a:prstGeom prst="roundRect">
            <a:avLst>
              <a:gd name="adj" fmla="val 11594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737360" y="4910328"/>
            <a:ext cx="8732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 → 核内指令与 KAE；列 → UB 与 DPA；次数和系数 → 950 软件与协作团队；内存 × 时间 → 内存系统。本团队 P0：增量 tokenizer、KAE 的 4 KB 压缩（快照与 zswap）、DPA 接口；960 的第一诉求是前端取指。</a:t>
            </a:r>
            <a:endParaRPr lang="en-US" sz="1030" dirty="0"/>
          </a:p>
        </p:txBody>
      </p:sp>
      <p:sp>
        <p:nvSpPr>
          <p:cNvPr id="34" name="Text 32"/>
          <p:cNvSpPr txBox="1"/>
          <p:nvPr/>
        </p:nvSpPr>
        <p:spPr>
          <a:xfrm>
            <a:off x="10607040" y="4892040"/>
            <a:ext cx="1005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54–63 页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读法：第一部分按行看现象，第二部分按列找成因并对账，第三、四部分讲四个杠杆，第五部分给表加列，第六部分按行和列落到硅上。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217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数据来源与口径：各条的数字与口径见右侧页码；“行 / 列 / 杠杆”是本报告的组织方式（第 6 页），不是某篇论文的原话；“约 4–5%”的推算见第 21 页。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阅读地图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阅读地图：每一部分回答一个问题，再把下一个问题交出去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172200" cy="42062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61722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六个部分的问题链（→ 是交给下一部分的问题）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19072"/>
            <a:ext cx="5989320" cy="38039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现象（按行看）：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的周期花在哪？没有杀手应用 → 税的组成 → 存储平台 → 微架构。→ 这些操作为什么被调这么多次？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成因（按列看）：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业务怎么拆、一次请求经历了什么？业务形态 → 请求的一生 → 跨越次数 → 每次跨越的形状 → 形态系数 → 对账。→ 每个因子能削多少？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削减：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四个杠杆（减次数、降系数、降每次固定开销、降每字节开销）；学界各削哪一项、吃行还是吃列。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综合：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每一格多大、已证明能削多少；文献的需求清单；客户类型差异。→ AI 来了，这张表还成立吗？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AI 与 Agent：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为什么现在要看（市场信号）→ 一次 Agent 请求的一生 → 表上多了三列和一种货币 → 三个专题对应三条新列。→ 鲲鹏在每一格上做什么？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 规划：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 → 核内指令与 KAE；列 → UB 与 DPA；次数与系数 → 软件与协作团队；内存 × 时间 → 内存系统；矩阵的空格 → 950 待测清单。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371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论文覆盖（约 75 篇，其中 2024–2026 年的约 35 篇）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719072"/>
          <a:ext cx="47548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4864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论文类别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篇数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年份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负载刻画 / benchmark（Google、Meta、阿里、Uber）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2015–2025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微服务部署形态（mesh、RPC 服务化、FaaS）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2019–2026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通信栈（传输、内核旁路、调度、硬件卸载、CXL）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2018–2025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序列化与压缩（软件、零拷贝、加速器）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2020–2026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面向微服务的 CPU / SKU 设计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2019–2024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与 Agent 负载（第五部分的核心论文）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2025–2026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858000" y="4023360"/>
            <a:ext cx="4754880" cy="160020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数据来源分三层：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生产测量（Google、Meta、阿里、GitHub Copilot、DeepSeek）→ 学术 benchmark → 原型评估。三层数字可差一个数量级，逐页标口径。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一致性约定：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每个对象只有一个主讲页，其它页引用同一条表述；附录 B 是关键数字的口径表。[NN] 是 notes/ 笔记编号，[L1–L4]、[R1–R10] 是 ~/AgenticAI 报告的论文编号。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“业务特征 → 负载特征 → 软件（950）→ 硬件（960）”这条链全篇走两遍：第一至四部分走传统负载，第五部分走 Agent，第六部分合流。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先把词说清楚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术语速查：后面每一页都会用到的十二个词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84448" cy="978408"/>
          </a:xfrm>
          <a:prstGeom prst="roundRect">
            <a:avLst>
              <a:gd name="adj" fmla="val 7477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边界与“跨边界的税”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73352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数据从一处到另一处（另一个服务、磁盘、进程，AI 时代还有模型、沙箱）要做格式转换、压缩、拷贝、加密、走协议栈、唤醒线程。本报告把这些开销看成跨边界的税。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288536" y="1371600"/>
            <a:ext cx="3584448" cy="978408"/>
          </a:xfrm>
          <a:prstGeom prst="roundRect">
            <a:avLst>
              <a:gd name="adj" fmla="val 7477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79976" y="141732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行与列（税的矩阵）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379976" y="1673352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 = 操作（序列化、压缩、拷贝……），按行加是数据中心税；列 = 边界（服务、存储……），按列加是某条边界的税。RPC 税是“服务边界”那一列。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8028432" y="1371600"/>
            <a:ext cx="3584448" cy="978408"/>
          </a:xfrm>
          <a:prstGeom prst="roundRect">
            <a:avLst>
              <a:gd name="adj" fmla="val 7477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19872" y="141732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Datacenter tax（数据中心税）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119872" y="1673352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跨应用共享、与业务逻辑无关的底层例程耗掉的 CPU 周期：序列化、压缩、内存分配、拷贝、哈希、网络栈与 RPC 库等。Google 2015 年命名 [01]。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48640" y="2441448"/>
            <a:ext cx="3584448" cy="978408"/>
          </a:xfrm>
          <a:prstGeom prst="roundRect">
            <a:avLst>
              <a:gd name="adj" fmla="val 7477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48716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与 RPC 税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743200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 A 像调本地函数一样调服务 B。RPC 税 = 为跨服务边界花的周期：通信专属操作（网络栈、RPC 库）+ 序列化、压缩、加密在 RPC 上的那几格。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288536" y="2441448"/>
            <a:ext cx="3584448" cy="978408"/>
          </a:xfrm>
          <a:prstGeom prst="roundRect">
            <a:avLst>
              <a:gd name="adj" fmla="val 747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79976" y="248716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fleet（机群）/ fleet 平均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379976" y="2743200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一家公司全部服务器的总体。“fleet 平均 x%” 指全部 CPU 周期里的 x%；“某热点服务里 y%” 是另一个口径，两者常差一个数量级。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028432" y="2441448"/>
            <a:ext cx="3584448" cy="978408"/>
          </a:xfrm>
          <a:prstGeom prst="roundRect">
            <a:avLst>
              <a:gd name="adj" fmla="val 747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19872" y="248716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 / 反序列化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119872" y="2743200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把内存对象变成字节流 / 再变回来（protobuf、Thrift、JSON）。不只发生在 RPC 上：存储读写、日志、进程内传递也用，而且用得更多。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548640" y="3511296"/>
            <a:ext cx="3584448" cy="978408"/>
          </a:xfrm>
          <a:prstGeom prst="roundRect">
            <a:avLst>
              <a:gd name="adj" fmla="val 74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55701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部署形态与形态系数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813048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栈编进应用进程（library）还是旁挂代理进程（sidecar）。形态系数 = 一次逻辑跨越实际变成几次物理跨越：sidecar 每 RPC 多穿两次内核协议栈。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288536" y="3511296"/>
            <a:ext cx="3584448" cy="978408"/>
          </a:xfrm>
          <a:prstGeom prst="roundRect">
            <a:avLst>
              <a:gd name="adj" fmla="val 74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79976" y="355701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四种货币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379976" y="3813048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每次跨越的代价用四种单位计：CPU 周期（决定机器数）、延迟（决定 SLO）、字节（决定带宽）、内存 × 时间（决定沙箱密度，AI 时代新增）。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028432" y="3511296"/>
            <a:ext cx="3584448" cy="978408"/>
          </a:xfrm>
          <a:prstGeom prst="roundRect">
            <a:avLst>
              <a:gd name="adj" fmla="val 74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19872" y="355701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P50 / P99 / 尾延迟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119872" y="3813048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一批请求的延迟从小到大排序，中位数 / 第 99 百分位；“尾延迟”指最慢的那一小部分请求，通常由排队和干扰决定。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48640" y="4581144"/>
            <a:ext cx="3584448" cy="978408"/>
          </a:xfrm>
          <a:prstGeom prst="roundRect">
            <a:avLst>
              <a:gd name="adj" fmla="val 747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462686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IPC / MPKI / 前端 stall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882896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每周期完成的指令数 / 每千条指令的 cache 未命中次数 / 流水线因取不到指令而空转的比例（Top-Down 方法的 front-end bound）。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4288536" y="4581144"/>
            <a:ext cx="3584448" cy="978408"/>
          </a:xfrm>
          <a:prstGeom prst="roundRect">
            <a:avLst>
              <a:gd name="adj" fmla="val 747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379976" y="462686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内核旁路 / 零拷贝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379976" y="4882896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应用绕过操作系统内核直接操作网卡（DPDK、RDMA）/ 数据从应用到网卡不在内存里多搬一遍。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8028432" y="4581144"/>
            <a:ext cx="3584448" cy="978408"/>
          </a:xfrm>
          <a:prstGeom prst="roundRect">
            <a:avLst>
              <a:gd name="adj" fmla="val 747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19872" y="462686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卸载（offload）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119872" y="4882896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把某段工作从 CPU 核搬到网卡、DPU、片上加速器上做；关键变量是“放在哪”（决定吃到一行还是一列）和“调用一次的固定开销”。</a:t>
            </a:r>
            <a:endParaRPr lang="en-US" sz="92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715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数据来源与口径：术语定义综合 [01][02][23] 与本报告第 0 章；黄底四个词是 v3 的组织框架（第 6 页），是本报告的说法，不是论文原话。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先把词说清楚（续）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 Agent 术语：第五、六部分会用到的十个词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2646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与 tokenize（BPE）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8249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模型处理文本的最小单位，约 4 字节一个。tokenize 把文本切成 token 编号；主流算法 BPE 先用正则预分词，再按合并表反复合并相邻符号。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81928" y="142646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prefill 与 decode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281928" y="168249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模型先把整段输入读一遍（prefill，算力密集），再一个 token 一个 token 地生成输出（decode，访存密集）。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29514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缓存与前缀缓存命中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55117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模型读过的上下文留下的中间状态叫 KV 缓存。下一次调用时，前面没变的部分直接复用，叫前缀缓存命中。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224028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81928" y="229514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会话、请求、步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281928" y="255117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用户打开到关掉是一个会话；每输入一句指令是一次请求；一次请求循环多轮，每轮“调一次模型 + 执行工具”是一步（TraceLab 定义）。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16382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harness（Agent 主循环）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41985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调用模型、解析工具调用、拼装上下文的程序，如 Claude Code、Codex 的 CLI；通常跑在用户电脑或云端 VM 上。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310896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81928" y="316382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工具调用与 MCP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81928" y="341985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模型要求运行命令、读写文件、搜索，harness 照做并把结果塞回上下文。MCP 是调用外部工具服务器的协议，消息是 JSON-RPC。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403250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沙箱的三档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428853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进程级限制（bubblewrap、seccomp、Seatbelt）；容器（Docker，gVisor 是在用户态重做内核的特殊容器）；微虚拟机（microVM，如 Firecracker）。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397764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03250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冷启动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281928" y="428853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从零建出进程、解释器、容器或 microVM 的固定开销：建页表、清零内存、动态链接、解释器初始化，以及冷的分支预测器和 TLB。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84632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490118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状态驻留（活着但空闲）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515721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会话没结束、但在等人或等工具时，KV 缓存、沙箱内存和会话状态一直占着内存。它的单位是“GB × 时间”，不是 CPU 周期。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2200" y="484632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81928" y="4901184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rollout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281928" y="5157216"/>
            <a:ext cx="5221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强化学习后训练时批量跑成千上万个 Agent 任务来产生训练数据；每条轨迹一个沙箱，用完即弃。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7044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数据来源与口径：综合 INSIGHT_DATACENTER_TAX_AI_ERA.md 0.4 节术语表、[56] TraceLab 的会话 / 请求 / 步定义、~/AgenticAI《Agentic 时代的数据中心》的沙箱分类。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骨架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全篇的骨架：一张矩阵加一个乘法——按行加是数据中心税，按列加是某条边界的税，RPC 税是服务那一列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7881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758952"/>
                <a:gridCol w="758952"/>
                <a:gridCol w="758952"/>
                <a:gridCol w="758952"/>
                <a:gridCol w="758952"/>
                <a:gridCol w="7589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 ↓ ／ 边界 →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服务（RPC）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 / 内核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执行环境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会话状态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7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 / 解析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拷贝与搬移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内存分配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哈希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专属操作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通信：网络栈、RPC 库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文件格式库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系统调用、切换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tokenize、推理调度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冷启动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驻留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005072"/>
            <a:ext cx="5788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主要发生处　○ 也会发生（示意）　黄列 = 服务边界　紫列 = AI 时代新增的三条边界</a:t>
            </a:r>
            <a:endParaRPr lang="en-US" sz="83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61104"/>
            <a:ext cx="5788152" cy="14173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9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横着加一行 = 数据中心税的一项：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如序列化整行 9.6%（Google fleet）[25]。→ 第一部分</a:t>
            </a:r>
            <a:endParaRPr lang="en-US" sz="94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9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竖着加一列 = 某条边界的税：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服务那一列就是 RPC 税。→ 第二部分</a:t>
            </a:r>
            <a:endParaRPr lang="en-US" sz="94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9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交叉格 = 两种说法重叠的地方：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如“序列化 × 服务”约 1.2% [02]。两本账能不能对上，见第 21–24 页。</a:t>
            </a:r>
            <a:endParaRPr lang="en-US" sz="94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9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第三种切法：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按流水线状态（Top-Down）看每一格在核上怎么跑（第 11 页）。</a:t>
            </a:r>
            <a:endParaRPr lang="en-US" sz="940" dirty="0"/>
          </a:p>
        </p:txBody>
      </p:sp>
      <p:sp>
        <p:nvSpPr>
          <p:cNvPr id="8" name="Shape 5"/>
          <p:cNvSpPr/>
          <p:nvPr/>
        </p:nvSpPr>
        <p:spPr>
          <a:xfrm>
            <a:off x="6537960" y="1371600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1389888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 ≈ Σ 边界 [ 跨越次数 × 每次单价 × 形态系数 ]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8105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每条边界（矩阵的每一列）一项；单价用四种货币计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37960" y="2212848"/>
            <a:ext cx="1630680" cy="201168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11112" y="2258568"/>
            <a:ext cx="148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跨越次数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611112" y="2542032"/>
            <a:ext cx="14843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谁决定：业务怎么拆。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一次 Fetch 请求中位 498 个服务块 [03]；编码 Agent 每次请求调 8.8 次模型、10.8 次工具 [56]。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8260080" y="2212848"/>
            <a:ext cx="1630680" cy="2011680"/>
          </a:xfrm>
          <a:prstGeom prst="rect">
            <a:avLst/>
          </a:prstGeom>
          <a:solidFill>
            <a:srgbClr val="EFF4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33232" y="2258568"/>
            <a:ext cx="148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每次单价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333232" y="2542032"/>
            <a:ext cx="14843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谁决定：做哪些操作 × 数据多大。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固定开销（库逻辑、唤醒、内核穿越）主导中位：RPC 请求中位 &lt;1.5 KB [02]；每字节开销主导几百 KB 的尾部。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9982200" y="2212848"/>
            <a:ext cx="1630680" cy="2011680"/>
          </a:xfrm>
          <a:prstGeom prst="rect">
            <a:avLst/>
          </a:prstGeom>
          <a:solidFill>
            <a:srgbClr val="FDF3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55352" y="2258568"/>
            <a:ext cx="148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形态系数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0055352" y="2542032"/>
            <a:ext cx="14843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谁决定：部署形态。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一次逻辑跨越变成几次物理跨越：sidecar 每 RPC 的 CPU 2.7–3.7× [21][18]；Agent 时代是隔离形态系数（进程 / 容器 / microVM）。</a:t>
            </a:r>
            <a:endParaRPr lang="en-US" sz="870" dirty="0"/>
          </a:p>
        </p:txBody>
      </p:sp>
      <p:sp>
        <p:nvSpPr>
          <p:cNvPr id="20" name="Text 17"/>
          <p:cNvSpPr txBox="1"/>
          <p:nvPr/>
        </p:nvSpPr>
        <p:spPr>
          <a:xfrm>
            <a:off x="6537960" y="429768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单价用四种货币付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537960" y="4553712"/>
            <a:ext cx="1200150" cy="1051560"/>
          </a:xfrm>
          <a:prstGeom prst="roundRect">
            <a:avLst>
              <a:gd name="adj" fmla="val 69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0" y="4599432"/>
            <a:ext cx="1108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周期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4983480"/>
            <a:ext cx="11087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机器数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829550" y="4553712"/>
            <a:ext cx="1200150" cy="1051560"/>
          </a:xfrm>
          <a:prstGeom prst="roundRect">
            <a:avLst>
              <a:gd name="adj" fmla="val 69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75270" y="4599432"/>
            <a:ext cx="1108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875270" y="4983480"/>
            <a:ext cx="11087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SLO 与尾延迟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9121140" y="4553712"/>
            <a:ext cx="1200150" cy="1051560"/>
          </a:xfrm>
          <a:prstGeom prst="roundRect">
            <a:avLst>
              <a:gd name="adj" fmla="val 69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66860" y="4599432"/>
            <a:ext cx="1108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166860" y="4983480"/>
            <a:ext cx="11087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网络与存储带宽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0412730" y="4553712"/>
            <a:ext cx="1200150" cy="1051560"/>
          </a:xfrm>
          <a:prstGeom prst="roundRect">
            <a:avLst>
              <a:gd name="adj" fmla="val 6957"/>
            </a:avLst>
          </a:prstGeom>
          <a:solidFill>
            <a:srgbClr val="F3E9F4"/>
          </a:solidFill>
          <a:ln w="12700">
            <a:solidFill>
              <a:srgbClr val="F3E9F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458450" y="4599432"/>
            <a:ext cx="1108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4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 × 时间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0458450" y="4983480"/>
            <a:ext cx="11087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沙箱密度（AI 新增）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数据中心税是行，RPC 税是列，两者只在交叉格重叠。全篇只用这一张表和这一个乘法；Agent 没有换表，只是加了三列和一种货币。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数据来源与口径：矩阵与公式是本报告的组织方式（OUTLINE_RPC_DECK_V3_LOGIC.md 第 2 节），不是论文原文；●／○ 为示意，各格的实测数字见第 21 页（传统）和第 47 页（AI）。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现象：CPU 的周期花在哪（按操作看）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没有杀手应用 → 税的组成：矩阵的“行合计” → 存储 / 大数据平台：税更重 → 第三种切法：税在流水线上的样子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留给第二部分的问题：这些操作为什么被调这么多次？是为跨哪条边界调的？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通用负载是什么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CPU 周期看没有杀手应用：最热的单个程序只占约 10%，前 50 个合计约 60% 且逐年下降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kanev_fig1_no_killer_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72789"/>
            <a:ext cx="5522976" cy="17556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51129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机群 CPU 周期按二进制累计分布：最热者 9.9%，前 50 个约 60%（[01] Fig. 1）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46520" y="13716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56248" y="1426464"/>
            <a:ext cx="229514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≈10%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556248" y="1898904"/>
            <a:ext cx="229514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最热的单个二进制占 fleet 周期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556248" y="2230184"/>
            <a:ext cx="2295144" cy="275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2015，≈2 万台机器 [01]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9098280" y="13716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208008" y="1426464"/>
            <a:ext cx="229514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≈60%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9208008" y="1898904"/>
            <a:ext cx="229514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50 个二进制合计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9208008" y="2230184"/>
            <a:ext cx="2295144" cy="275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且每年下降约 5 个百分点 [01]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446520" y="265176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56248" y="2706624"/>
            <a:ext cx="229514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6.3%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556248" y="3179064"/>
            <a:ext cx="229514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搜索叶子节点最热的函数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556248" y="3510344"/>
            <a:ext cx="2295144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353 个函数才覆盖 80% 周期 [01]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098280" y="265176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08008" y="2706624"/>
            <a:ext cx="229514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≈50%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9208008" y="3179064"/>
            <a:ext cx="2295144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malloc 周期中 top-50 二进制覆盖率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9208008" y="3677031"/>
            <a:ext cx="22951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2024 [35]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977640"/>
            <a:ext cx="11064240" cy="169164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CPU 周期，负载极度分散，而且越来越分散。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Google 2015 的二进制分布到 2024 年的 malloc 归因，头部程序的覆盖率始终只有一半左右，而且每年下滑。应用内部也一样：搜索叶子节点最热的函数只占 6.3%。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注意度量：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按调用次数看，RPC 集中在少数方法和服务上（第 16 页）。两者量的不是同一个东西，调用集中不等于周期集中。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因此硬件专用化的目标是跨应用共享的底层例程，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也就是“税”：序列化、压缩、内存分配、拷贝、哈希、网络栈与 RPC 库。它们在每个程序里都不大，加起来是机群里最大的可寻址块；下一页按操作（矩阵的行）列出它们。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结论：为单个应用优化的硬件没有 fleet 级价值；只有跨应用共享的“税”才值得硬件专用化——这是全篇的出发点。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数据来源与口径：[01] Kanev 等，ISCA'15，Google ≈2 万台 Ivy Bridge 机器、3 年 GWP 采样，按二进制归因全部 CPU 周期（fleet 平均口径）；[35] Google ASPLOS'24，malloc 周期按二进制归因。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税的组成：行合计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税的组成（按操作看，即矩阵的行）：Google 2015 年六项合计 22–27%；2021–24 年的分项测量里序列化 9.6% 最大，分配降到 4.3%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6352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17320"/>
                <a:gridCol w="1874520"/>
                <a:gridCol w="164592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操作（矩阵的行）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2015 [01]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2021–24（全口径 = 行合计）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2020 [20]（7 个重要微服务）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01168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通用操作：每条边界都会用（序列化、压缩、拷贝、分配、哈希、加密）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序列化（protobuf）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≈3–4%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9.6%（全部 protobuf 操作，C++ 占 88%；可加速部分 3.45%）[25]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 10%、Feed1 13%、Feed2 9%、Cache 4%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最大的一行；按边界拆分见第 21 页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 / 解压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≈5–6%（约 1/4 的 tax）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2.9% [34]；关键服务 10–50%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Feed1 15%、Cache1 15%、Web 11%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95% 字节用弱算法 / 低级别以省 CPU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拷贝（memcpy / memmove）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4–5%（未含内联）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内存函数中的最大项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多数拷贝 &lt;512 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内存分配 / 释放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≈6–7%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4.3% [35]（top-5 应用 3.6–10.1%）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内存函数合计最高 37%；free() 意外地贵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98% 分配 &lt;1 KB，46% 寿命 &lt;1 ms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哈希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≈1–2%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只有服务列那一格：&lt;0.2% [02]（连接复用 &gt;99%）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Cache1 6%（叶子函数）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新建 TLS 连接 1.6 ms / 14 KB [21]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边界专属操作：只在一条边界出现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通信：网络栈 + RPC 库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≈3–4%（“RPC”项：1/3 库逻辑 + 2/3 载荷搬运）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库 1.1% + TCP 栈 1.7% = 2.8% [02]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收发 I/O：Cache2 52%、Cache1 38%、Web 21%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只属于服务边界；不等于 RPC 税（见第 21 页）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 / 线程池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日志：Web 23%；线程池管理 4–11%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日志属于存储边界，学术界很少测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内核（不算可加速的税）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≈18–20%（scheduler ≈5%）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缓存类：切换最多 18% [36]，约 30% 时间在内核 [05]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 IPC 低且跨代不改善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六项合计 22–27%（叶子函数归因，偏低估）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各项来自不同论文，不能加总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核心应用逻辑最少只占 18%（Web）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DCPerf [05] 转述为 tax 18–82%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366760" y="1325880"/>
            <a:ext cx="3246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7" name="Image 0" descr="/home/fanzhenhao/RPC_PAPERS/ppt/figs/kanev_fig4_t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1518638"/>
            <a:ext cx="3099816" cy="136098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58200" y="305409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一年内 tax 六项占全部周期 22–27%（[01] Fig. 4）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8366760" y="3474720"/>
            <a:ext cx="3246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0" name="Image 1" descr="/home/fanzhenhao/RPC_PAPERS/ppt/figs/accel_fig1_app_vs_o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2" y="3699519"/>
            <a:ext cx="3099816" cy="12969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458200" y="52029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7 个生产微服务：应用逻辑 vs 编排开销（[20] Fig. 1）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本页只放行合计（这种操作在全 fleet 的总和）。RPC 路径上的那一份——序列化 1.2%、TCP 栈 1.7%、RPC 库 1.1%、压缩——是“服务那一列”的数，放到第二部分对账（第 21 页）。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619963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数据来源与口径：Google 2015 [01] 为叶子函数归因（偏低估）；2021–24 各项来自不同论文（[35] 分配、[34] 压缩、[25] protobuf、[02] 通信与加密）且口径不同，不能与 2015 直接相减。两个可信趋势：分配下降是 TCMalloc 软件优化的结果；序列化是最大一行。Meta 2020 [20] 是 7 个重要微服务，不是 fleet 平均。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存储平台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 / 大数据平台的税更重：Spanner、BigTable、BigQuery 的 CPU 周期里核心计算只占 18–36%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8463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bigdata_fig3_cycle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76512"/>
            <a:ext cx="4700016" cy="18567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41985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三个生产平台的周期三分：核心计算 / datacenter tax / system tax（[41] Fig. 3）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532120" y="1371600"/>
            <a:ext cx="60807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1" descr="/home/fanzhenhao/RPC_PAPERS/ppt/figs/bigdata_fig5_tax_break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145" y="1444752"/>
            <a:ext cx="2926711" cy="1920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23560" y="3419856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datacenter tax 内部：protobuf、压缩、RPC 是三大项（[41] Fig. 5）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48640" y="38404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" y="3895344"/>
            <a:ext cx="243230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52%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4367784"/>
            <a:ext cx="2432304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端到端时间在远程工作（22%）+ 存储 IO（30%）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58368" y="4865751"/>
            <a:ext cx="2432304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 / 分析负载天然是 RPC 密集的 [41]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337560" y="38404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447288" y="3895344"/>
            <a:ext cx="243230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32–40%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3447288" y="4367784"/>
            <a:ext cx="243230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周期是 datacenter tax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3447288" y="4699064"/>
            <a:ext cx="2432304" cy="412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核心计算只有 18–36%；其余是 system tax [41]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126480" y="38404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236208" y="3895344"/>
            <a:ext cx="243230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32–42%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6236208" y="4367784"/>
            <a:ext cx="2432304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tax：OS、文件系统、标准库等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6236208" y="4865751"/>
            <a:ext cx="2432304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 18–28%，标准库最高 53% [41]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8915400" y="384048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025128" y="3895344"/>
            <a:ext cx="247802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20–25%</a:t>
            </a:r>
            <a:endParaRPr lang="en-US" sz="2400" dirty="0"/>
          </a:p>
        </p:txBody>
      </p:sp>
      <p:sp>
        <p:nvSpPr>
          <p:cNvPr id="25" name="Text 21"/>
          <p:cNvSpPr txBox="1"/>
          <p:nvPr/>
        </p:nvSpPr>
        <p:spPr>
          <a:xfrm>
            <a:off x="9025128" y="4367784"/>
            <a:ext cx="2478024" cy="461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tax 内部 protobuf 占比；压缩占 14–31%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9025128" y="4865751"/>
            <a:ext cx="2478024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占 tax 23–37%（数据库平台）[41]</a:t>
            </a:r>
            <a:endParaRPr lang="en-US" sz="85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5230368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页的表是 fleet 平均或在线微服务口径；这一页是存储 / 分析侧的画像。两边合起来才是“通用负载”的全貌。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存储和 RPC 是嵌套的：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远程存储的每次读写本身就是一次 RPC，但 RPC 搬的是存储层已经编码、压缩好的块——编码和压缩记在“存储”那一列（第 21 页）。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含义：序列化和压缩的加速方案必须能被存储引擎 / 文件格式库调用，只挂在网络 RPC 路径上会漏掉约 65–84% 的编解码操作（第 23 页）。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数据来源与口径：[41] Google ISCA'23，Spanner / BigTable / BigQuery 三个生产平台的实流量刻画；百分比为各平台 CPU 周期归类（不是 fleet 平均）。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微架构画像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第三种切法：同一批周期按流水线状态看，钱花在前端取指、内核和上下文切换上；传统微服务的内存带宽有富余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kanev_fig6_top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005" y="1399032"/>
            <a:ext cx="2072869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8254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12 个应用 vs SPEC 的 Top-Down 分解：前端 stall 明显更高（[01] Fig. 6）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97680" y="132588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1" descr="/home/fanzhenhao/RPC_PAPERS/ppt/figs/dcperf_fig8_l1i_mpk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387" y="1399032"/>
            <a:ext cx="2782186" cy="1371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89120" y="28254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生产负载 L1-I MPKI 7–56，SPEC 只有 1–9（[05] Fig. 8）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8046720" y="132588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2" name="Image 2" descr="/home/fanzhenhao/RPC_PAPERS/ppt/figs/dcperf_fig7_memb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407824"/>
            <a:ext cx="3419856" cy="135401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38160" y="282549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生产内存带宽 19–36 GB/s，约为系统上限的 30%（[05] Fig. 7）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548640" y="3291840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0080" y="33375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前端是第一瓶颈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3575304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Front-end bound 占流水线 slot 的 15–30%（SPEC 的 2–3 倍），5–10% 周期取不到指令 [01]。这是 slot 口径，不与按周期归因的税排序。L1-I 只有 1/4 的 ARM SKU 在 Web 上 Perf/W 低 85% [05]。</a:t>
            </a:r>
            <a:endParaRPr lang="en-US" sz="780" dirty="0"/>
          </a:p>
        </p:txBody>
      </p:sp>
      <p:sp>
        <p:nvSpPr>
          <p:cNvPr id="17" name="Shape 12"/>
          <p:cNvSpPr/>
          <p:nvPr/>
        </p:nvSpPr>
        <p:spPr>
          <a:xfrm>
            <a:off x="3337560" y="3291840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429000" y="33375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聪明的预取无效，缺的是容量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3429000" y="3575304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Pythia、I-SPY 对单体 +16–19%，对微服务 ≈0 [36]。细粒度请求函数工作集只有 0.5 MB；大代码量生产服务的 i-cache miss 来自服务间和 OS 切换的足迹 → 要更大的取指路径、BTB、ITLB。</a:t>
            </a:r>
            <a:endParaRPr lang="en-US" sz="780" dirty="0"/>
          </a:p>
        </p:txBody>
      </p:sp>
      <p:sp>
        <p:nvSpPr>
          <p:cNvPr id="20" name="Shape 15"/>
          <p:cNvSpPr/>
          <p:nvPr/>
        </p:nvSpPr>
        <p:spPr>
          <a:xfrm>
            <a:off x="6126480" y="3291840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217920" y="33375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带宽有富余（传统微服务）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3575304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带宽利用率中位 10%、95 分位 31% [01]；生产 19–36 GB/s ≈ 系统 30% [05]；少数热页贡献大部分带宽 [40]。Agent 负载先撞的是内存容量（第 52 页）。</a:t>
            </a:r>
            <a:endParaRPr lang="en-US" sz="780" dirty="0"/>
          </a:p>
        </p:txBody>
      </p:sp>
      <p:sp>
        <p:nvSpPr>
          <p:cNvPr id="23" name="Shape 18"/>
          <p:cNvSpPr/>
          <p:nvPr/>
        </p:nvSpPr>
        <p:spPr>
          <a:xfrm>
            <a:off x="8915400" y="3291840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006840" y="33375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内核占比高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9006840" y="3575304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fleet 全部内核约 1/5（18–20%）[01]；Meta 缓存类约 30% 时间在内核 [05]；内核 IPC 低且跨代不改善 [20]；384 核上 kernel 6.4 vs 6.9 差 54% [05]。</a:t>
            </a:r>
            <a:endParaRPr lang="en-US" sz="780" dirty="0"/>
          </a:p>
        </p:txBody>
      </p:sp>
      <p:sp>
        <p:nvSpPr>
          <p:cNvPr id="26" name="Shape 21"/>
          <p:cNvSpPr/>
          <p:nvPr/>
        </p:nvSpPr>
        <p:spPr>
          <a:xfrm>
            <a:off x="548640" y="4498848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40080" y="4544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IPC 低：SMT 有吞吐空间</a:t>
            </a:r>
            <a:endParaRPr lang="en-US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640080" y="478231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 IPC 1.0–2.6 [05]，叶子函数用不到峰值一半 [20] → SMT 能提吞吐。但有尾延迟代价：DSec 生产测得兄弟线程混部 +45.2%，core scheduling 后 +17.3% [R10]。</a:t>
            </a:r>
            <a:endParaRPr lang="en-US" sz="780" dirty="0"/>
          </a:p>
        </p:txBody>
      </p:sp>
      <p:sp>
        <p:nvSpPr>
          <p:cNvPr id="29" name="Shape 24"/>
          <p:cNvSpPr/>
          <p:nvPr/>
        </p:nvSpPr>
        <p:spPr>
          <a:xfrm>
            <a:off x="3337560" y="4498848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429000" y="4544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chiplet / NUCA 是新变量</a:t>
            </a:r>
            <a:endParaRPr lang="en-US" sz="950" dirty="0"/>
          </a:p>
        </p:txBody>
      </p:sp>
      <p:sp>
        <p:nvSpPr>
          <p:cNvPr id="31" name="Text 26"/>
          <p:cNvSpPr txBox="1"/>
          <p:nvPr/>
        </p:nvSpPr>
        <p:spPr>
          <a:xfrm>
            <a:off x="3429000" y="478231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 LLC 域的核间传输延迟是域内的 2.07×，迫使分配器分片 [35]；跨核负载均衡让内核网络栈每阶段慢 2–3× [32]。</a:t>
            </a:r>
            <a:endParaRPr lang="en-US" sz="780" dirty="0"/>
          </a:p>
        </p:txBody>
      </p:sp>
      <p:sp>
        <p:nvSpPr>
          <p:cNvPr id="32" name="Shape 27"/>
          <p:cNvSpPr/>
          <p:nvPr/>
        </p:nvSpPr>
        <p:spPr>
          <a:xfrm>
            <a:off x="6126480" y="4498848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217920" y="4544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对 CPI 敏感、对 LLC miss 不敏感</a:t>
            </a:r>
            <a:endParaRPr lang="en-US" sz="950" dirty="0"/>
          </a:p>
        </p:txBody>
      </p:sp>
      <p:sp>
        <p:nvSpPr>
          <p:cNvPr id="34" name="Text 29"/>
          <p:cNvSpPr txBox="1"/>
          <p:nvPr/>
        </p:nvSpPr>
        <p:spPr>
          <a:xfrm>
            <a:off x="6217920" y="478231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栈重的 KV 服务尾延迟随 CPI 波动；分支预测失败率和 LLC miss 率与 RPC 延迟不相关 [02]。</a:t>
            </a:r>
            <a:endParaRPr lang="en-US" sz="780" dirty="0"/>
          </a:p>
        </p:txBody>
      </p:sp>
      <p:sp>
        <p:nvSpPr>
          <p:cNvPr id="35" name="Shape 30"/>
          <p:cNvSpPr/>
          <p:nvPr/>
        </p:nvSpPr>
        <p:spPr>
          <a:xfrm>
            <a:off x="8915400" y="4498848"/>
            <a:ext cx="2697480" cy="1133856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9006840" y="4544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主频杠杆与小核</a:t>
            </a:r>
            <a:endParaRPr lang="en-US" sz="950" dirty="0"/>
          </a:p>
        </p:txBody>
      </p:sp>
      <p:sp>
        <p:nvSpPr>
          <p:cNvPr id="37" name="Text 32"/>
          <p:cNvSpPr txBox="1"/>
          <p:nvPr/>
        </p:nvSpPr>
        <p:spPr>
          <a:xfrm>
            <a:off x="9006840" y="478231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Uber：同微架构主频 +9% → P50 −15%、尾延迟 −1.5× [07]；顺序小核不可用于关键路径 [06]；µManycore 证明小核的问题在软件调度与切换 [36]。</a:t>
            </a:r>
            <a:endParaRPr lang="en-US" sz="780" dirty="0"/>
          </a:p>
        </p:txBody>
      </p:sp>
      <p:sp>
        <p:nvSpPr>
          <p:cNvPr id="38" name="Shape 33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因果：跨边界越频繁，代码足迹越大、切换越多，就表现为前端停顿和内核占比高（Cerebros 卸掉 RPC 层后 i-cache MPKI −93%，模拟 [13]）。对芯片：更大的取指路径与 BTB / ITLB、更便宜的切换与唤醒，比堆内存通道更对症（第 56 页）。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数据来源与口径：[01] Google ISCA'15（Top-Down，Ivy Bridge）；[05] Meta ISCA'25 DCPerf（生产 SKU2，2024）；[36] µManycore ISCA'23 与 SoftSKU ISCA'19；[20] Meta ASPLOS'20；[35] Google ASPLOS'24；[32] Homa/Linux ATC'21；[02] Google SOSP'23；[07] Uber ATC'22；[06] DeathStarBench；[R10] DSec arXiv 2609.22978；[13] Cerebros MICRO'21（模拟）。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成因：一次请求经历了什么（按边界看）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业务怎么拆：三家的业务形态 → 一次请求的一生 → 跨越次数（调用图）→ 每次跨越长什么样 → 形态系数（部署形态 A / B / C）→ 对账：两本账对得上吗 → 小结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留给下一部分的问题：每个因子能削多少？削的是哪几格？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三家的业务形态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三家 hyperscaler 的业务形态：都是“多层服务 + 服务间全走 RPC + 存储分离”，差别在语言和部署方式——这决定了跨越次数和形态系数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416052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 [01][02][17][25]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19072"/>
            <a:ext cx="3383280" cy="375818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 / Gmail / Maps / YouTube 及其后端 Spanner、BigQuery、Bigtable、F1、GFS。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自称“面向服务架构而非严格微服务”——服务不拆到最小粒度，单个 RPC 常常计算量大。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Stubby / gRPC + protobuf，几乎全部走 TCP；RPC 产生 95%+ 的应用流量，其中约 75% 与存储系统交互。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为主（protobuf 周期 88% 在 C++），另有 Java / Python / Go。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Borg 容器；RPC 栈是进程内 library，其下是用户态 Snap，正演化为 Falcon 硬件传输。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566160" cy="4160520"/>
          </a:xfrm>
          <a:prstGeom prst="rect">
            <a:avLst/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37160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 [03][05][20][22]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719072"/>
            <a:ext cx="3383280" cy="375818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通用服务器上数千个服务按功耗归 5 类（DCPerf）：Web（HHVM / PHP、Django）、Ranking（C++）、Data caching（TAO / Memcached）、Big data（Spark / Presto，Java）、Media（视频转码）。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 AI 计算只有一种服务器 SKU（单 CPU + 256 GB DRAM）；存储、AI 服务器另算。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Thrift 二进制 RPC，16 种语言，按代码量 Hack 最多；99% 的 RPC 走进程内 SRLib，1% 走代理。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产品代码主要是 serverless 函数（FaaS，&gt;50 万台服务器、&gt;1 万工程师），多个函数在同一 Linux 进程里并发执行以提高硬件效率。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566160" cy="416052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37160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  [04][39]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1719072"/>
            <a:ext cx="3383280" cy="375818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在线微服务以 Java 为主；2022 年 64,760 个服务 / 187 万实例，中位每服务 4 个实例。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容器 + 裸金属，与离线批处理混部；在线容器 CPU 利用率常 &lt;10%；DB / Memcached 独立集群。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无状态服务间 RPC 76%、消息队列 MQ 23%、IPC 1%——MQ 占比明显高于 Google / Meta。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调用图：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按调用次数，5% 的“超级服务”处理 95% 的调用；top 1% 服务 = 87% 调用；常见深度 3。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共性：分布式多层服务，服务间几乎全走 RPC，请求 / 响应用统一格式序列化。差异：语言（C++ / Hack+C++ / Java）与运行形态（library / FaaS 同进程 / 容器混部）——这些差异决定后面每个税项的量级。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数据来源与口径：[01] Google ISCA'15；[02] Google SOSP'23（1 万个 RPC 方法）；[17] Google SIGCOMM'22 流量口径；[25] Google MICRO'21 protobuf 语言分布；[05] Meta ISCA'25 DCPerf；[20][22] Meta ASPLOS'20 / CACM'25；[04][39] 阿里 SoCC'21 / arXiv'25 生产 trace。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一次请求的一生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一次请求的一生：每一步都在跨边界，每一步做的操作都能在税表里找到对应的行——这是两本账互相印证的第一层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399032" cy="566928"/>
          </a:xfrm>
          <a:prstGeom prst="chevron">
            <a:avLst/>
          </a:prstGeom>
          <a:solidFill>
            <a:srgbClr val="F6D5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25880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入口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 / TLS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1929384" y="1325880"/>
            <a:ext cx="1399032" cy="566928"/>
          </a:xfrm>
          <a:prstGeom prst="chevron">
            <a:avLst/>
          </a:prstGeom>
          <a:solidFill>
            <a:srgbClr val="FCE8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12264" y="1325880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前端服务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解析、扇出 N 次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3310128" y="1325880"/>
            <a:ext cx="1399032" cy="566928"/>
          </a:xfrm>
          <a:prstGeom prst="chevron">
            <a:avLst/>
          </a:prstGeom>
          <a:solidFill>
            <a:srgbClr val="FCE8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93008" y="1325880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下游调用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客户端发送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4690872" y="1325880"/>
            <a:ext cx="1399032" cy="566928"/>
          </a:xfrm>
          <a:prstGeom prst="chevron">
            <a:avLst/>
          </a:prstGeom>
          <a:solidFill>
            <a:srgbClr val="FCE8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73752" y="1325880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网络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网线与排队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071616" y="1325880"/>
            <a:ext cx="1399032" cy="566928"/>
          </a:xfrm>
          <a:prstGeom prst="chevron">
            <a:avLst/>
          </a:prstGeom>
          <a:solidFill>
            <a:srgbClr val="FCE8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4496" y="1325880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服务端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接收、唤醒、处理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7452360" y="1325880"/>
            <a:ext cx="1399032" cy="566928"/>
          </a:xfrm>
          <a:prstGeom prst="chevron">
            <a:avLst/>
          </a:prstGeom>
          <a:solidFill>
            <a:srgbClr val="D9EF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35240" y="1325880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叶子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 / 缓存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8833104" y="1325880"/>
            <a:ext cx="1399032" cy="566928"/>
          </a:xfrm>
          <a:prstGeom prst="chevron">
            <a:avLst/>
          </a:prstGeom>
          <a:solidFill>
            <a:srgbClr val="FCE8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15984" y="1325880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回程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 ③–⑤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10213848" y="1325880"/>
            <a:ext cx="1399032" cy="566928"/>
          </a:xfrm>
          <a:prstGeom prst="chevron">
            <a:avLst/>
          </a:prstGeom>
          <a:solidFill>
            <a:srgbClr val="D9EF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96728" y="1325880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旁路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 / trace / MQ</a:t>
            </a:r>
            <a:endParaRPr lang="en-US" sz="86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92024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底色 = 跨哪条边界：黄 = 服务边界（RPC）　绿 = 存储边界　红 = 信任边界（体现为形态系数）</a:t>
            </a:r>
            <a:endParaRPr lang="en-US" sz="83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76272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508760"/>
                <a:gridCol w="3291840"/>
                <a:gridCol w="3840480"/>
                <a:gridCol w="6858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跨哪条边界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做了哪些操作（→ 第 9 页税表的哪一行）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实测量级（口径）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主讲页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入口：负载均衡与网关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信任 → 形态系数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终结 TLS → 加密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新建 TLS 连接 1.6 ms、14 KB [21]；连接复用后加密不到 0.2%（Google fleet）[02]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前端服务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 × N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反序列化请求、业务逻辑、扇出 → 序列化、分配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一次 Fetch 中位 498 个服务块，调用树中位宽 472 [03]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每次下游调用（客户端）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服务（+ sidecar 时多两次内核穿越）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 → 压缩 → RPC 库（路由、负载均衡、观测）→ 内核 TCP（拷贝）→ 网卡 → 序列化、压缩、通信、拷贝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fleet：TCP 栈 1.7%、RPC 库 1.1%、序列化 1.2% [02]；sidecar 每 RPC 的 CPU 2.7–3.7 倍 [21][18]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22、19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网络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网线与交换机排队（延迟，不耗主机周期）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平均延迟税里网络占 1.1 个百分点（Google）[02]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22、29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服务端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 + 内核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网卡 → 内核 → 接收队列 → 唤醒线程（切换）→ 反序列化（建对象）→ 调度、通信、分配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排队占 RPC 延迟税 21% [02]；缓存类服务上下文切换最多占 18% CPU 时间 [36]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28、29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叶子：存储与缓存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行编码、块压缩、校验哈希、读写盘 → 序列化、压缩、哈希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叶子全是数据库 [03]；存储平台 tax 占平台周期 32–40% [41]；49% 的压缩周期由文件格式库发起 [34]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10、21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⑦ 回程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序列化响应，重复 ③–⑤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⑧ 旁路：日志、trace、指标、MQ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 / 服务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编码日志、拷贝 → 序列化、拷贝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日志占 Meta Web 服务周期 23% [20]；阿里服务间通信 23% 走消息队列 [04]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9、13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反过来也成立：第 9 页税表的每一行都能在这条路径上找到发生的位置。路径告诉我们“为什么调这么多次”（跨越次数 × 形态系数）；数字能不能对上，见第 21 页对账。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19963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数据来源与口径：路径与步骤划分综合 [02] Fig. 9 的 RPC 延迟分段模型与 [03][04][21] 的生产架构描述，是本报告的示意；各格数字的口径见括号与主讲页。[21] Meta OSDI'23；[02] Google SOSP'23；[03] Meta ATC'23；[18] mRPC；[36] µManycore；[41] Google ISCA'23；[34] CDPU ISCA'23；[20] Accelerometer；[04] 阿里 SoCC'21。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跨越次数（每请求 RPC 数）· 调用图的主讲页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跨越次数：拆分即税——单层服务的网络处理占 5–20%，拆成微服务的 Social Network 占 36%；生产系统一次请求中位数百次服务调用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2918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dsb_fig3_net_vs_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805" y="1399032"/>
            <a:ext cx="2437510" cy="2011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4655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单层服务 5.3–19.8% vs 微服务 Social Network 36.3%（[06] Fig. 3）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2918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1" descr="/home/fanzhenhao/RPC_PAPERS/ppt/figs/veil_fig10_trace_siz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061860"/>
            <a:ext cx="3145536" cy="11208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3400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三类请求的 trace 规模：Fetch 中位 498 个服务块（[03] Fig. 10）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1325880"/>
          <a:ext cx="7635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286000"/>
                <a:gridCol w="2103120"/>
                <a:gridCol w="2011680"/>
                <a:gridCol w="4572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服务规模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每请求 RPC 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调用图形状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18,500 服务 / 1,200 万实例（去噪后 7,400 / 1,120 万）；复制中位 8、最大 55.7 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Fetch 中位 498 个服务块（13 个唯一服务），P99 宽约 7,400；Ads 中位 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浅（中位深 4）而宽（中位 472、P99 约 7,400）；叶子全是 DB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[03]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 2021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2 万服务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常见深度 3；&gt;10% 的图 &gt;40 个服务；大图一半是 Memcached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树状、入度 1；5% 超级服务处理 95% 调用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 2022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64,760 服务 / 187 万实例；中位 4 实例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密度比 Meta 稀疏 10× 但局部度分布相似；top 1% 服务 = 87% 调用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[39]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万+ RPC 方法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半数方法中位后代 ≤13；P99 &gt;1,155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宽 &gt; 深；深度 P99 &lt;10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[02]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Uber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4,000 服务 / 40,000 端点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 trace 数千个 RPC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深且异步；关键路径只是子集（一个端点 68% 的 P50 延迟来自单个下游）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[07]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3977640" y="3931920"/>
            <a:ext cx="7635240" cy="173736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Dagger 在同一 benchmark 上：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通信占各微服务延迟平均 40%，轻逻辑层达 80%；RPC 处理占各微服务执行时间 5–75%，高负载下占端到端尾延迟 &gt;30% [12][06]。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一个修正：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对延迟而言只有关键路径上的 RPC 算数（CRISP：一个端点 68% 的 P50 延迟来自单个下游 [07]）；对 CPU 而言全部 RPC 都算数。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减少跨越次数的软件手段（杠杆一，第 27 页）：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 7.8% 的依赖是环形、2.7% 强耦合——合并接口可把远程调用变本地 [04]；Google Service Weaver 让运行时决定同进程还是跨进程 [40]；Meta FaaS 同进程跑多个函数 [22]；CXL 共享内存让同机架调用退化为内存操作 [14][29]。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三个跨公司共性：(a) 宽不深——扇出到分片存储是 RPC 数量的主要放大器；(b) 按调用次数集中——少数超级服务 / 方法承担 87–95% 的调用（不等于周期集中）；(c) 按叶子数，叶子是存储——服务端主体是 DB / 缓存前端。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数据来源与口径：[06] DeathStarBench ASPLOS'19（学术 benchmark，单机）；[03] Meta ATC'23（Ads / Fetch / RaaS 三类生产 trace）；[04][39] 阿里 SoCC'21 / arXiv'25；[02] Google SOSP'23；[07] Uber ATC'22 CRISP；[12] Dagger ASPLOS'21。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每次跨越长什么样 · “集中度”的主讲页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每次跨越长什么样（上）：毫秒级为主；中位消息不到 1.5 KB、尾部几百 KB——中位看固定开销，尾部看每字节开销；按调用次数集中不等于按周期集中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383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cs_fig2_la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552" y="1399032"/>
            <a:ext cx="2353456" cy="914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682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按方法的 RPC 延迟分布（[02] Fig. 2）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069080" y="1325880"/>
            <a:ext cx="960120" cy="137160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069080" y="1325880"/>
            <a:ext cx="960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时间尺度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120640" y="132588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30368" y="13807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230368" y="16002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 服务的中位延迟 ≥10.7 ms；99.5% 的方法 P99 ≥1 ms；最慢的 1,000 个方法只占 1.1% 调用但占 89% 的总 RPC 时间。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641080" y="132588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50808" y="13807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对硬件设计的含义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750808" y="16002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学术界“µs 级 RPC”的假设只对 KV / 缓存成立；在 fleet 里，省 CPU 比省 µs 更重要。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8640" y="2788920"/>
            <a:ext cx="3383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7" name="Image 1" descr="/home/fanzhenhao/RPC_PAPERS/ppt/figs/cs_fig6_request_siz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306" y="2862072"/>
            <a:ext cx="2533949" cy="9144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40080" y="38313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按方法的请求大小分布（[02] Fig. 6）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069080" y="2788920"/>
            <a:ext cx="960120" cy="137160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069080" y="2788920"/>
            <a:ext cx="960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大小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120640" y="27889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230368" y="2843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5230368" y="30632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 64 B；一半方法的中位请求 &lt;1.5 KB、响应 &lt;315 B；P90 11.8 / 10 KB；P99 196 / 563 KB。Homa 统计的 Google / Facebook 消息 &gt;85% 小于 1,000 B [08]。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8641080" y="278892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750808" y="28437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对硬件设计的含义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8750808" y="306324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中位小到单 MTU、单 cache line 级，单价由每次的固定开销主导；尾部重到几百 KB，由每字节开销主导——卸载方案两头都要处理。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48640" y="4251960"/>
            <a:ext cx="3383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28" name="Image 2" descr="/home/fanzhenhao/RPC_PAPERS/ppt/figs/cs_fig3_frequenc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24" y="4325112"/>
            <a:ext cx="2698511" cy="9144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40080" y="52943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按方法的调用频率与累计分布（[02] Fig. 3）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4069080" y="4251960"/>
            <a:ext cx="960120" cy="137160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069080" y="4251960"/>
            <a:ext cx="960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流行度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5120640" y="42519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230368" y="43068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5230368" y="45262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方法占 58% 调用、top-100 占 91%；Network Disk 的 Write 一个方法占 28%；该服务占 35% 调用但 &lt;2% 周期。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8641080" y="425196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8750808" y="43068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对硬件设计的含义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8750808" y="452628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按调用次数集中，按 CPU 周期并不集中（Network Disk 35% 调用、&lt;2% 周期）。少数方法的专用优化能覆盖大部分调用；存储 RPC “量大、单个便宜”，适合 NIC 侧卸载。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一句话：fleet 里的 RPC 是“毫秒级、小消息为主但重尾、按调用次数集中”——与 µs 级 KV benchmark 的画像相反，硬件目标应先对准 CPU 周期而非往返延迟。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数据来源与口径：[02] Google SOSP'23：1 万个 RPC 方法、7,220 亿条 Dapper 采样 trace，图中每个点是一个方法，颜色为该方法的分位数；[08] Homa SIGCOMM'18 引用的 Google / Facebook 消息日志。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每次跨越长什么样（续）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每次跨越长什么样（下）：调用树宽而不深、叶子几乎全是数据库、每次的 CPU 成本与大小和延迟都不相关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148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veil_fig11_call_dep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22305"/>
            <a:ext cx="2002536" cy="7135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41401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Meta：调用深度中位 2–4（[03] Fig. 11）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743200" y="1325880"/>
            <a:ext cx="2148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1" descr="/home/fanzhenhao/RPC_PAPERS/ppt/figs/veil_fig12_max_wid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524503"/>
            <a:ext cx="2002536" cy="70917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34640" y="241401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Meta：调用树最大宽度的分布（[03] Fig. 12）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029200" y="132588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138928" y="13807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调用树 · 数据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5138928" y="1600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深度：Google P99 &lt;10 [02]，Meta 中位 4 [03]，阿里常见 3 [04]。宽度：Meta 中位 472、P99 约 7,400 [03]。跨越次数的完整数字见第 15 页（主讲页）。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458200" y="13258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567928" y="1380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8567928" y="16002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深度小 → 串行 RTT 累积有限，往返延迟不是主矛盾；宽度大 → 扇出 / incast 和叶子（存储）负载是主体。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48640" y="2834640"/>
            <a:ext cx="4343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8" name="Image 2" descr="/home/fanzhenhao/RPC_PAPERS/ppt/figs/ali_fig3_callgraph_sta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036553"/>
            <a:ext cx="4197096" cy="70259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" y="392277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 2 万服务：调用图规模 / 深度分布 / 深度 vs 服务数（[04] Fig. 3）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5029200" y="28346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38928" y="28895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叶子 · 数据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138928" y="31089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Meta：叶子和单中继的服务执行占 53–73%，叶子全是数据库 [03]。阿里：叶子 61% 是有状态服务；大图里一半是 Memcached [04][39]。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8458200" y="283464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567928" y="28895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8567928" y="31089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按调用次数和叶子数，服务端主体是存储 / 缓存前端——最同质、物理上最集中（独立机群）；按 CPU 周期，大头在毫秒级重服务（第 16 页）。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48640" y="4343400"/>
            <a:ext cx="43434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27" name="Image 3" descr="/home/fanzhenhao/RPC_PAPERS/ppt/figs/cs_fig4_descenda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466" y="4416552"/>
            <a:ext cx="2517748" cy="86868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40080" y="534009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Google：按方法的后代数分布，重尾（[02] Fig. 4）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5029200" y="434340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138928" y="43982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成本 · 增速 · 错误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5138928" y="4617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每方法 CPU 成本重尾：P99 比中位高 1–2 个数量级；RPC 大小、延迟都与 CPU 成本不相关。RPS/CPU 每年 +30%。1.9% 的 RPC 出错，“Cancelled” 占 45% 错误、55% 浪费周期（对冲请求）[02]。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8458200" y="43434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8567928" y="43982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8567928" y="46177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不能按大小预测成本 → 负载均衡只能动态 / 启发式；RPC 增长快于算力；尾延迟优化手段（对冲）本身有 CPU 代价。</a:t>
            </a:r>
            <a:endParaRPr lang="en-US" sz="95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数据来源与口径：[02] Google SOSP'23；[03] Meta ATC'23（Ads / Fetch / RaaS 三类 trace，18,500 服务 / 1,200 万实例）；[04] 阿里 SoCC'21（约 2 万服务，注意其公开 trace 的拓扑一致性问题 [40]）；[39] 阿里 2022 trace。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 形态系数 · 部署形态 A（RPC 栈跑在哪）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栈跑在哪（部署形态 A）决定每 RPC 成本：以进程内 library 为基线，sidecar 让每 RPC 的 CPU 成本到 3.7 倍，硬件卸载让传输层 CPU 接近零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7724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554480"/>
                <a:gridCol w="3520440"/>
                <a:gridCol w="8229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形态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成本落在哪块硅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实测系数（基线 = 进程内 library 直连、裸传输）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进程内 library（Stubby / SRLib / gRPC-in-app）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 + 内核网络栈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生产聚合 +36% CPU（最坏微基准 +80%）vs 裸 Thrift；延迟 ≈ 裸 Thrift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[21]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sidecar / 本地代理（Envoy / Istio，SRProxy）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额外的代理核 + 两次额外内核穿越 + 编解码 ×3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+273%、延迟 +107%（Meta）；gRPC+Envoy 中位延迟 63→203 µs、P99 +180%、带宽 −44%；应用延迟 +27–269%、vCPU +42–163%；集群 10% CPU / 内存，极端 3× 于应用（阿里云生产）；吞吐 −56%、延迟 2.27×（XLB）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[21][18][23][24][39]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每节点 / 集中式代理（Ambient、Canal 网关、SRRemoteProxy）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共享代理核（本节点或云网关）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Ambient 比 Istio 代理数 −43%；Canal 比 Istio CPU −12–19×、比 Ambient −4.6–7.2×；但多一跳远程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[24]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RPC 作为节点级系统服务（Snap / Pony Express、mRPC）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独占 / 共享的服务核 + 共享内存跳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Snap：Gbps/核 比内核栈 3×，但比独占栈低 3.5–7×，100 Gbps 需 7–14 核；mRPC 比 gRPC+Envoy 快 6.1× 但比 eRPC 慢 2×（+5 µs IPC）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[38][18][32]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内核旁路 library（eRPC、Junction）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应用核（独占轮询或 Junction 式共享）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 µs、10 Mrps/核（100 Gbps 内核栈需 18 核，eRPC 约 1–2 核）；Junction 密度 19–62×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[31][32][40]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内核内 L7（XLB eBPF）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应用所在核，无跨进程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 Istio / Cilium 吞吐 +1.5×、延迟 −60%；生产延迟 −41%、密度 +30%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[39]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⑦ NIC / 加速器卸载（Dagger、Cerebros、RpcNIC、Falcon）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NIC / IPU / 专用单元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传输层 CPU ≈0（Falcon）；RPC 层 CPU −74%（RpcNIC，PCIe）到 −37–64×（Cerebros，片上模拟）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[30][28][13]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325880"/>
            <a:ext cx="31089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7" name="Image 0" descr="/home/fanzhenhao/RPC_PAPERS/ppt/figs/sr_fig10b_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7078" y="1399032"/>
            <a:ext cx="2802645" cy="1874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595360" y="33284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生产：每请求指令数，Thrift / SRLib / SRProxy（客户端 + 代理侧）（[21] Fig. 10b）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8503920" y="3703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RPC CPU 成本倍数（Meta 生产，裸 Thrift = 1）</a:t>
            </a:r>
            <a:endParaRPr lang="en-US" sz="9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458200" y="3977640"/>
          <a:ext cx="32004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演化方向的共同点：sidecar（每 pod）→ 每节点代理 → 集中网关 → 内核内 / 硬件——每一步都把 L7 处理集中到更少、更专业的位置，与硬件卸载同向。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数据来源与口径：[21] Meta OSDI'23 ServiceRouter（生产聚合）；[18] mRPC NSDI'23；[23] MeshInsight SoCC'23（benchmark）；[24] 阿里云 SIGCOMM'24 Canal（生产）；[39] XLB arXiv'26；[38] Snap SOSP'19；[32] Homa/Linux ATC'21；[31] eRPC NSDI'19；[40] Junction NSDI'24；[30] Falcon SIGCOMM'25；[28] RpcNIC HPCA'25；[13] Cerebros MICRO'21（模拟）。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 形态系数（续）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sidecar 为什么贵：三份独立分解一致——L7 语义本身不贵，贵的是多出来的进程边界、协议栈穿越、重复编解码和拷贝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023360" cy="28346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40233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XLB 对 sidecar 开销的分解 [39]：LB 功能只占 20%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627632"/>
          <a:ext cx="402336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40080" y="3273552"/>
            <a:ext cx="3840480" cy="86868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ServiceRouter [21]：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代理开销 74% 在用户态（序列化、加密、身份），零拷贝也救不了。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MeshInsight [23]：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/ gRPC 模式下协议解析占 63–77%、TCP 模式下 IPC + socket 写占主导；零拷贝 socket 写对 &lt;4 KB 消息几乎无效。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4251960"/>
            <a:ext cx="4023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1" name="Image 0" descr="/home/fanzhenhao/RPC_PAPERS/ppt/figs/sr_fig10a_laten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93" y="4325112"/>
            <a:ext cx="1408054" cy="9601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0080" y="53400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Meta：P50 延迟 Thrift ≈ SRLib，SRProxy +107%（[21] Fig. 10a）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709160" y="1325880"/>
            <a:ext cx="6903720" cy="28346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09160" y="1325880"/>
            <a:ext cx="69037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00600" y="1325880"/>
            <a:ext cx="6720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各家怎么选：形态由“信任边界”决定，不是性能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800600" y="1673352"/>
            <a:ext cx="6720840" cy="24323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/ Meta 内部默认 ① library。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99% 的 RPC 走 SRLib，1% 走代理（只用于 Erlang 等无法链接的运行时）；全量改代理要多 O(100,000) 台机器 [21][22]。Google 的 Stubby 是 library，其下是 ④ Snap 用户态服务，正演化为 ⑦ Falcon 硬件 [38][30]。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hyperscaler 的 7.1% RPC 税（[02] 口径）是 library 形态下的数字，换成 sidecar 只会更高。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公有云租户以 ② sidecar 为主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（CNCF：90% 组织在用或评估 mesh [23]），因为不能改应用、多语言、需要强制策略；阿里云运营 Istio 四年后转向 ③ 集中网关 [24]；业界 2024–2026 的方向是 ③ Ambient / Cilium 与 ⑥ eBPF [24][39]。80–95% 的 mesh 用户需要 L7 功能 [24]，所以纯 L3/L4 的 eBPF 不够。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library 形态不能服务外部客户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（无隔离、要改应用）[39]——形态选择本质是信任边界决定的。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4709160" y="4251960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 处理位置的演化：集中到更少、更专业的位置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709160" y="4526280"/>
            <a:ext cx="1344168" cy="457200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910328" y="452628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sidecar（每 pod）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4690872" y="5029200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Istio：集群 10% CPU / 内存 [24]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6099048" y="4526280"/>
            <a:ext cx="1344168" cy="457200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300216" y="452628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每节点代理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6080760" y="5029200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Ambient：代理数 −43% [24]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7488936" y="4526280"/>
            <a:ext cx="1344168" cy="457200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690104" y="452628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集中网关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7470648" y="5029200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Canal：CPU 比 Istio −12–19× [24]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8878824" y="4526280"/>
            <a:ext cx="1344168" cy="457200"/>
          </a:xfrm>
          <a:prstGeom prst="chevron">
            <a:avLst/>
          </a:prstGeom>
          <a:solidFill>
            <a:srgbClr val="3E5C7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079992" y="452628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内核内 L7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8860536" y="5029200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XLB eBPF：生产延迟 −41% [39]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10268712" y="4526280"/>
            <a:ext cx="1344168" cy="457200"/>
          </a:xfrm>
          <a:prstGeom prst="chevron">
            <a:avLst/>
          </a:prstGeom>
          <a:solidFill>
            <a:srgbClr val="F2A9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0469880" y="452628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 / DPU 卸载</a:t>
            </a:r>
            <a:endParaRPr lang="en-US" sz="800" dirty="0"/>
          </a:p>
        </p:txBody>
      </p:sp>
      <p:sp>
        <p:nvSpPr>
          <p:cNvPr id="32" name="Text 28"/>
          <p:cNvSpPr txBox="1"/>
          <p:nvPr/>
        </p:nvSpPr>
        <p:spPr>
          <a:xfrm>
            <a:off x="10250424" y="5029200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 元数据随包交付（待验证）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综合：贵的不是 L7 逻辑，而是为了放置 L7 逻辑多出来的进程边界、协议栈穿越、重复编解码和拷贝——这也是为什么零拷贝对小消息几乎无效，而“减少跳数”有效。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数据来源与口径：[39] XLB arXiv'26（sidecar 开销分解）；[21] Meta OSDI'23（生产）；[23] MeshInsight SoCC'23（benchmark + CNCF 调查）；[24] 阿里云 SIGCOMM'24（生产运营数据）；[22] Meta CACM'25；[38] Snap；[30] Falcon。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 形态系数 · 部署形态 B、C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放置、拓扑与隔离环境（形态 B / C）：混部干扰、NUMA、CXL 机架和 serverless 都会改变每 RPC 的成本和延迟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434340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544068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 C：放置与拓扑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673352"/>
            <a:ext cx="21945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0" descr="/home/fanzhenhao/RPC_PAPERS/ppt/figs/ali_fig14_inter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27291"/>
            <a:ext cx="2048256" cy="55282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2715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阿里：主机 CPU 利用率 10→30%，在线服务 RT 劣化 20%（[04] Fig. 14）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1673352"/>
            <a:ext cx="2971800" cy="14173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有状态服务独立部署：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 DB / Memcached 独立集群 [04]；Meta 存储服务器是单独 SKU [05] → RPC 的叶子物理上集中在存储机群，加速器最容易切入。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混部干扰：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阿里在线容器 CPU &lt;10%，但主机利用率 10→30% 就让 RT 劣化 20%，内存利用率 &lt;60% 无影响 [04]；一个节点平均托管 15 个服务的实例 [39] → 核 / LLC / 带宽的硬件隔离能力决定混部收益。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136392"/>
            <a:ext cx="5257800" cy="247802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区域内 vs 跨区域：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区域内跨 DC 无性能惩罚（fabric 无超订）[22]；Google 跨集群 RPC 的网络延迟就是光速延迟（不是拥塞），可优化的是数据局部性 [02]。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CXL 机架：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HydraRPC 真硬件 1.47 µs [14]、RPCool 1.5 µs（RDMA 回退 17 µs）[29] → 同 CXL 域内 RPC 成本降一个数量级；但 RPCool 在 DeathStarBench 上与 Thrift 持平——DB 更新主导时通信优化无效。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NUMA / NIC 位置：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 远端 NUMA 节点吞吐/核 −20% [33]；Snap 把引擎绑到 NIC 所在节点——零拷贝下 NIC 局部性 &gt; 应用局部性 [38]。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72200" y="1325880"/>
            <a:ext cx="5440680" cy="434340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72200" y="1325880"/>
            <a:ext cx="544068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63640" y="132588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 B：VM / 容器 / serverless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63640" y="1673352"/>
            <a:ext cx="2377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7" name="Image 1" descr="/home/fanzhenhao/RPC_PAPERS/ppt/figs/sls_fig1_slow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958" y="1746504"/>
            <a:ext cx="2226803" cy="9144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355080" y="271576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serverless + mesh 策略：每次调用慢 7×（p50）到 254×（p99）（[43] Fig. 1）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8732520" y="1673352"/>
            <a:ext cx="2788920" cy="14173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 + 裸金属是主流：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 K8s 裸金属 [04]、Meta Twine 容器 + 本地 SSD [22]。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的 FaaS 常驻 &gt;50 万台、无冷启动、同进程多函数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——hyperscaler 独有的效率手段 [22]；公有云每函数一 VM 的隔离代价高（Lambda 上用 S3 传状态延迟显著更高）[06]。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6263640" y="3136392"/>
            <a:ext cx="5257800" cy="247802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serverless × sidecar 的乘积：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Functions 生产 trace 在 Knative 上加 Istio / Linkerd 常见策略（mTLS、授权、认证、限流）后 p50 慢 7×、p95 38.3×、p99 254×，90% 调用受影响，每节点多耗 2.5–6.5 核；不加策略时中位只 +6% 但 p99 仍 55×；冷启动 1.2 s → 4 s；最贵三项 = mTLS、授权、请求认证 [43]。注意这是延迟倍数，不能和 sidecar 的 CPU 成本倍数（2.7–3.7×）直接比；成因是函数短、策略重、沙箱与策略高频增删。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IOMMU 税：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虚拟化必开的 IOMMU 让网络栈吞吐/核 −26%（每页 map / unmap，接收端内存管理 30% 周期）[33]。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两条链分开看：CPU 成本 library 1.36×、sidecar 2.7–3.7×；延迟 sidecar p50 +107%，serverless 加策略 p50 7×、p99 254×。每往外一层隔离，成本和延迟都上一个台阶；到 Agent 时代变成“隔离形态系数”（第 50 页）。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数据来源与口径：[04] 阿里 SoCC'21（生产）；[39] 阿里 2022 trace；[05][22] Meta；[02] Google；[14] HydraRPC ATC'24（真 CXL FPGA）；[29] RPCool arXiv'24（NUMA 模拟）；[33] SIGCOMM'21 内核栈刻画；[38] Snap；[43] ETH SoCC'25（Azure Functions 生产 trace 在 Knative 上重放）；[06] DeathStarBench。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 对账 · 矩阵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对账矩阵（Google fleet）：把两本账放进同一张表——行合计是数据中心税，服务那一列是 RPC 税，两者只在黄色几格上重叠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726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65960"/>
                <a:gridCol w="1828800"/>
                <a:gridCol w="141732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 ↓ ／ 边界 →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服务（RPC）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存储（含日志）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进程内与其他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行合计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序列化（protobuf）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 [02]；用 [25] 推算得 0.8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其余约 8.4：Bigtable / Spanner 的行、日志、进程内传递，未再细分 [25]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（与左格合计）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 [25]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0.4：RPC 库直接发起的占压缩周期 13.9%（推算）⚠ [02] 记为 3.1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1.4：文件格式库发起 49% [34]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1.1：shuffle 约 13%，其他与未知约 24% [34]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2.9 [34]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通信专属（网络栈 + RPC 库）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2.8：TCP 栈 1.7 + RPC 库 1.1 [02]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远程存储的读写也走 RPC，已计入左格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&lt;0.2 [02]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A0A8B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A0A8B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A0A8B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拷贝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一部分：接收端拷贝占单条长流 &gt;50% 周期（测试床）[33]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A0A8B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A0A8B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4–5（2015）[01]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内存分配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一部分：反序列化时建对象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A0A8B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A0A8B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 [35]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哈希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A0A8B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A0A8B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A0A8B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1–2（2015）[01]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调度与切换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一部分：排队占 RPC 延迟税 21% [02]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scheduler ≈5（2015，内核内）[01]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列合计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[02] 口径 7.1；压缩只计 RPC 库发起的部分则约 4–5（推算）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存储平台的 tax 占平台周期 32–40%（平台口径，不是 fleet）[41]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A0A8B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2015 年六项 22–27 [01]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2920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单位：占 Google fleet 全部 CPU 周期的百分比。各格来自不同论文、不同年份，只对量级。“空” = 公开文献没有按边界拆分的数据。</a:t>
            </a:r>
            <a:endParaRPr lang="en-US" sz="860" dirty="0"/>
          </a:p>
        </p:txBody>
      </p:sp>
      <p:sp>
        <p:nvSpPr>
          <p:cNvPr id="7" name="Shape 4"/>
          <p:cNvSpPr/>
          <p:nvPr/>
        </p:nvSpPr>
        <p:spPr>
          <a:xfrm>
            <a:off x="8458200" y="1325880"/>
            <a:ext cx="31546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8" name="Image 0" descr="/home/fanzhenhao/RPC_PAPERS/ppt/figs/cdpu_fig4_call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1352" y="1433779"/>
            <a:ext cx="3008376" cy="180502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49640" y="332841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fleet 压缩周期按“谁直接调用”分（[34] Fig. 4）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8458200" y="3730752"/>
            <a:ext cx="3154680" cy="18745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压缩这一格怎么算的：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13.9% × 2.9% ≈ 0.4%；文件格式（Filetype 1–8）合计 49% ≈ 1.4%；各类 shuffle 合计约 13%；Other + Unknown 约 24%。</a:t>
            </a:r>
            <a:endParaRPr lang="en-US" sz="86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为什么标 ⚠：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[02] 把 3.1% 记进 RPC 税，几乎等于全部压缩；原文只写“用 GWP 识别 RPC 周期”，没说明压缩怎么归类（第 24 页）。</a:t>
            </a:r>
            <a:endParaRPr lang="en-US" sz="860" dirty="0"/>
          </a:p>
        </p:txBody>
      </p:sp>
      <p:sp>
        <p:nvSpPr>
          <p:cNvPr id="11" name="Shape 7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“数据中心税”和“RPC 税”不是包含关系：前者是行合计，后者是黄色那一列。矩阵里的“空”格，就是第 63 页 950 待测清单要补的数。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19963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数据来源与口径：[02] Google SOSP'23 Fig. 20（GWP）；[25] ProtoAcc MICRO'21；[34] CDPU ISCA'23 Fig. 4（压缩按直接调用方的分布）；[33] SIGCOMM'21 主机网络栈（100 Gbps 测试床）；[35] Google ASPLOS'24；[41] Google ISCA'23；[01] Kanev ISCA'15。拆分与“约 4–5%”为本报告推算（OUTLINE_RPC_DECK_V3_LOGIC.md 4.4 节）。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 对账 · 服务边界这一列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服务边界这一列（RPC 税）要按货币分开讲：字节 95%+、CPU 周期 7.1%（[02] 口径）、延迟平均 2%（尾部 38–96%）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425196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货币一：字节 —— RPC 是 DC 通信的主体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719072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773936"/>
            <a:ext cx="3163824" cy="44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95%+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214626"/>
            <a:ext cx="316382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生产 DC 的应用流量由 RPC 产生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545906"/>
            <a:ext cx="3163824" cy="307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其中约 75% 与存储系统交互 [17]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2980944"/>
            <a:ext cx="3383280" cy="1801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3" name="Image 0" descr="/home/fanzhenhao/RPC_PAPERS/ppt/figs/cs_fig8_top_serv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142" y="3054096"/>
            <a:ext cx="2989155" cy="134416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31520" y="44531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头部 RPC 服务：按调用数 / 字节 / CPU 周期（[02] Fig. 8）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828032"/>
            <a:ext cx="3383280" cy="68580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存储是主体中的主体：Network Disk 一个服务占 35% 调用但 &lt;2% 周期——“量大、单个便宜”。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297680" y="1371600"/>
            <a:ext cx="3566160" cy="425196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97680" y="137160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8912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货币二：CPU 周期 —— [02] 口径 7.1%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389120" y="1719072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98848" y="1773936"/>
            <a:ext cx="3163824" cy="44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7.1%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4498848" y="2214626"/>
            <a:ext cx="316382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fleet 全部 CPU 周期中的 RPC 税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498848" y="2545906"/>
            <a:ext cx="3163824" cy="307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分解（占 fleet 周期 %）[02]：</a:t>
            </a:r>
            <a:endParaRPr lang="en-US" sz="8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343400" y="2935224"/>
          <a:ext cx="3474720" cy="15270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4389120" y="4507992"/>
            <a:ext cx="3383280" cy="105156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 3.1% 几乎等于全 fleet 压缩 2.9% [34]，而 RPC 库直接发起的只占其中 13.9%——严格按 RPC 路径约 4–5%（推算，第 21 页）。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头部服务是分布的另一端：RPC 收发 I/O + 序列化 + 压缩合计 Cache2 ≈59%、Web ≈59%、Feed1 ≈28% [20]。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8046720" y="1371600"/>
            <a:ext cx="3566160" cy="425196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046720" y="137160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138160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货币三：延迟 —— 平均只占 2%，尾部由税主导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138160" y="1719072"/>
            <a:ext cx="33832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29" name="Image 1" descr="/home/fanzhenhao/RPC_PAPERS/ppt/figs/cs_fig10_latency_ta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430" y="1792224"/>
            <a:ext cx="1976741" cy="146304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229600" y="33101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上：fleet 平均 RPC 延迟税 2%；下：P95 尾部里税占比大幅上升（[02] Fig. 10）</a:t>
            </a:r>
            <a:endParaRPr lang="en-US" sz="800" dirty="0"/>
          </a:p>
        </p:txBody>
      </p:sp>
      <p:sp>
        <p:nvSpPr>
          <p:cNvPr id="31" name="Text 26"/>
          <p:cNvSpPr txBox="1"/>
          <p:nvPr/>
        </p:nvSpPr>
        <p:spPr>
          <a:xfrm>
            <a:off x="8138160" y="3685032"/>
            <a:ext cx="3383280" cy="18745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2.0%：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 1.1%、栈 0.49%、排队 0.43%；中位方法 8.6%。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尾部 38% / 96%：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开销最高的 10% 方法，中位税 38%、P90 96%；排队占税的 21%。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 RPC 是 ms 级的（90% 服务中位延迟 ≥10.7 ms），µs 级的栈开销被应用处理淹没。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85800" y="573328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字节、周期、延迟是同一列的三种货币，不能互相换算；Google fleet 平均与 Meta 头部服务是同一分布的两端（第 24 页），引用时必须说明口径。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数据来源与口径：[17] Google SIGCOMM'22（2021 年生产流量）；[02] Google SOSP'23，1 万个方法、7,220 亿条 Dapper trace，CPU 归因用 GWP；[34] CDPU ISCA'23；[20] Meta ASPLOS'20，7 个微服务的叶子函数归因。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 对账 · 交叉格与引用警示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交叉格：序列化这一行只有约八分之一落在服务列——protobuf 占 fleet 9.6%，RPC 路径上约 1.2 个百分点；引用同一个数要回到原文口径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2062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protoacc_fig2_cycles_by_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525" y="1444752"/>
            <a:ext cx="3538470" cy="1920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41985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fleet 的 C++ protobuf 周期按操作分解：反序列化 26%、序列化 9%（[25] Fig. 2）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840480"/>
            <a:ext cx="4206240" cy="182880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protobuf 占 9.6% fleet 周期，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其中反序列化 2.2%、序列化 1.25% 可加速，其余是“胶水代码”[25]。</a:t>
            </a:r>
            <a:endParaRPr lang="en-US" sz="86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但只有 16% 的反序列化、35% 的序列化来自 RPC 栈，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其余来自 Bigtable / Spanner 的行、日志、进程内传递 [25]。</a:t>
            </a:r>
            <a:endParaRPr lang="en-US" sz="86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三角验证：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路径序列化 ≈ 16.3%×2.2% + 35.2%×1.25% ≈ 0.8%，与 Cloud-Scale 独立测得的 1.2% [02] 同一量级。</a:t>
            </a:r>
            <a:endParaRPr lang="en-US" sz="86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两种分母别混：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16% / 35% 是可加速的编解码操作里来自 RPC 栈的比例；按全部 protobuf 周期，RPC 路径约 1.2 个百分点（约八分之一）。“序列化税” 9.6% 与“RPC 税” 7.1% 只重叠约 1 个百分点。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4983480" y="1371600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同一个数的不同说法（本调研反复遇到）</a:t>
            </a:r>
            <a:endParaRPr lang="en-US" sz="10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691640"/>
          <a:ext cx="66294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3317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原文数字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被引用成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提醒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Kanev 2015：protobuf ≈3–4%（读图值）[01]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ProtoAcc 引为 5%；Zerializer / Optimus Prime 引为“RPC+protobuf 12%”；mRPC 引为“gRPC 库 10%”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引用时回到原文读图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Accelerometer：序列化按服务 4–13% [20]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zBuffer / Cornflakes 引为“序列化 6.7%”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 7 个微服务的某种平均，不是 fleet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DCPerf：Meta 各服务 tax 18–82% [05]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常被当作 fleet 平均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原始结论是 Accelerometer“应用逻辑最少 18%”[20]，是 7 个服务的范围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DeathStarBench：网络处理 36% [06]；Cerebros：RPC 层 40–90% [13]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常与 Google 7.1% 并列比较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轻业务逻辑 + 已优化传输的设定，比 fleet 高一个数量级；对应“热点服务”而非“fleet 平均”目标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 2021 公开 trace [04]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大量论文据此做调用图分析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99.48% 的拓扑不一致问题 [40]，引用其调用图结论需注明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RPC 税 7.1% [02]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被当作“RPC 不重要”的证据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 library 形态、fleet 平均、ms 级服务的数，不能外推到 sidecar 用户和 KV 前端；其中压缩 3.1% 的归类存疑（第 21 页）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573328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读数规矩：先问“谁测的、fleet 平均还是热点服务、RPC 路径还是全口径、中位还是 P99”，再比较。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数据来源与口径：[25] Google MICRO'21 fleet GWP 采样；[02] Google SOSP'23；[20] Meta ASPLOS'20；[05] Meta ISCA'25；[06] DeathStarBench ASPLOS'19（学术 benchmark）；[13] Cerebros MICRO'21（模拟）；[40] ICPE'24 对阿里 trace 的一致性检查。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 对账 · 结论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对账结论：两本账有五处对得上、三处对不上——对不上的地方，正是 950 要和客户一起测的东西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86200" cy="429768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3886200" cy="29260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对得上的五处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73352"/>
            <a:ext cx="3703320" cy="389534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序列化 × 服务这一格：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ProtoAcc 推算约 0.8% [25]，Cloud-Scale 直接测得 1.2% [02]，两种独立方法同一量级（第 23 页）。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字节多、周期少：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搬了 95%+ 的字节，周期只占几个百分点。protobuf 按字节 92% 是 bytes / string（已编好的载荷）[25]，压缩一半由文件格式库发起 [34]——RPC 主要在搬存储层编好、压好的块（推断，与 RPC 流量 75% 与存储交互 [17] 一致）。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拆分放大服务列：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单层服务网络处理 5.3–19.8% → 拆成微服务 36.3% [06]；Meta Fetch 中位 498 个服务块 [03]。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形态系数：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99% × 1.36 + 1% × 3.7 ≈ 1.38×，fleet 由 library 决定 [21][22]；公有云按 sidecar 系数外推增量 12–19% CPU，阿里云实测 sidecar 占集群 10% CPU [24]，同一量级。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两端是同一分布：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头部服务的服务列占 28–59% [20]，Google fleet 平均 7%；fleet 按周期加权，毫秒级重服务把平均拉低。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3611880" cy="429768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325880"/>
            <a:ext cx="3611880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3258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对不上的三处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673352"/>
            <a:ext cx="3429000" cy="389534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压缩那一格差约 8 倍：</a:t>
            </a:r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[02] 把 3.1% 记进 RPC 税，几乎等于全 fleet 压缩 2.9% [34]；但 [34] Fig. 4 中由 RPC 库直接发起的只占 13.9%（约 0.4%）。[02] 原文只写“用 GWP 识别 RPC 周期”，没说明压缩怎么归类。本报告两个口径并列：[02] 口径 7.1%；严格按 RPC 路径约 4–5%（推算）。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四行没有按边界的拆分：</a:t>
            </a:r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拷贝、分配、哈希、调度都没有公开的按边界数据。v2 的“RPC 全路径 10–15%”把 2015 年的拷贝和分配叠到 2023 年的 7.1% 上，年份和口径都不一致，v3 删去。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形态占比没有公开：</a:t>
            </a:r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各部署形态在 fleet 中的流量和 CPU 占比，任何公司都没有公开——形态系数只能算单价，算不出总账。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321040" y="1325880"/>
            <a:ext cx="3291840" cy="429768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325880"/>
            <a:ext cx="32918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1325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形态系数外推 &amp; 数据空白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8321040" y="1627632"/>
          <a:ext cx="32918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8412480" y="30449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税占 CPU 周期（%）：library 为 Google fleet 实测（[02] 口径），sidecar 两档按 Meta / mRPC 系数外推</a:t>
            </a:r>
            <a:endParaRPr lang="en-US" sz="78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3502152"/>
            <a:ext cx="3108960" cy="206654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8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数据空白（转入第 63 页）：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endParaRPr lang="en-US" sz="8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各形态在 fleet 中的流量与 CPU 占比</a:t>
            </a:r>
            <a:endParaRPr lang="en-US" sz="8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拷贝、分配、压缩按边界的拆分</a:t>
            </a:r>
            <a:endParaRPr lang="en-US" sz="8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(c) Java / 托管语言的 RPC / 序列化周期</a:t>
            </a:r>
            <a:endParaRPr lang="en-US" sz="8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(d) 网络 : 存储序列化的比例</a:t>
            </a:r>
            <a:endParaRPr lang="en-US" sz="8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(e) sidecar 卸载到 DPU 后的真实 CPU 节省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573328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读法：对得上的五处说明“税是跨边界的成本”这套框架站得住；对不上的三处和矩阵里的空格，合起来就是 950 待测清单里传统负载那一半。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263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数据来源与口径：外推与推算为本报告计算（OUTLINE_RPC_DECK_V3_LOGIC.md 4.4 节；REPORT.md 2.5 节）；[02] Google SOSP'23；[25] ProtoAcc；[34] CDPU ISCA'23 Fig. 4；[17] Google SIGCOMM'22；[06] DeathStarBench；[03] Meta ATC'23；[21][22] Meta；[24] 阿里云 SIGCOMM'24；[20] Accelerometer；sidecar 系数 2.7–3.7 取自 [21][18]。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第一、二部分小结（可单独拿走；口径见附录 B）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负载洞察小结：现象（按行）和成因（按列）合起来的八条结论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8074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按周期没有杀手应用，按调用高度集中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7335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周期：top-1 程序约 10%、top-50 约 60% 且逐年下降，应用内部同样平坦。调用次数：top-100 方法占 91%。调用集中不等于周期集中。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32588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36208" y="138074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税的组成（行合计，Google fleet）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36208" y="167335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 9.6% &gt; 内存分配 4.3% ≈ 拷贝 4–5%（2015）&gt; 压缩 2.9% &gt; 通信专属 2.8%（TCP 栈 1.7% + RPC 库 1.1%）；全部内核约 18–20% 不算可加速的税。各项年份不同，只看量级。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43230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税在核上的样子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72491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前端停顿占 slot 15–30%、生产 L1-I MPKI 7–56；内核约 1/5；缺的是取指容量而非更聪明的预取；传统微服务带宽利用率 10–31%；SMT 有吞吐空间也有尾延迟代价。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37744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243230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税是跨边界的成本，拆得越细越重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272491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请求路径上每一步的操作都能在税表里找到对应的行；同样的业务，拆成微服务后网络处理从 5–20% 升到 36%（DeathStarBench）。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48386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 跨越次数多、每次跨越小而重尾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77647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Fetch 中位 498 个服务块，调用树宽不深，叶子是存储；RPC 毫秒级为主，中位 &lt;1.5 KB（固定开销主导），P99 几百 KB（每字节开销主导）。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42900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36208" y="348386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 形态系数：成本和延迟两条链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36208" y="377647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成本：library 1.36× → sidecar 2.7–3.7×；延迟：sidecar p50 +107% → serverless 加策略 p50 7×、p99 254×。形态由信任边界决定。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453542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 RPC 税是服务那一列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482803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[02] 口径 7.1%，压缩只计 RPC 库发起的部分则约 4–5%（推算）；序列化 9.6% 只有约 1.2 个百分点在这一列；存储那一列更重（Spanner 等平台 tax 32–40%）。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4480560"/>
            <a:ext cx="5486400" cy="987552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6208" y="453542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 对不上的地方就是数据空白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36208" y="4828032"/>
            <a:ext cx="5266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压缩的归类、拷贝 / 分配按边界的拆分、形态在 fleet 中的占比、托管语言的序列化税——公开文献都没有，芯片厂商应与客户联合测量。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59612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对硬件目标的含义：先对准 CPU 周期里的整行（序列化、压缩、拷贝合计十几个百分点）与前端 / 切换效率，其次才是往返 µs；按调用次数，最同质的落点是存储 / 缓存前端；增量市场是 sidecar / serverless 用户。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数据来源与口径：各条结论的原始数据与口径见第 8–24 页页脚与附录 B（第 65 页）；数字均为论文原文或本报告的显式推算。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削减：四个杠杆（学界怎么削）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四个杠杆与放置规则（吃行还是吃列）→ 通信栈的成本机理 → 五条路线 → 硬件卸载谱系 → 序列化的成本结构 → 序列化与压缩加速器放在哪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四个杠杆总览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四个杠杆：减次数、降系数、降每次固定开销、降每字节开销——硬件放在哪，决定它吃到一整行还是只吃一列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4066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88720"/>
                <a:gridCol w="3108960"/>
                <a:gridCol w="1188720"/>
                <a:gridCol w="7772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杠杆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改公式的哪一项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代表方案（主讲页）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落在哪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吃行还是列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减次数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跨越次数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合并接口（阿里 7.8% 的依赖是环形 [04]）；Service Weaver 由运行时决定同进程还是跨进程 [40]；Meta FaaS 同进程跑多个函数 [22]；CXL 共享内存让同机架调用退化成访存 [14][29]（第 15、29 页）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软件；CXL / UB 的内存语义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整列变小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降系数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形态系数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sidecar → 每节点代理 → 集中网关 → 内核内 eBPF [24][39]；mRPC 把策略搬进节点级服务 [18]（第 18、19 页）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软件（mesh 团队）；DPU 网关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整列变小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降每次固定开销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单价里的固定部分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内核旁路 eRPC / Snap [31][38]；硬件分发 RPCValet [11]；硬件调度 nanoPU / µManycore [10][36]；硬件传输 Falcon [30]；过载控制 Breakwater [16]（第 28–30 页）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网卡 / UB / 片上 NI；核的切换与唤醒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吃列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降每字节开销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单价里的每字节部分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零拷贝 Cornflakes / zBuffer [26][19]；贴核 ProtoAcc [25]；近核 CDPU [34]；DSA 拷贝引擎（第 31、32 页）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贴核 / 近核 KAE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吃行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840480"/>
            <a:ext cx="7406640" cy="178308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2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五条路线（第 29 页）落在哪个杠杆：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传输协议重设计、服务器端调度 → ③，同时改延迟；内核旁路 → ③；硬件卸载 → ③ + ④，但只吃服务那一列；CXL 共享内存 → ①，并顺带降单价。</a:t>
            </a:r>
            <a:endParaRPr lang="en-US" sz="92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2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中位看固定开销，尾部看每字节：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 RPC &lt;1.5 KB、93% 的 protobuf 消息 ≤512 B [02][25]，片外卸载的盈亏点约 425 B [20]——小消息上零拷贝几乎无效，出路是减次数和批量；几百 KB 的尾部才是④的主场。</a:t>
            </a:r>
            <a:endParaRPr lang="en-US" sz="92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2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同一个改进，收益取决于服务类型：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Fetch 中位 498 个服务块 × 每次省 5 µs CPU ≈ 每请求 2.5 ms [03]；对 P95 SLO 500 ms 的排序服务是 0.5%，对毫秒级 KV 是 100%+（本报告粗算）。</a:t>
            </a:r>
            <a:endParaRPr lang="en-US" sz="920" dirty="0"/>
          </a:p>
        </p:txBody>
      </p:sp>
      <p:sp>
        <p:nvSpPr>
          <p:cNvPr id="7" name="Shape 4"/>
          <p:cNvSpPr/>
          <p:nvPr/>
        </p:nvSpPr>
        <p:spPr>
          <a:xfrm>
            <a:off x="8092440" y="1325880"/>
            <a:ext cx="3520440" cy="429768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92440" y="1325880"/>
            <a:ext cx="35204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83880" y="13258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放置规则：贴核吃整行，网卡只吃一格</a:t>
            </a:r>
            <a:endParaRPr lang="en-US" sz="10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138160" y="1655064"/>
          <a:ext cx="34290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8183880" y="382219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 Google fleet 周期 %：行合计 [25][34]；服务那一格 [02]，压缩为推算（第 21 页）</a:t>
            </a:r>
            <a:endParaRPr lang="en-US" sz="780" dirty="0"/>
          </a:p>
        </p:txBody>
      </p:sp>
      <p:sp>
        <p:nvSpPr>
          <p:cNvPr id="12" name="Text 8"/>
          <p:cNvSpPr txBox="1"/>
          <p:nvPr/>
        </p:nvSpPr>
        <p:spPr>
          <a:xfrm>
            <a:off x="8183880" y="4233672"/>
            <a:ext cx="3337560" cy="12893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贴核（核内指令、近核 KAE）：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不管为哪条边界做的都能用。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网卡 / UB / DPU：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只吃走网络的那一份。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改次数和系数，不改单价。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用处：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32 页的“放置之争”和第 55 页的“税 × 硅”都从这条规则来。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①② 改的是“跨越次数 × 形态系数”，③④ 改的是“每次单价”；硬件放在哪，决定它吃一整行还是只吃一列。后面五页按这个框架读，每页右上角标出所属杠杆。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数据来源与口径：杠杆划分为本报告的组织方式（OUTLINE_RPC_DECK_V3_LOGIC.md 4.5 节）；方案与数字见各主讲页：[04] 阿里；[40] Service Weaver / Junction；[22] Meta；[14][29] CXL RPC；[24][39][18] mesh；[31][38][11][10][36][30][16] 通信栈；[26][19][25][34] 序列化与压缩；[20] Accelerometer 盈亏点；[03] Meta ATC'23。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通信栈的成本机理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通信栈的成本机理：主机侧网络成本 = 拷贝 + 跨核分发 + cache 争用 + 地址翻译，而不是协议计算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412480" y="237744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0" y="2377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杠杆③ 降每次固定开销 · 吃列（服务边界）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25146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8" name="Image 0" descr="/home/fanzhenhao/RPC_PAPERS/ppt/figs/hns_fig3a_tput_per_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08828"/>
            <a:ext cx="2368296" cy="167204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31455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单长流：全部优化开启也只有约 42 Gbps/核（[33] Fig. 3a）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3566160"/>
            <a:ext cx="2514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1" name="Image 1" descr="/home/fanzhenhao/RPC_PAPERS/ppt/figs/hns_fig3d_rx_cpu_break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710641"/>
            <a:ext cx="2368296" cy="15032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0080" y="534009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接收端 CPU 分解：数据拷贝 &gt;50%（[33] Fig. 3d）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3200400" y="1325880"/>
            <a:ext cx="8412480" cy="32461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单核已跑不满线速。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Gbps 下 Linux 内核栈最优约 42 Gbps/核（jumbo + TSO/GRO + aRFS 全开）；接收端内核→用户的数据拷贝占单长流 &gt;50% 周期；400 Gbps 下 payload 拷贝 &gt;60% CPU、仅 memcpy 就需 ≥15 核 [33]。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协议逻辑不是主要成本。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Homa 做进 Linux 内核后拥塞被协议消除，但短消息往返软件开销约 9.5 µs（&gt; 网络 5.6 µs），分散在各组件、无单一热点；跨核负载均衡（RSS → NAPI → SoftIRQ 两级哈希）使每阶段慢 2–3×；100 Gbps 双向 80% 需 ≥18 核 [32]。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LLC 是被忽视的 I/O 瓶颈。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DDIO 只用 2 个 LLC way，BDP 增长超过 LLC 增长 → 单流 49% cache miss、吞吐/核 −24%；200 Gbps × 1 KB 包 = 每 41.8 ns 一次 I/O，一次 miss 就破线速；CEIO 用“总信用 = LLC 容量”实现零 miss，吞吐 +1.2–2.9× [33]。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其他系数：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IOMMU −26%；NIC 远端 NUMA −20%；长短流混跑同核 −43%；拥塞控制算法的选择对吞吐/核无影响——瓶颈在接收端 [33]。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的六宗罪（Ousterhout）：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连接开销、字节流 HOL、公平调度抬高尾延迟、发送端驱动 CC 保证高负载下有排队、不用网内优先级、按序投递限制负载均衡；且实现太复杂难以硬件化 [32]。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3200400" y="4617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四项成本分别对应四个硬件设计空间（文献的需求见第 35 页）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00400" y="4919472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291840" y="49743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拷贝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3291840" y="52303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 引擎 / 零拷贝、SG 小段开销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321808" y="4919472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13248" y="49743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跨核分发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5413248" y="52303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 按实时核负载动态分发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7443216" y="4919472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534656" y="49743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 争用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7534656" y="52303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LLC 信用 / 分区、NIC 可见的占用反馈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9564624" y="4919472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656064" y="49743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地址翻译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9656064" y="52303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IOMMU / ATS、大页 DMA、更大 IOTLB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对硬件的含义：主机侧网络成本 = 拷贝 + 跨核分发 + cache 争用 + 地址翻译，而非协议计算——所以“更快的 TCP 卸载引擎”不是答案，数据路径和缓存路径才是。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数据来源与口径：[33] SIGCOMM'21 Host Network Stack Overheads（100 Gbps 测试床，Linux 5.4）及 CEIO SIGCOMM'25 / FlexiNS arXiv'25 的 400 Gbps 数据；[32] Homa/Linux ATC'21（40 节点集群，25/100 Gbps）。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五条路线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通信方向的五条路线：传输协议重设计、用户态 / 内核旁路、服务器端调度与过载控制、硬件卸载、CXL 共享内存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412480" y="237744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0" y="2377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杠杆①③④ · 硬件卸载只吃列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577840" y="1325880"/>
            <a:ext cx="60350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8" name="Image 0" descr="/home/fanzhenhao/RPC_PAPERS/ppt/figs/cs_fig9_latency_compon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8035" y="1399032"/>
            <a:ext cx="2914650" cy="6858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0" y="213969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的 RPC 延迟分段模型：发送队列 → RPC 处理 + 网络栈 → 网线 → 接收队列 → 应用 → 回程（[02] Fig. 9）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1325880"/>
            <a:ext cx="4846320" cy="1060704"/>
          </a:xfrm>
          <a:prstGeom prst="roundRect">
            <a:avLst>
              <a:gd name="adj" fmla="val 689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136245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传输协议重设计：消息语义、接收端驱动、网内优先级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581912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Homa（SIGCOMM'18）：真实 RPC 消息 &gt;85% &lt;1 KB；盲发首个 RTTbytes + 8 级交换机优先级近似 SRPT + 接收端逐包授权，短消息 P99 比 TCP 低 100× [08]。Aequitas（Google 生产）：RPC 大小与业务优先级不相关，按 RPC 标 QoS + 发送端 AIMD 准入，fleet P99 −10%，无需新硬件 [17]。Falcon（Google IPU）：200 Gbps、120 Mops/s、拥塞下比 RoCE 好 8×、IP 只占 NIC 面积 5–6% [30]。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48640" y="2441448"/>
            <a:ext cx="4846320" cy="1060704"/>
          </a:xfrm>
          <a:prstGeom prst="roundRect">
            <a:avLst>
              <a:gd name="adj" fmla="val 689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47802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用户态与内核旁路：软件能做到多好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269748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eRPC 是软件下界：2.3 µs、10 Mrps/核、有损以太网不靠 PFC，但独占轮询核、无隔离 [31]。Snap（Google 生产）：栈作为用户态服务，首要动机是迭代速度，代价是 100 Gbps 双向需 7–14 核 [38]。mRPC：序列化 + 策略搬进节点级服务，比 gRPC+Envoy 快 6.1× 但比 eRPC 慢 2×（+5 µs IPC）[18]。Junction：解决内核旁路的密度问题，每机多跑 19–62× 实例 [40]。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48640" y="3557016"/>
            <a:ext cx="4846320" cy="1060704"/>
          </a:xfrm>
          <a:prstGeom prst="roundRect">
            <a:avLst>
              <a:gd name="adj" fmla="val 689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359359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服务器端调度、分发与过载控制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813048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Google：排队占 RPC 延迟税 21%，&gt;50 µs 的调度唤醒与尾延迟强相关 [02]。RPCValet：RSS 静态分流浪费 30–76% 吞吐，NI 侧“replenish 即空闲”推送分发距最优 3–16% [11]。nanoPU：NIC 直达寄存器文件 69 ns、硬件线程调度 &lt;1 ns 决策，尾延迟 −5× [10]。µManycore：1024 小核 + 硬件队列 / 切换，尾延迟 −10.4× [36]。Breakwater：服务端信用准入 &lt;20 ms 收敛 [16]。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48640" y="4672584"/>
            <a:ext cx="4846320" cy="1060704"/>
          </a:xfrm>
          <a:prstGeom prst="roundRect">
            <a:avLst>
              <a:gd name="adj" fmla="val 689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470916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CXL 共享内存 RPC（④ 硬件卸载见下页）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4928616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HydraRPC（真 CXL 硬件）1.47 µs、大消息比 RDMA RPC 快 96–247×，主动绕开 CXL.cache 用非缓存共享 [14]；RPCool 1.5 µs（RDMA 回退 17 µs），只有 ≥2 页的参数 seal 才比 memcpy 划算，DeathStarBench 上与 Thrift 持平 [29]。限制：CXL 域内（机架）、同 ABI、通知只能轮询。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5577840" y="2560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 3-8  通信方向：方案 × 削减项 × 成熟度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2834640"/>
          <a:ext cx="60350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737360"/>
                <a:gridCol w="1828800"/>
                <a:gridCol w="68580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削减的成本项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软件方案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硬件方案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成熟度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网络排队 / 尾延迟（网线段）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Homa、Aequitas（生产）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Falcon（量产 IPU）、nanoPU 硬件 CC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内核栈 CPU（TCP 1.7%、拷贝）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eRPC、Snap（生产）、Junction、Homa/Linux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Falcon、FlexiNS、CEIO（LLC 信用）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 / 原型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服务器排队与分发（接收队列段）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R2P2 JBSQ、Breakwater、Protego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RPCValet / NeBuLa / nanoPU 硬件分发与调度、µManycore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 / 模拟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库 + 分发（1.1%）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mRPC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Cerebros、Dagger、RpcNIC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跨进程 / sidecar 跳数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mRPC、XLB（eBPF）、Canal 集中网关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DPU L7（待验证）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部分生产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 + 拷贝 + 序列化（CXL 域内）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HydraRPC、RPCool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CXL 控制器功能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早期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5577840" y="5166360"/>
            <a:ext cx="6035040" cy="86868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五条路线的共同模式：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面向消息 + 无连接；接收端驱动的信用 / 授权（Homa 的 grant、Breakwater 的信用、R2P2 的 JBSQ、Aequitas 的准入分别控制链路、服务器 CPU、网络优先级）；把需要全局状态的功能（CC、pacer、分发）下沉到 NIC / 硬件——这一跳只能靠硬件消除 [32]。</a:t>
            </a:r>
            <a:endParaRPr lang="en-US" sz="8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的取舍：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Falcon 明确否定接收端驱动路线（假设网络无超订）和包喷洒（要求路径同构），保留面向连接但用内存带宽 + 二级缓存压平 &gt;100K 连接的悬崖 [30]。</a:t>
            </a:r>
            <a:endParaRPr lang="en-US" sz="8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数据来源与口径：[02] Google SOSP'23；[08] Homa SIGCOMM'18；[17] Aequitas SIGCOMM'22（Google 50 集群生产）；[30] Falcon SIGCOMM'25（IPU E2100 实测）；[31] eRPC NSDI'19；[38] Snap SOSP'19；[18] mRPC；[40] Junction / R2P2 / Protego / NeBuLa；[11] RPCValet ASPLOS'19（模拟）；[10] nanoPU OSDI'21（FPGA）；[36] µManycore（模拟）；[16] Breakwater；[14] HydraRPC ATC'24；[29] RPCool arXiv'24。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硬件卸载与 DPU 的现实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硬件卸载谱系（FPGA NIC → 片上 NI → IPU）：接口语义比物理带宽更重要、小任务必须由 NIC 自主触发、DPU 的 ARM 核不是加速器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412480" y="237744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0" y="2377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杠杆③④ · 吃列（服务边界）</a:t>
            </a:r>
            <a:endParaRPr lang="en-US" sz="8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5895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554480"/>
                <a:gridCol w="1417320"/>
                <a:gridCol w="2011680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卸载内容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CPU–设备接口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关键结果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主要限制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DeathStarBench FPGA [06]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TCP 栈（bump-in-the-wire）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网络处理延迟 −10–68×，端到端尾延迟 −43%–2.2×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只卸传输，未报告 CPU 节省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Dagger（ASPLOS'21）[12]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整个 RPC 栈（接口 / 序列化 / 分发 / 传输）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UPI 内存互连（类 CXL）：CPU 只写共享 buffer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每核 12–16 Mrps、2.1 µs；内存互连比 doorbell +14%；memcached 延迟比内核低 11.4×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MTU = 1 cache line；FPGA 回环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Cerebros（MICRO'21）[13]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Thrift RPC 层三模块（头 / 载荷 / 分发）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片上 NIC（NeBuLa）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层周期 −37–64×，总周期 −1.8–14×；i-cache MPKI −93%；面积比每核复制少 5×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全模拟；RPC 层 40–90% 是轻逻辑设定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nanoPU（OSDI'21）[10]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传输 + 核选择 + 调度 + 数据路径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寄存器文件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 ns 线到线；118 Mrps/核；+15% 核逻辑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只对 &lt;1 µs cache 常驻请求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RpcNIC / RPCAcc（HPCA'25）[28]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层 + protobuf 序列化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 SmartNIC（U280）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 −2.3× / −4.3×；主机 CPU −74%；RX 与片上持平、TX 差 1.24–1.4×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主机需预序列化（22% 周期）；250 MHz FPGA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FlexiNS（arXiv'25）[33]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可编程传输（BF3 ARM 只做包头）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PCIe，header-only TX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 GbE 线速、单流接近 RDMA NIC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ARM 内存 / 链路带宽是硬约束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Falcon（SIGCOMM'25）[30]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可靠传输全部（CC / 重传 / 多路径 / 整形 / 加密 / 隔离）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PCIe（IPU E2100 ASIC 同 die IP），verbs / NVMe 兼容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 Gbps、120 Mops/s、单 QP 20 Mops、1 B–2 MB 5.8–8.7 µs 且 P99 ≈ 中位；面积 5–6% / 功耗 3–4%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片上 O(BDP) 缓冲 1–2 mm²；RPC ULP 未评估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275320" y="1325880"/>
            <a:ext cx="33375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0" descr="/home/fanzhenhao/RPC_PAPERS/ppt/figs/falcon_fig1_sw_lim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1417020"/>
            <a:ext cx="3191256" cy="7869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366760" y="227685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Falcon 硬件 vs Pony Express 软件：操作率 5×、尾延迟 10×（[30] Fig. 1）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8275320" y="2697480"/>
            <a:ext cx="3337560" cy="30175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 1  接口语义比物理带宽更重要。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Dagger 同一链路从 doorbell/DMA 换成缓存一致性共享内存就 +14%，并消除 MMIO 和批处理需求 [12]——CXL.mem/.cache 接入 NIC 的论据；但 CXL 物理层仍是 PCIe，sub-µs 对指针追踪不够 [28]。</a:t>
            </a:r>
            <a:endParaRPr lang="en-US" sz="78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 2  PCIe 的两个陷阱及解法：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 DMA 打满事务率 → 设备侧 SRAM 攒一条消息一次性写（+1.78–2.2×）；指针追踪跨 PCIe → 主机先拉平、设备只编码；代价是 CPU 仍参与，节省上限约 74–78% [28]。</a:t>
            </a:r>
            <a:endParaRPr lang="en-US" sz="78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 3  卸载粒度决定成败：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片外盈亏点 425 B [20]、Cerebros 每次卸载约 200 周期 [13]、93% protobuf 消息 ≤512 B [25]——小而频繁的任务必须由数据到达方（NIC）自主触发，不能由 CPU 逐次调用。</a:t>
            </a:r>
            <a:endParaRPr lang="en-US" sz="78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 4  SoC DPU 的 ARM 核不是加速器。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nanoPU（延迟至少 2×）、RpcNIC（编码慢 5.9×）、FlexiNS（内存带宽 500 vs 需 1,600 Gbps）、BenchBF3（DPA 单线程更弱）四方一致 [10][28][33][40]。</a:t>
            </a:r>
            <a:endParaRPr lang="en-US" sz="78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DPU 的现实（2024–25 刻画）：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BF-3 DPA 单线程算力 / 访存远弱于主机核、on-path RDMA 延迟比 off-path 高 12–30%、DMA 引擎轮询模式某些大小比 BF-2 慢 21–39% [40] → 正确用法是“ARM 决定、硬件搬运”（header-only 卸载 + 主机内存直通 SG），而不是把 RPC 栈整体搬到 ARM 上跑。</a:t>
            </a:r>
            <a:endParaRPr lang="en-US" sz="780" dirty="0"/>
          </a:p>
        </p:txBody>
      </p:sp>
      <p:sp>
        <p:nvSpPr>
          <p:cNvPr id="12" name="Shape 8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577900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两条路线：Falcon（ASIC 流水线 + ARM 只算慢变量：单 N1 核 20 M events/s 足够）vs BF-3（ARM / DPA 做数据面）——本调研的证据一边倒支持前者；这直接约束了 UB Controller 与 DPU 的产品定义（第六部分，第 60 页）。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数据来源与口径：表中数字为各论文自报；Cerebros、µManycore 为模拟，Dagger / nanoPU / RpcNIC 为 FPGA 原型，Falcon 为量产 IPU 实测；[40] BenchBF3 ICNP'24 与 BlueField Idiosyncrasies ICS'25；[20] Accelerometer；[25] ProtoAcc。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 序列化的钱花在哪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序列化的成本结构：拷贝是主体、元数据其次、编码最少——硬件若只做编码（varint 指令）或只做 DMA，都只能拿到一小块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412480" y="237744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0" y="2377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杠杆④ 降每字节开销 · 吃行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单核 echo 服务的吞吐（Gbps）：每多一次拷贝掉一档，主流库只剩 1/5（Cornflakes [26]）</a:t>
            </a:r>
            <a:endParaRPr lang="en-US" sz="9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737360"/>
          <a:ext cx="43891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931920"/>
            <a:ext cx="4206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0" name="Image 0" descr="/home/fanzhenhao/RPC_PAPERS/ppt/figs/cornflakes_fig2_libs_p9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58" y="4005072"/>
            <a:ext cx="3998804" cy="12801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53400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同一实验的 p99 延迟 vs 负载曲线（[26] Fig. 2）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892040" y="1325880"/>
            <a:ext cx="32918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3" name="Image 1" descr="/home/fanzhenhao/RPC_PAPERS/ppt/figs/protoacc_fig3_msg_siz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475660"/>
            <a:ext cx="3145536" cy="103546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83480" y="26426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fleet protobuf 消息大小：93% ≤512 B（[25] Fig. 3）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8321040" y="1325880"/>
            <a:ext cx="32918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6" name="Image 2" descr="/home/fanzhenhao/RPC_PAPERS/ppt/figs/zbuffer_fig9_overhe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1641196"/>
            <a:ext cx="3145536" cy="70439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412480" y="26426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 zBuffer：去元数据 + 零拷贝后编解码开销比 Protobuf 低 1–2 个数量级（[19] Fig. 9）</a:t>
            </a:r>
            <a:endParaRPr lang="en-US" sz="800" dirty="0"/>
          </a:p>
        </p:txBody>
      </p:sp>
      <p:sp>
        <p:nvSpPr>
          <p:cNvPr id="18" name="Text 12"/>
          <p:cNvSpPr txBox="1"/>
          <p:nvPr/>
        </p:nvSpPr>
        <p:spPr>
          <a:xfrm>
            <a:off x="4892040" y="3063240"/>
            <a:ext cx="6720840" cy="265176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fleet 级画像（Google，ProtoAcc [25]）：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protobuf 占 9.6% fleet 周期（C++ 88%）；96% 字节仍是 proto2 → 格式长期稳定；消息极小（24% ≤8 B、56% ≤32 B、93% ≤512 B），但 &gt;32 KB 的 0.08% 消息承载 ≥13.7× 于最小桶的字节；按字节 92% 是 bytes / string；小 varint 每字节比大字段慢 100–500×——“没有银弹”；90% 消息只填了 &lt;52% 的字段。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成本分解三份独立实验一致：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Cornflakes 单核 echo 77 → 48 → 28 → 23 → 13–15 Gbps [26]；zBuffer：Protobuf 13–14 Gbps → 去元数据 23.4 → 再零拷贝 45 Gbps [19]；zFlatBuffers：缓冲区扩容拷贝占序列化时间 38–58% [40]。Kanev 2015：RPC 税的 2/3 是载荷搬运 [01]；Meta：内存函数最高 37% 周期，memcpy 最大项 [20]。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托管语言更重：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 六个应用即使用 Kryo，序列化 / 反序列化仍占平均 28%（最高 83.4%）——对象图递归遍历、反射、GC 头、间接加载叠加 [37]。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反序列化的复杂度在对象构造与内存分配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（ProtoAcc 的 arena、Cerebros 的预留缓冲、zBuffer 的就地修指针、Cereal 反序列化器面积 5× 于序列化器）——与 malloc 税 4.3% 是同一问题。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85800" y="577900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序列化税 = 拷贝 + 元数据 + 编码 + 对象分配。“拷贝是主体”来自吞吐型实验；中位 RPC 不到 1.5 KB，小消息上零拷贝的簿记会吃掉收益（下页），出路是减少跳数和批量。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数据来源与口径：[26] Cornflakes SOSP'23（单核 echo 微基准，100 Gbps CX-5）；[25] Google MICRO'21 fleet GWP；[19] zBuffer PPoPP'26（阿里，已生产部署）；[40] zFlatBuffers IPCCC'23；[01] Kanev；[20] Meta；[37] Cereal ISCA'20（Spark 六应用）。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3.6 加速器放哪（吃行还是吃列）与压缩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序列化加速器放哪：贴核吃整行（全部 9.6%），NIC 侧只吃服务那一格（约 1.2 个百分点）；PCIe 附接对中位消息是负收益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412480" y="237744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0" y="2377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杠杆④ · 贴核吃行 / NIC 只吃列</a:t>
            </a:r>
            <a:endParaRPr lang="en-US" sz="8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9494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280160"/>
                <a:gridCol w="1097280"/>
                <a:gridCol w="1600200"/>
                <a:gridCol w="16459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放置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覆盖格式 / 语言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面积 / 性能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关键论据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ProtoAcc（MICRO'21）[25]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贴核（RoCC，共享 L2 / TLB，虚拟地址）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proto2，C++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deser 0.133 + ser 0.278 mm²（22 nm）；比 Xeon 快 3.8×；估省 &gt;2.5% fleet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84% 的反序列化不在 RPC 路径；93% 消息 ≤512 B → PCIe NIC 放置不可行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Optimus Prime（ASPLOS'20）[27]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片上共享（NoC 边缘 tile）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 DT，Thrift / protobuf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流水线 0.45 mm² / 532 mW（28 nm）；约 60× 于软件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 约 1 µs 对嵌套消息多次往返 → 否决；收益来自预取重叠访存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Cerebros（MICRO'21）[13]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片上 NIC 侧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Thrift compact，C++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层 −37–64×；面积比每核复制少 5×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分发必须与序列化同在硬件；NIC 位置可做亲和核选择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RpcNIC（HPCA'25）[28]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 SmartNIC（协同）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+ 可重构内核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主机 CPU −74%；序列化 −2.3× / −4.3×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主机预序列化拉平 + 设备侧一次性 DMA 规避 PCIe；DSA 帮拷贝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Cereal（ISCA'20）[37]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内存侧加速器（读写 JVM 堆）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Java 对象图（改格式）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2.7 mm² / 1.2 W（40 nm）；Spark S/D 7.97× / 4.81×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反序列化器面积 5× 于序列化器；需与 GC 协作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软件零拷贝：Cornflakes / zBuffer [26][19]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商用 NIC scatter-gather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C++ / Rust，同 ABI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zBuffer 1 KB 编解码 25 ns（Protobuf 1/22.8）；Masstree P99 −21%、吞吐 +62%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 SG 64 B 就赢、加簿记后 ≥512 B 才赢 → 混合策略；需要 RDMA / DPDK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343400"/>
            <a:ext cx="2834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0" descr="/home/fanzhenhao/RPC_PAPERS/ppt/figs/cdpu_fig1_alg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741" y="4416552"/>
            <a:ext cx="2138438" cy="914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3858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fleet 压缩周期按算法：Snappy / ZStd / Flate 为主（[34] Fig. 1）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3474720" y="4343400"/>
            <a:ext cx="4023360" cy="137160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2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压缩：序列化的姊妹问题，约占 fleet 周期 3%。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整行 2.9% [34]；由 RPC 库直接发起的只占 13.9%（约 0.4%，推算），[02] 记进 RPC 税的 3.1% 归类存疑（第 21 页）；关键服务 10–50%、存储平台 tax 的 14–31% [41]。95% 字节用弱算法 / 低级别以省 CPU → 加速后可换回容量；中位调用 64–128 KiB；文件格式库发起 49% 的压缩周期 [34]。相对 Xeon 软件：近核 CDPU 10×（0.431 mm²）、chiplet 9.5×、PCIe 1.8× [34]。阿里云放弃本地 QAT 改用远程密钥服务器 [24]——片外加速器在云上落地失败的生产案例。</a:t>
            </a:r>
            <a:endParaRPr lang="en-US" sz="820" dirty="0"/>
          </a:p>
        </p:txBody>
      </p:sp>
      <p:sp>
        <p:nvSpPr>
          <p:cNvPr id="12" name="Shape 8"/>
          <p:cNvSpPr/>
          <p:nvPr/>
        </p:nvSpPr>
        <p:spPr>
          <a:xfrm>
            <a:off x="7635240" y="1325880"/>
            <a:ext cx="39776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3" name="Image 1" descr="/home/fanzhenhao/RPC_PAPERS/ppt/figs/cornflakes_fig3_sg_thresh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106" y="1399032"/>
            <a:ext cx="2809909" cy="10058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726680" y="245973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裸 SG 64 B 就赢；加上内存安全簿记后 ≥512 B 才赢（[26] Fig. 3）</a:t>
            </a:r>
            <a:endParaRPr lang="en-US" sz="800" dirty="0"/>
          </a:p>
        </p:txBody>
      </p:sp>
      <p:sp>
        <p:nvSpPr>
          <p:cNvPr id="15" name="Text 10"/>
          <p:cNvSpPr txBox="1"/>
          <p:nvPr/>
        </p:nvSpPr>
        <p:spPr>
          <a:xfrm>
            <a:off x="7635240" y="2880360"/>
            <a:ext cx="3977640" cy="283464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7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放置决策链：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endParaRPr lang="en-US" sz="7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6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PCIe 附接对中位消息是负收益（盈亏点 425 B [20]；比近核慢 3.4–5.6× [28][34]），除非 RpcNIC 式协同（CPU 仍付 22%）。</a:t>
            </a:r>
            <a:endParaRPr lang="en-US" sz="7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6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片上三种放置没有绝对赢家：贴核覆盖全部序列化（含存储 / IPC 的 65–84%）且面积极小；共享硅效率高但受 NUCA 影响；NIC 侧能做整栈卸载但只覆盖 RPC 路径（编解码操作的 16–35%，全部 protobuf 周期的约八分之一）。决定因素是客户负载里“网络 : 存储序列化”的比例——目前没有公开数据。</a:t>
            </a:r>
            <a:endParaRPr lang="en-US" sz="7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6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chiplet / I/O die 是新的中间选项（CDPU，均相对 Xeon 软件：chiplet 9.5×、近核 10×、PCIe 1.8×）[34]。</a:t>
            </a:r>
            <a:endParaRPr lang="en-US" sz="7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6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格式几乎总要改（Optimus Prime 改 setter、Cereal 改格式、zBuffer 改布局）；只有 ProtoAcc 保持 wire 兼容。落地障碍是软件接口和生态，不是硅面积（&lt;1 mm²）。</a:t>
            </a:r>
            <a:endParaRPr lang="en-US" sz="780" dirty="0"/>
          </a:p>
          <a:p>
            <a:pPr lvl="1" marL="355600" indent="-177800">
              <a:lnSpc>
                <a:spcPct val="115000"/>
              </a:lnSpc>
              <a:spcAft>
                <a:spcPts val="200"/>
              </a:spcAft>
              <a:buSzPct val="100000"/>
              <a:buChar char="–"/>
            </a:pPr>
            <a:r>
              <a:rPr lang="en-US" sz="6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调用模型比放置更重要（存储侧）：片上 vs 片外同步只差 1.04×，异步比同步好 1.3×，加速器链式执行（压缩→加密→哈希不回核）≈ 全异步 → “一组可链式调用的小加速器”[41]。</a:t>
            </a:r>
            <a:endParaRPr lang="en-US" sz="780" dirty="0"/>
          </a:p>
        </p:txBody>
      </p:sp>
      <p:sp>
        <p:nvSpPr>
          <p:cNvPr id="16" name="Shape 11"/>
          <p:cNvSpPr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85800" y="5797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决定序列化加速器放哪的不是硅面积（&lt;1 mm²），而是客户负载里“网络 : 存储序列化”的比例和软件接口生态；压缩则已有近核方案的定量边界（10× / 0.43 mm²）。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309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数据来源与口径：[25] ProtoAcc（RTL + FireSim）；[27] Optimus Prime（模拟）；[13] Cerebros（模拟）；[28] RpcNIC（FPGA）；[37] Cereal（模拟）；[26] Cornflakes（实测）；[19] zBuffer（生产）；[34] CDPU ISCA'23（Google fleet 画像 + RTL）；[41] Google ISCA'23 极限研究；[24] 阿里云 SIGCOMM'24；[20] Accelerometer；[02] Google SOSP'23。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综合：每一格多大、已证明能削多少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热点地图（按矩阵的行排列：行合计 / 服务那一格 / 热点服务 / 落在哪块硅 / 杠杆与已证明的削减）→ 文献对 CPU / NIC / 互连 / SKU 的需求清单 → 按客户类型的差异与争议；取舍与排序统一放在第六部分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留给下一部分的问题：AI 来了，这张表还成立吗？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热点地图（以 Google fleet：library 形态、C++、TCP 为基准）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热点地图：按矩阵的行排列——每一行的总量、落在服务列的那一格、热点服务量级、落在哪块硅、哪个杠杆已证明能削多少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25880"/>
                <a:gridCol w="1234440"/>
                <a:gridCol w="2057400"/>
                <a:gridCol w="868680"/>
                <a:gridCol w="3108960"/>
                <a:gridCol w="128016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操作（行）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行合计（Google fleet）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服务那一格（RPC 路径）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热点服务量级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落在哪块硅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杠杆 · 已证明的削减（比例）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成熟度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82880">
                <a:tc gridSpan="7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通用操作（行）：贴核的方案吃整行，网卡上的方案只吃服务那一格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9.6%，可加速 3.45% [25]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1.2% [02]（≈0.8% [25]）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 10%、Feed1 13% [20]；Spark 28% [37]；大数据平台 tax 的 20–25% [41]；轻逻辑微服务 40–90% [13]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贴核 ProtoAcc 3.8–6.2×、0.41 mm² [25]（吃行）；zBuffer 编解码约 1/23、吞吐约 3× [19]；NIC 侧 Cerebros 37–64× [13]、PCIe RpcNIC −74% CPU [28]（吃列）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软件生产（zBuffer）；硬件原型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2.9% [34]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0.4%（推算）；[02] 记为 3.1%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10–50%（存储、排序）[34]；Feed1 / Cache1 15% [20]；大数据平台 tax 的 14–31% [41]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近核 CDPU 10×、0.43 mm²（吃行），PCIe 只有 1.8× [34]；加速后可换回容量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原型（RTL）+ 商用 QAT（片外，云上落地差 [24]）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拷贝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4–5%（2015）[01]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一部分（网络栈拷贝）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网络栈拷贝 &gt;50–60% [33]；Ads1 最高 [20]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 + LLC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零拷贝 SG（≥512 B）[26]；DSA / I/OAT −55% 主机周期 [28][38]；片上拷贝 +12.7% [20]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DSA 商用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内存分配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4.3% [35]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一部分（反序列化建对象）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Cache1 最重 [20]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 + TLB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 TCMalloc fleet +1.4% [35]；硬件卸载只 +1.86% [20]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 gridSpan="7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服务边界的专属操作（整行都在服务列）：网卡 / UB 与核的切换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通信：RPC 库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1.1% [02]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整行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Cache2 收发 I/O 52%（含部分内核网络）[20]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Cerebros（与序列化一起）；Google：单独加速价值不高 [02]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模拟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通信：网络栈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1.7% [02]；全部内核 18–20% [01]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整行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 约 30% 时间在内核 [05]；100 Gbps 双向需 18 核 [32]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应用核 + 内核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Snap 3×/核 [38]；eRPC 10 Mrps/核 [31]；Falcon 传输 ≈0 核、IP 占 NIC 5–6% 面积 [30]；CEIO +1.2–2.9× [33]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Snap / Falcon 生产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调度 / 唤醒 / 分发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scheduler ≈5%（2015，内核内）[01]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排队占 RPC 延迟税 21% [02]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Cache 切换 18% [36]；Linux 切换 5K 周期 [36]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 + 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RPCValet +29–76% [11]；nanoPU 尾延迟 −5× [10]；µManycore −10.4× [36]；Breakwater &lt;20 ms 收敛 [16]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模拟 / FPGA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 gridSpan="7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不是某一行，但改变系数、其他货币或流水线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形态系数（sidecar）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只占 1% 流量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 RPC 2.7–3.7× [21][18]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公有云集群 10% CPU [24]；serverless + 策略 p50 7× / p95 38× [43]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代理核 + 内核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集中网关 −12–19× [24]；eBPF 内核内 +1.5× [39]；mRPC 6.1× [18]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部分生产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延迟：网络尾部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平均延迟税里占 1.1 个百分点 [02]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尾部主导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交换机 / NIC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Homa 100× [08]；Aequitas fleet −10% [17]；Falcon vs RoCE 8× [30]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流水线：前端 i-cache / ITLB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15–30% slot [01]（slot 口径，不与周期排序）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Web、Cache [36]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核前端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 L1-I（反例：DCPerf ARM SKU −85% Perf/W）[05]；卸 RPC 层 MPKI −93% [13]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微架构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跨核一致性 / IOMMU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网络栈每阶段 2–3× [32]；IOMMU −26% [33]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chiplet 跨域 2.07× [35]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NoC / LLC / IOTLB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小一致性域、NUCA 感知分配器；ATS / 大页 DMA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模拟 / 微架构</a:t>
                      </a:r>
                      <a:endParaRPr lang="en-US" sz="6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559552"/>
            <a:ext cx="11064240" cy="73152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按行合计排序（Google fleet，各项年份不同）：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 9.6% &gt; 分配 4.3% ≈ 拷贝 4–5%（2015）&gt; 压缩 2.9% &gt; 网络栈 1.7% &gt; RPC 库 1.1%；服务那一格加起来就是 RPC 税（[02] 口径 7.1%，严格约 4–5%）；全部内核 18–20% 不算可加速税。</a:t>
            </a:r>
            <a:endParaRPr lang="en-US" sz="800" dirty="0"/>
          </a:p>
          <a:p>
            <a:pPr marL="342900" indent="-342900">
              <a:lnSpc>
                <a:spcPct val="115000"/>
              </a:lnSpc>
              <a:spcAft>
                <a:spcPts val="100"/>
              </a:spcAft>
              <a:buSzPct val="100000"/>
              <a:buChar char="▪"/>
            </a:pPr>
            <a:r>
              <a:rPr lang="en-US" sz="8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硅位置：</a:t>
            </a:r>
            <a:pPr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绝大多数开销落在应用核上（所以 Meta 单 SKU、Perf/W 决定采购）；贴核方案吃整行，NIC 方案只吃服务那一列；NIC / 交换机还承担网络尾延迟。单类服务的大项（缓存服务收发 I/O 52% [20] 等）见第 36 页。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09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数据来源与口径：“已证明的削减”指现有论文的削减比例；“落在哪块硅”指该开销当前主要消耗哪块硬件；①–④ 为第 27 页的四个杠杆；引用编号见附录。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文献的需求清单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文献对硬件提出的需求：CPU 侧、NIC / DPU 侧、互连侧、服务器 / SKU 侧四组；先后取舍放在第六部分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246120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32461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侧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73352"/>
            <a:ext cx="3063240" cy="40325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近核“数据变换加速器簇”：序列化 + 压缩 + memcpy。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三者合计十几个百分点；ProtoAcc 0.41 mm² 对应可加速的 3.45%，CDPU 0.43 mm² 对应压缩约 3% 并换回容量；文献要求贴核或片上、异步加链式调用；收益应按 zBuffer 而非 Protobuf 基线算。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片上 DMA / 拷贝引擎的用户态低延迟提交与小段优化。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多数拷贝 &lt;512 B，小段固定开销要 &lt;100 ns；与 NIC SG 协同。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前端：大 L1-I / ITLB、切换感知的指令 cache 管理，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而非更聪明的顺序预取器；替换策略可调（FB Web +2.9%）。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硬件请求调度与上下文切换：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消息驱动的核唤醒、硬件线程队列与优先级抢占（nanoPU −5×、µManycore −10.4×）。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LLC 作为 NIC↔CPU 缓冲的主动管理：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可配置 DDIO way、NIC→LLC 信用、按队列 cache 分配（CEIO +1.2–2.9×）。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chiplet / NUCA 感知：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 cache 域拓扑、可动态划分一致性域（跨域 2.07×）。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IOMMU / ATS：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−26% 的虚拟化税；ATS / PRI、大页 DMA、更大 IOTLB。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内存保护 key 与 CXL 共享内存安全：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 key、用户态可控的页 / 对象级权限切换（RPCool 0.35 µs 沙箱）。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不值得单独硬件化：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malloc（硬件只 +1.86%）、RPC 库本身、内核——靠软件与微架构通用改进。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3886200" y="1325880"/>
            <a:ext cx="2834640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1325880"/>
            <a:ext cx="28346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77640" y="1325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 / DPU / IPU 侧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673352"/>
            <a:ext cx="2651760" cy="40325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消息式硬件传输（Falcon 功能清单）：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延迟型 CC + 硬件时间戳 + 接收侧缓冲占用回传、位图 SACK、拥塞感知多路径 + 片上 O(BDP) 缓冲（1–2 mm²）、请求–响应事务接口、不依赖无损网络；18 核 → ≈0 核。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按实时核负载的动态分发（替代 RSS）：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 浪费 30–76% 吞吐；需要 NI↔核 ns 级反馈——片上 / 封装内 NI 才能做，是 CPU 厂商的结构性优势。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 / DMA 小段开销与接收侧 SG：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条目数上限 ~30 → 更多、每条目 &lt;100 ns、设备侧按消息聚合写回、接收侧按 schema 分散落点。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边界与优先级元数据保留：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Aequitas 需要按 RPC 而非连接标 QoS。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 解析结果作为元数据交付（“L7 RSS”）：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解析占 sidecar 开销 63–77% 且应用又解析一遍；但跳数和拷贝才是主体，DPU 搬走代理并不自动省钱。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ARM / DPA 只做控制面与包头，payload 走硬件直通。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加密加速要么标配要么别做：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价值在连接建立和 sidecar / 网关形态，需要低延迟小批量路径。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6812280" y="1325880"/>
            <a:ext cx="2286000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1325880"/>
            <a:ext cx="22860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1325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互连侧（CXL）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1673352"/>
            <a:ext cx="2103120" cy="40325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CXL 对 RPC 的价值在接口语义和机架内共享，不在延迟量级。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Dagger +14%、HydraRPC 1.47 µs；但 DB 主导的微服务无收益。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需要的控制器 / CPU 功能：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廉价的非缓存共享、内存写触发的轻量通知（当前只能轮询）、按主机的访问窗口 / 租约 / 回收、多主机内存保护。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放置策略随之改变：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CXL 域内服务对用共享内存 RPC（1.5 vs 17 µs）→ 调度器把高频通信服务放进同一域；CXL 挂旧 DRAM 省碳。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9189720" y="1325880"/>
            <a:ext cx="2423160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89720" y="1325880"/>
            <a:ext cx="2423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81160" y="13258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 / SKU 侧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1673352"/>
            <a:ext cx="2240280" cy="40325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 SKU 约束 + Perf/W + 碳：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非 AI 单 SKU；DCPerf 靠 Perf/W 选中绝对性能更低的 ARM SKU；“同一芯片、多运行模式”比多 SKU 更现实。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内存：带宽过配、延迟与热页优先。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利用率 10–31% → 通道换容量 / CXL 扩展 + 小容量高带宽层。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拓扑：NIC 位置与 NUMA。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 远端 −20%；多 die 下 NIC 挂载位置影响 RPC 路径。</a:t>
            </a:r>
            <a:endParaRPr lang="en-US" sz="76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76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用真实负载做设计输入并交付内核调优：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76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DCPerf 指导 ~10 项优化 FB Web +38% / Perf/W +47%，SPEC 完全看不出；384 核内核锁争用 54%。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587044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这是文献视角的需求全集，不是行动清单：哪些由鲲鹏做、先做哪个，在第六部分按“量级 × 鲲鹏差距 × 可行性 × 归属”统一排序（第 62 页）。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8251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数据来源与口径：每条建议的依据数字见 REPORT.md 5.2 节与本 PPT 对应页；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按客户类型的差异；争议与开放问题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同一个发力点对不同客户价值不同：hyperscaler、公有云租户、Java / 大数据、存储 / KV 前端、CXL 机架采用者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2560320"/>
                <a:gridCol w="36576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形态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税量级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最相关的发力点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hyperscaler（Google / Meta 型）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library（99%）、C++ / Hack、自研传输（Snap → Falcon）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fleet 7%（RPC 路径）+ 序列化全口径 9.6% + 压缩 2.9%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近核序列化 / 压缩簇、前端、Falcon 类消息传输、动态分发；评估工具 DCPerf / HyperProtoBench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公有云租户 / 企业（Istio 型）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sidecar（每 RPC 的 CPU 2.7–3.7×）→ Ambient / 集中网关 / eBPF；serverless 加策略（延迟 p50 7×、p95 38×）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 10–30% CPU 在 mesh 上；FaaS 每节点 +2.5–6.5 核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L7 元数据交付、加密、集中网关的 DPU / 加速；XLB 类内核内 L7 需要的是核内效率而非卸载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Java / 大数据（阿里、Spark）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容器混部、RPC 76% / MQ 23%、JVM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 28%（Spark）；CPU 干扰敏感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Cereal 类 JVM 对象序列化加速（空白市场）、硬件隔离（核 / LLC / 带宽 QoS）、快速唤醒（利用率 &lt;10%）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 / KV 前端（按调用次数的服务端主体）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 QPS、µs 级、内核重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收发 I/O 52% [20]；内核约 30% [05]；切换最多 18% [36]（不可相加）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硬件调度与切换、LLC 管理、动态分发、消息式传输；nanoPU / µManycore 路线的目标客户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CXL 机架架构采用者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同机架共享内存 RPC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 + 拷贝 + 序列化三项在域内接近消失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CXL 共享内存 RPC 与控制器功能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49040"/>
            <a:ext cx="11064240" cy="196596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3749040"/>
            <a:ext cx="110642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37490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争议与开放问题（也是芯片厂商可以用第一手数据回答的）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096512"/>
            <a:ext cx="10881360" cy="156362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加速器瞄 fleet 平均还是热点服务？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说 RPC 库加速价值不高、序列化 / 压缩更值得 [02]；Cerebros 说 RPC 层占 40–90% [13]。两者都对：一个是 fleet 平均，一个是轻逻辑服务。怎么取舍见第六部分优先级页（第 62 页）。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序列化加速器放哪？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贴核（覆盖全部 9.6%）vs NIC 侧（只覆盖约 1.2 个百分点但能整栈）——取决于客户负载的网络 : 存储序列化比例，目前没有公开的 fleet 级数据（第一个空白）。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CXL 一致性要不要？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HydraRPC 绕开 CXL.cache 并断言其开销不可容忍 [14]；RPCool 假设一致性可用 [29]；Dagger 从一致性互连获益 14% [12]。真实 CXL 3.x 多主机一致性硬件的实测尚无。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DPU 的定位：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Falcon（ASIC 流水线 + ARM 控制面）vs BF-3（ARM / DPA 数据面）；证据一边倒支持前者，但 FlexiNS 证明后者在正确的编程模型下也能到 400 GbE 线速 [33]。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零拷贝对小消息无效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（MeshInsight、Cornflakes、Canal eBPF 小包）——中位 RPC &lt;1.5 KB，小消息的出路是减少跳数和批量；硬件应提供“消息驱动的批量 DMA”。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7 两个数据空白：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托管语言的 RPC / 序列化税几乎没有 fleet 级数据（只有 Spark 的 28%）；部署形态的 fleet 占比在任何公司都未公开——三角验证无法闭合的原因。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583387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585216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验证工具：DCPerf（5 类负载 + tax 微基准）、HyperProtoBench、HyperCompressBench、DeathStarBench；收益预测 = Accelerometer（卸载上限）× MeshInsight（按调用图放大）× CRISP（关键路径决定延迟收益）。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36422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数据来源与口径：REPORT.md 5.3–5.5 节；表中量级来自第一、二部分对应页；争议各方引用见括号。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 Agent：同一张表，多了三列和一种货币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为什么现在要看：市场信号 → 负载单位从请求变成会话 → Agent 在哪里运行、用多少 CPU → 一次 Agent 请求的一生 → 老的行在新列上的格子 → 新列的专属行（五个新税）→ 三个专题对应三条新列 → 小结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留给下一部分的问题：鲲鹏在每一格上做什么？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5.0 市场信号 · CPU:GPU 比例的说法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市场信号（一）：各方都说 Agent 会把 CPU:GPU 从 1:4–1:8 推向 1:1，甚至 CPU 多于 GPU——但说这话的都是卖 CPU 的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3152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00200"/>
                <a:gridCol w="342900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什么时候、什么场合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说了什么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Intel（CEO 陈立武、CFO Zinsner）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Q1 2026 财报会（2026-04-23）；JPMorgan 会议（2026-05）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部署比例已从约 1:8 变成 1:4，可能接近 1:1；训练约每颗 CPU 配 7–8 颗 GPU、推理 3–4 颗，Agent 可能翻转为 CPU 多；部分前沿模型客户在 Agent 场景要 4 颗 CPU 配 1 颗 GPU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 x86 CPU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AMD（CEO Lisa Su）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Q1 2026 财报会（2026-05-05）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 1:4–1:8 走向接近 1:1，Agent 多时 CPU 可能多于 GPU；服务器 CPU 市场的 2030 年预测从约 600 亿美元上调到 1,200 亿美元以上（年增 35% 以上），且是新增需求、不挤占 GPU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 CPU 和 GPU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NVIDIA（CFO Kress）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Q2 FY27 财报会（2026-08）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Vera CPU 2026-03 起单独销售、已量产；本财年 CPU 收入可见度约 200 亿美元，下一财年翻倍以上；称 CPU 是新的 2,000 亿美元市场；GPU 柜内仍是 1:2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 GPU 和 CPU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Arm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 年的产品与生态发布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 GW 需要的 CPU 核从约 3,000 万增到 1.2 亿（4 倍）；自研 AGI CPU 的客户需求超过 20 亿美元（FY27–28）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 CPU IP 与芯片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TrendForce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2026-04-14 的分析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今天 1:4–1:8，未来 1:1–1:2，没有给年份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分析机构（付费报告）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046720" y="1325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每颗 CPU 配几颗 GPU（越往下 CPU 越多）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955280" y="1572768"/>
          <a:ext cx="37490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8046720" y="3611880"/>
            <a:ext cx="3566160" cy="201168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46720" y="3611880"/>
            <a:ext cx="35661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138160" y="36118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怎么读这些说法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3959352"/>
            <a:ext cx="3383280" cy="160934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口径不一：CPU 颗数还是核数，整机群还是单台，分配的 vCPU 还是实际在用的核。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全部来自利益相关方，没有独立统计。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实测：每个沙箱平均约 0.1 核，Vera 机柜按约 1 核一个环境规划，差约 12 倍（第 44 页）。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柜内的 1:2 是为了内存；Agent 的增量在柜外 CPU 机柜。</a:t>
            </a:r>
            <a:endParaRPr lang="en-US" sz="880" dirty="0"/>
          </a:p>
        </p:txBody>
      </p:sp>
      <p:sp>
        <p:nvSpPr>
          <p:cNvPr id="12" name="Shape 8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方向一致：CPU 需求在涨；幅度没有一手数据。第五部分后面的负载数据，就是用来检验这些说法的。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数据来源与口径：Intel 与 AMD 的说法出自财报会议，经 TrendForce（2026-04-24、2026-05-06）、The Register、TIKR 转述；NVIDIA 出自 Q2 FY27 财报会议，经 The Motley Fool、Crypto Briefing 转述，“200 亿美元”是否只含独立 CPU 说法不一；Arm 与 TrendForce 的数字见 TrendForce 2026-04-14 的分析。图中数值按“GPU 颗数 ÷ CPU 颗数”换算。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5.0 市场信号 · CPU 厂商业绩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市场信号（二）：CPU 厂商的业绩印证了数据中心 CPU 需求在涨——但增长里有多少来自涨价、多少来自 Agent，财报分不出来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最近一期的同比增速（%）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72768"/>
          <a:ext cx="438912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84048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3895344"/>
            <a:ext cx="3986784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 +9%，售价 +48%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4304284"/>
            <a:ext cx="398678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服务器 Q2 2026 同比（10-Q）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4635564"/>
            <a:ext cx="3986784" cy="841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售价上涨主要来自高端产品占比提高，按需涨价是次要；需求超过供给，数据中心的供给紧张持续到 2027 年。Arm 的数据中心版税同比翻倍以上（不披露绝对值）。</a:t>
            </a:r>
            <a:endParaRPr lang="en-US" sz="88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25880"/>
          <a:ext cx="6675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423160"/>
                <a:gridCol w="187452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厂商与时期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数据中心相关数字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管理层的解释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能否拆出 Agent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Q2 2026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DCAI 62.6 亿美元，+59%；服务器出货 +9%、平均售价 +48%；CFO 称少发货超过 10 亿美元（经报道）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推动前所未有的算力需求；扩产 Xeon 6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增长主要来自价格与产品结构；Agent 未单列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AMD Q2 2026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数据中心 67.2 亿美元，+107%，占营收 58%；服务器 CPU 份额 34.5%（Mercury）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EPYC 与 Instinct 需求都强；下半年加速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与 GPU 合并披露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Arm Q1 FY27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 12.9 亿美元 +22%；版税 7.15 亿美元 +22%；数据中心版税翻倍以上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基础设施转向 Arm；AWS 与 Meta 签约部署数千万个 Graviton5 核用于 Agent 负载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不披露数据中心版税绝对值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Q2 FY27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数据中心 890 亿美元；CPU 收入可见度约 200 亿美元（本财年）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使用增长带动数据中心 CPU 需求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是否只含独立 CPU，报道说法不一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 2026 上半年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 90.99 亿元 +66.5%；归母净利 17.98 亿元 +49.7%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大模型迭代、AI Agent 规模化落地、国产化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与 DCU 合并披露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市场与供需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服务器 CPU 市场 Q2 同比约 +20%（Mercury）；交期从 1–2 周拉长到 8–12 周，部分 6 个月（2026 年初）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Intel、AMD 在 1Q26 末对部分型号涨价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需求信号是真的：缺货、涨价、收入与份额同时上升；但没有一家把“因为 Agent”单独拆出来，Intel 的增长主要是价格和产品结构。对鲲鹏来说，能检验的是负载数据，而不是财报里的叙事。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217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数据来源与口径：一手：Intel Q2 2026 新闻稿与 10-Q（截至 2026-06-27）、AMD Q2 2026 新闻稿（截至 06-27）、Arm Q1 FYE27 新闻稿（截至 06-30）。转述：NVIDIA Q2 FY27（截至 07-26）CPU 收入经媒体；海光半年报经新华财经（2026-08-13）；Intel 少发货、Mercury 份额与市场增速经 HotHardware 等；交期经 Nikkei Asia、Reuters；涨价经 TrendForce。各家的“数据中心”口径不同，增速不可直接比较。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5.0 市场信号 · 本部分的问题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从市场信号到负载分析：第五部分要回答四个问题——CPU 用在哪一步、在不在数据中心、每个 Agent 要多少、哪些是税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1993392"/>
          </a:xfrm>
          <a:prstGeom prst="roundRect">
            <a:avLst>
              <a:gd name="adj" fmla="val 367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CPU 用在 Agent 的哪一步？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470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市场的说法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8470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编排、工具执行、子 Agent 协调都在 CPU 上（TrendForce、AMD）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86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负载数据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28600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工具执行、沙箱、编排、推理 host 都在 CPU 上；瓶颈在模型还是工具取决于负载和口径，工具时间占比 2–89%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详见第 45–46 页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5486400" cy="1993392"/>
          </a:xfrm>
          <a:prstGeom prst="roundRect">
            <a:avLst>
              <a:gd name="adj" fmla="val 367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6304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这些 CPU 在不在数据中心？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470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市场的说法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18470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默认都算进数据中心的 CPU 需求</a:t>
            </a:r>
            <a:endParaRPr lang="en-US" sz="98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286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负载数据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228600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token，本地执行约占一半，几乎不进数据中心；数据中心的沙箱 CPU 主要来自 RL rollout 和云端任务沙箱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详见第 42–43 页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5486400" cy="1993392"/>
          </a:xfrm>
          <a:prstGeom prst="roundRect">
            <a:avLst>
              <a:gd name="adj" fmla="val 3670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56616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每个 Agent 实际要多少 CPU 和内存？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9502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市场的说法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39502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Vera 机柜按每个环境约 1 核、18 GB 规划</a:t>
            </a:r>
            <a:endParaRPr lang="en-US" sz="98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389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负载数据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783080" y="438912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实测平均约 0.1 核；内存是基线 185 MB 加 2–4 GB 的突发，内存先于 CPU 成为密度上限</a:t>
            </a:r>
            <a:endParaRPr lang="en-US" sz="98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5120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详见第 44、51 页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3474720"/>
            <a:ext cx="5486400" cy="1993392"/>
          </a:xfrm>
          <a:prstGeom prst="roundRect">
            <a:avLst>
              <a:gd name="adj" fmla="val 3670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356616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哪些开销是税，鲲鹏能做什么？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39502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市场的说法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39502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“CPU 不够”，所以要更多 CPU</a:t>
            </a:r>
            <a:endParaRPr lang="en-US" sz="98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4389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负载数据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438912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新税落在单核速度、内存容量和执行环境创建上：tokenize、推理调度、冷启动、状态驻留、向量检索</a:t>
            </a:r>
            <a:endParaRPr lang="en-US" sz="98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120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详见第 47–51 页与第六部分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市场说“CPU 不够”，负载数据说“CPU 平均用得很少，但关键路径上要快、内存先不够”——两者不矛盾，关键在超分配做多深和工具在哪里执行。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23620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数据来源与口径：市场的说法见前两页；负载数据的口径见各对应页的页脚（[56] TraceLab、[57] AgentSysBench、[R4] AgentCgroup、[R10] DSec 等）。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负载变了什么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时代负载的基本单位从“一次请求”变成“一个会话”；五类业务在 CPU 侧产生的税各不相同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Chatbot 时代 vs Agent 时代</a:t>
            </a:r>
            <a:endParaRPr lang="en-US" sz="10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49377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41732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Chatbot 时代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时代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工作单位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单次请求，秒级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会话，秒到数小时；生产编码会话中位只有 20% 的时间在执行 [57]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负载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prefill 与 decode 并重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超长前缀加缓存读、输出很短：每次调用 6.8 万输入对 247 输出 [R2]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基本无状态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KV 缓存、沙箱文件系统、向量库都要保留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角色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头节点，给 GPU 喂数据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跑沙箱、工具、编排、RL 环境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瓶颈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算力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随请求漂移：GPU、CPU、内存、网络都可能 [57]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0" y="1325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五类业务在 CPU 侧的特征与主要的税</a:t>
            </a:r>
            <a:endParaRPr lang="en-US" sz="1050" dirty="0"/>
          </a:p>
        </p:txBody>
      </p:sp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645920"/>
          <a:ext cx="5943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97180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业务场景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量化特征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主要的税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传统微服务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一次 Fetch 中位 498 个服务块 [03]；Google 95% 以上应用流量是 RPC [17]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网络栈与 RPC、序列化、压缩、拷贝、分配（第一至四部分）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化业务（搜索、推荐、客服 RAG）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调用图尾部多出 embedding、检索、rerank、模型调用，约多 3–8 个调用（推算）；RAG 检索占端到端 &lt;1%–86% [52]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网络栈与 RPC、序列化、向量检索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训练与后训练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仅加载数据就占训练节点最多 40% CPU [53]；RL 环境准备占每实例 rollout 19–29% [76]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拷贝与搬移、压缩、加密、冷启动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MaaS 推理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vLLM V0 的 CPU 调度接近迭代时间 50% [49]；CloudMatrix384 每 2 颗 NPU 配 1 颗鲲鹏 [44]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推理调度、tokenize、拷贝与搬移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编码 Agent 每请求 8.8 次模型调用 + 10.8 次工具调用，上下文约 12 万 token [56]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全部，尤其 tokenize、冷启动、状态驻留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4800600"/>
            <a:ext cx="11064240" cy="68580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训练、MaaS 推理、RAG 在本页带过（细节见 AI_Datacenter_Tax_Kunpeng.pptx 与整合文档）；Agent 把 CPU 放回端到端的关键路径，本部分后 11 页集中讲它。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559612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传统微服务照旧在跑；AI 化业务在调用图尾部多出模型调用；训练和推理的 CPU 侧税集中在 host；Agent 让会话、工具和状态成为新的主角。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数据来源与口径：左表综合 ~/AgenticAI《Agentic 时代的数据中心》、[57] AgentSysBench（35,037 个生产编码会话）、[R2] GitHub Copilot 生产 trace；右表取整合文档表 1-2：[03] Meta、[17] Google、[52] RAGO、[53] Meta 数据加载、[76] SWE-MiniSandbox、[49] vLLM、[44] CloudMatrix384、[56] TraceLab。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Agent 在哪里运行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不是一个程序：大脑在 GPU 集群，主循环和工具跟着产品形态走；工具在哪执行，决定 CPU 负载在不在数据中心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937760" cy="786384"/>
          </a:xfrm>
          <a:prstGeom prst="roundRect">
            <a:avLst>
              <a:gd name="adj" fmla="val 9302"/>
            </a:avLst>
          </a:prstGeom>
          <a:solidFill>
            <a:srgbClr val="F3E9F4"/>
          </a:solidFill>
          <a:ln w="12700">
            <a:solidFill>
              <a:srgbClr val="F3E9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大脑：模型推理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755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决定下一步做什么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481328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在哪里运行：几乎总在 AI 公司的 GPU 集群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4937760" cy="786384"/>
          </a:xfrm>
          <a:prstGeom prst="roundRect">
            <a:avLst>
              <a:gd name="adj" fmla="val 9302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主循环：harness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调用模型、解析工具调用、拼装上下文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377440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在哪里运行：跟着产品走：用户电脑或云端 VM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163824"/>
            <a:ext cx="4937760" cy="786384"/>
          </a:xfrm>
          <a:prstGeom prst="roundRect">
            <a:avLst>
              <a:gd name="adj" fmla="val 9302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227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手：沙箱与工具执行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3547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跑代码、跑测试、操作浏览器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327355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在哪里运行：用户电脑、云端 VM、沙箱平台或 POD 内 CPU 机柜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059936"/>
            <a:ext cx="4937760" cy="786384"/>
          </a:xfrm>
          <a:prstGeom prst="roundRect">
            <a:avLst>
              <a:gd name="adj" fmla="val 9302"/>
            </a:avLst>
          </a:prstGeom>
          <a:solidFill>
            <a:srgbClr val="EFF4EA"/>
          </a:solidFill>
          <a:ln w="12700">
            <a:solidFill>
              <a:srgbClr val="EFF4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4123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外部世界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44439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数据库、搜索、各种 API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4169664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在哪里运行：通用业务区或互联网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9560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主循环 → 大脑：一次模型调用；主循环 → 手：一次工具调用；手 → 外部世界：工具访问业务系统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1325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0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645920"/>
          <a:ext cx="5943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25880"/>
                <a:gridCol w="141732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大脑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主循环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手（工具执行）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 Claude Code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公司 GPU 集群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用户电脑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用户电脑（进程级沙箱）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Code 云端会话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公司 GPU 集群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服务商托管的隔离 VM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同一台 VM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Cloud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公司 GPU 集群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服务商基础设施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每个任务一个隔离容器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Manus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所调用模型厂商的 GPU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Manus 自己的后端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自托管的 E2B microVM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Muse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的模型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每用户一台专属云端 VM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同一台 VM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前沿实验室 RL 训练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实验室自己的 GPU 集群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训练框架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内 CPU 机柜或第三方沙箱云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网页问答里的搜索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集群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 服务器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共享的搜索与抓取服务（无沙箱）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669280" y="4590288"/>
            <a:ext cx="5943600" cy="96012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0" y="4590288"/>
            <a:ext cx="59436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760720" y="459028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三类工具：只有第三类落到数据中心的沙箱 CPU 上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5760720" y="4901184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服务端工具（搜索、抓取）由 AI 公司的共享服务执行；客户端工具（本地 pytest）由用户电脑执行；云端沙箱 Agent（Codex Cloud、Manus、Muse）由服务商分配的云端 VM 或 microVM 执行。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同一个编码 Agent，本地运行时工具负载在用户笔记本上，换成云端会话、RL rollout 或云开发机才进入数据中心——讨论 Agent 的 CPU 需求必须先说清是哪种形态。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23620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数据来源与口径：~/AgenticAI《Agentic 时代的数据中心：负载、CPU 部署与 agent 运行形态》（2026-10-08），依据各产品官方文档（Claude Code 云端会话与沙箱、Codex Cloud、E2B 的 Manus 案例、Meta Muse）；云端会话是否跑在 GPU 机房的 CPU 机柜上没有公开信息。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八类形态与份额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token 看，本地执行的 Agent 约占一半；按数据中心沙箱 CPU 看，排序几乎反过来——RL rollout 和云端任务沙箱才是主要消耗者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类 token 的份额（中情景估算，%）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00200"/>
          <a:ext cx="502920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343400"/>
            <a:ext cx="493776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4398264"/>
            <a:ext cx="4718304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 万亿 / 天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4807204"/>
            <a:ext cx="471830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OpenRouter 上 Agent 每天的 token（7 日均值，8 月）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5138483"/>
            <a:ext cx="4718304" cy="338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月 6 日首次超过人类；近七成是缓存读；9-21 前 20 个应用里本地执行工具的约占 82–86%（第三方平台，对全市场是上界）</a:t>
            </a:r>
            <a:endParaRPr lang="en-US" sz="82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1325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每类的工具执行位置与数据中心沙箱 CPU</a:t>
            </a:r>
            <a:endParaRPr lang="en-US" sz="105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645920"/>
          <a:ext cx="5943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417320"/>
                <a:gridCol w="1188720"/>
                <a:gridCol w="100584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工具在哪执行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生命周期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 CPU 排序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有生产数据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 训练 / 评测 rollout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专用沙箱集群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随训练步突发创建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DSec [R10]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云端任务沙箱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每任务一个容器或 microVM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分钟到小时，空闲后暂停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2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Copilot [R2]（与本地混合）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 每用户常驻机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每用户一台 VM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7×24 常驻，事件唤醒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3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Aries [R6]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 企业托管 / CI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客户云中的 microVM 或 runner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会话级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4（记在客户云）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A1 / A2 / A3 本地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用户设备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交互会话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约为 0（用户机器）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TraceLab [56]（只有推理侧）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服务端、无沙箱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远程 API（搜索、抓取）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单次请求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约为 0（CPU 在共享服务上）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AgentSysBench 搜索问答 [57]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669280" y="4864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类不在服务态统计内，按 token 约为服务态的 5–30%；按 GPU 算力看比按 token 看大得多。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559612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论文里“工具占会话时间 2–89%”是单个会话的时延口径，不能直接换算成数据中心的 CPU 需求：先看负载属于哪一类，再看这一类的沙箱能做到多高的密度。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数据来源与口径：份额来自团队表格《agent_分类与token占比估算》（2026-10-09）：按 12 个产品组的日均 token 推算，置信度低到中，不是统计数据；B 类边界取决于“带一两次搜索的对话”算不算 Agent。OpenRouter：Crypto Briefing 2026-08-10 原文为“7-day average”，与同期单日数据核对后判定为每天；应用榜见 openrouter.ai/apps [81]，偏开源模型与开发者。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CPU 部署三层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部署分三层：GPU 柜内的 1:2 是为了内存，柜外的独立 CPU 机柜才是 Agent 带来的增量；而每个沙箱实测平均只用约 0.1 核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26464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GPU 柜内：1:2 是为了内存，不是为了 Agent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719072"/>
            <a:ext cx="46268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GB200、GB300、Vera Rubin NVL72 都是 36 颗 CPU 配 72 颗 GPU。NVLink-C2C 900 GB/s 且内存一致，GPU 把 CPU 内存当扩展显存；每颗 GPU 摊到的 CPU 内存与 DGX H100 差不多（约 240–256 GB）。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798064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柜外：独立 CPU 机柜是 Agent 带来的增量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090672"/>
            <a:ext cx="46268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Vera Rubin POD 的 Vera CPU 机柜：256 颗 Vera、超过 22,500 核、400 TB 内存，跑 Agent 沙箱与 RL 环境；CoreWeave 版 11,264 核；Arm AGI CPU 液冷柜超过 45,000 核。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4169664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通用机群与用户本地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4462272"/>
            <a:ext cx="46268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网关、数据库、搜索因工具调用而扩容；本地 Claude Code 的工具负载在用户笔记本上，换成云端会话才进数据中心。多数 Agent 沙箱今天仍跑在普通 x86 云主机或裸金属上。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1371600"/>
            <a:ext cx="6035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15" name="Image 0" descr="/home/fanzhenhao/RPC_PAPERS/ppt/figs/dsec_fig5_sparse_ut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0439" y="1444752"/>
            <a:ext cx="3429841" cy="164592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669280" y="314553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DSec 生产：约 90% 的容器和 microVM 沙箱平均 CPU 不超过申请量的 5%（[R10] Fig. 5）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5577840" y="35661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每个沙箱占多少</a:t>
            </a:r>
            <a:endParaRPr lang="en-US" sz="105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3840480"/>
          <a:ext cx="6035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83080"/>
                <a:gridCol w="169164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每沙箱 CPU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每沙箱内存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性质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AgentCgroup [R4]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 0.08–0.13 核，突发超过 1 核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基线约 185 MB，峰值 2–4 GB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单机实测，不限资源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DSec [R10]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0.08 核（3 万核 ÷ 38 万并发）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0.66 GB（250 TB ÷ 38 万）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生产，超分配后折算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Code 云环境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vCPU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 GB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单会话配额上限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Vera CPU 机柜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 核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18 GB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厂商规格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CPU:GPU 走向 1:1 的说法（第 38 页）对超分配假设极敏感：按 DSec 的生产密度和按厂商规格算，每个环境的 CPU 差一个数量级。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23620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数据来源与口径：三层与 NVIDIA、CoreWeave、Arm 规格转引自 ~/AgenticAI《Agentic 时代的数据中心》（厂商与分析机构数字，未逐项核实）；CPU:GPU 预测为 TrendForce（利益相关方）；[R10] DSec arXiv 2609.22978（DeepSeek，一个生产单元约 160 节点）；[R4] AgentCgroup arXiv 2602.09345（SWE-rebench 144 个任务）；Claude Code 配额来自官方文档。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一次 Agent 请求的一生（业务特征）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 Agent 请求的一生（和第 14 页同一画法）：每一步多跨了模型、执行环境、时间三条新边界；平均调 8.8 次模型、10.8 次工具，每次把十几万 token 整段重发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874520" cy="530352"/>
          </a:xfrm>
          <a:prstGeom prst="chevron">
            <a:avLst/>
          </a:prstGeom>
          <a:solidFill>
            <a:srgbClr val="EEF2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325880"/>
            <a:ext cx="1472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harness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拼上下文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386584" y="1325880"/>
            <a:ext cx="1874520" cy="530352"/>
          </a:xfrm>
          <a:prstGeom prst="chevron">
            <a:avLst/>
          </a:prstGeom>
          <a:solidFill>
            <a:srgbClr val="F3E9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87752" y="1325880"/>
            <a:ext cx="1472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调模型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 · 调度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224528" y="1325880"/>
            <a:ext cx="1874520" cy="530352"/>
          </a:xfrm>
          <a:prstGeom prst="chevron">
            <a:avLst/>
          </a:prstGeom>
          <a:solidFill>
            <a:srgbClr val="F3E9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25696" y="1325880"/>
            <a:ext cx="1472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执行工具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建沙箱 · 执行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062472" y="1325880"/>
            <a:ext cx="1874520" cy="530352"/>
          </a:xfrm>
          <a:prstGeom prst="chevron">
            <a:avLst/>
          </a:prstGeom>
          <a:solidFill>
            <a:srgbClr val="EEF2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325880"/>
            <a:ext cx="1472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下一步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结果塞回上下文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900416" y="1325880"/>
            <a:ext cx="1874520" cy="530352"/>
          </a:xfrm>
          <a:prstGeom prst="chevron">
            <a:avLst/>
          </a:prstGeom>
          <a:solidFill>
            <a:srgbClr val="F3E9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01584" y="1325880"/>
            <a:ext cx="1472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步与步之间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状态一直留着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738360" y="1325880"/>
            <a:ext cx="1874520" cy="530352"/>
          </a:xfrm>
          <a:prstGeom prst="chevron">
            <a:avLst/>
          </a:prstGeom>
          <a:solidFill>
            <a:srgbClr val="D9EF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39528" y="1325880"/>
            <a:ext cx="1472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旁路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· 日志</a:t>
            </a:r>
            <a:endParaRPr lang="en-US" sz="88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1883664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底色：紫 = AI 新增的三条边界（模型、执行环境、时间）　绿 = 存储边界　灰 = 进程内；②→④ 每请求循环约 9–11 轮</a:t>
            </a:r>
            <a:endParaRPr lang="en-US" sz="83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39696"/>
          <a:ext cx="70866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868680"/>
                <a:gridCol w="2331720"/>
                <a:gridCol w="256032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跨哪条边界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做了哪些操作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实测量级（口径）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harness 拼上下文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进程内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维护 JSON 消息数组，把上一步结果追加进去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每步中位 11.9 万 token 是命中缓存的前缀，新增约 875 个（新内容约 0.8%，token 加权）[56]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调模型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模型（+ 服务）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整段上下文 HTTP+JSON 序列化 → 网关 → tokenize → 前缀块哈希 → 调度 → GPU → 每 token 一条流式小消息 → JSON 解析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每请求平均 8.8 次 [56]；前缀缓存命中 95.7% [56]；tokenize 每次调用核时 2.3–228 ms，取决于用哪个库 [68]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执行工具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执行环境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MCP JSON-RPC 或本地命令 → 建沙箱或复用 → 执行（进程、文件、网络）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每请求平均 10.8 次 [56]；Codex 每条命令之外的开销均值 1.26 s（中位 0.16 s），比命令本身 0.66 s 还长 [56]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进入下一步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进程内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把工具结果塞回上下文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上下文每步变长，所以②的单价每步上涨（第 49 页）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步与步之间、等人时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KV 缓存、沙箱内存、会话状态一直占着内存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生产编码会话中位只有 20% 的时间在执行 [57]；每个沙箱平均约 0.1 核（第 44 页）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旁路：检索、日志、遥测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向量扫描、日志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 检索占端到端 &lt;1%–86% [52]；编码 Agent 几乎不用</a:t>
                      </a:r>
                      <a:endParaRPr lang="en-US" sz="79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772400" y="2139696"/>
            <a:ext cx="38404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20" name="Image 0" descr="/home/fanzhenhao/RPC_PAPERS/ppt/figs/asb_fig4_time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2" y="2369780"/>
            <a:ext cx="3694176" cy="110345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863840" y="3685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AgentSysBench 10 个应用的时间分解：多数以 LLM 为主，GUI、PiAR 以沙箱为主，RAG 以向量库为主（[57] Fig. 4）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7772400" y="4069080"/>
            <a:ext cx="3840480" cy="1572768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3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生产：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3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1,300 万会话、7.61 亿次 LLM 调用；87% 由 Agent 发起，模型与工具调用约 1:1；每次 6.8 万输入 token 对 247 输出 [R2]。</a:t>
            </a:r>
            <a:endParaRPr lang="en-US" sz="83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3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工具时长重尾：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3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 166 ms、均值 16.7 s [R2]；超过 1 分钟的调用只占 4.9%，却贡献 92% 的工具时间 [56]。</a:t>
            </a:r>
            <a:endParaRPr lang="en-US" sz="83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83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工具时间占比随口径从 2% 到 89%：</a:t>
            </a:r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3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TraceLab 请求内 59.8%；Copilot 只占会话墙钟 4.7%；检索、化学工具类可到 80% 以上 [56][R2][L3]。</a:t>
            </a:r>
            <a:endParaRPr lang="en-US" sz="830" dirty="0"/>
          </a:p>
        </p:txBody>
      </p:sp>
      <p:sp>
        <p:nvSpPr>
          <p:cNvPr id="23" name="Shape 19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和传统请求比有三处不同：调模型的单价随上下文变长而上涨；工具要先建执行环境；两步之间状态一直占着内存——正好对应三个专题。“瓶颈在模型还是工具”取决于负载类型和统计口径。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19963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数据来源与口径：[56] TraceLab arXiv 2606.30560（Claude Code、Codex 真实使用，43 位开发者 8 个月、4,265 个会话）；[57] AgentSysBench arXiv 2608.15127（10 个应用 + 阿里生产 trace，35,037 个会话）；[68] TokTier（117K token 上下文）；[R2] GitHub Copilot 生产 trace arXiv 2608.00101；[52] RAGO；[L3] CPU-Centric arXiv 2511.00739。均值与中位已分开标注。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 负载特征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负载特征：Agent 对 CPU 的需求是平均低、突发高；先撞墙的是内存容量、突发核数、隔离和沙箱启动，不是峰值算力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99516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4206240"/>
                <a:gridCol w="9144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关键数字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关键路径上的串行时延：单线程重新重要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工具步骤串行，Python 受 GIL 限制；GPU 越快 CPU 占比越高：换到 GH200 后 SWE-Agent 的 Bash / Python 从 25–38% 升到最高 65% [L3]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核数按突发供给，不按平均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编码 Agent 平均只用 7.6–22% 个核，突发持续 1–2 s [R4][R5]；工具容器 2→8 核，HotpotQA 时延降 13.0×、web search 只降 1.04× [R5]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每实例内存容量先于 CPU 成为密度瓶颈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峰值 2–4 GB、峰均比 15.4×；128 GB 只能放 32–64 个实例，而 CPU 利用率不到 36%（“memory, not CPU”）[R4]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共享资源干扰与隔离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 128 核池比各绑 16 核慢 1.22× [57]；SMT 兄弟线程混部 +45.2%，开 core scheduling 后 +17.3% [R10]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中（LLC、带宽缺归因）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存储 I/O 与沙箱生命周期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容器与 Agent 初始化占任务 31–48%，镜像中位 3.5 GB [R4]；磁盘写 200 MB/s 已到上限 [R5]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能耗：CPU 不可忽略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动态能耗最高 61% [L3]；SWE-bench 编码中 CPU 占系统功率 23.7%，只看 GPU 会漏掉 41–45% [R7]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中（依平台）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⑦ 编排与控制面：单项小、每轮都有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harness 编排最多占端到端 9% [R6]；Claude Code 的 Node.js 框架基线约 185 MB [R4]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325880"/>
            <a:ext cx="38862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7" name="Image 0" descr="/home/fanzhenhao/RPC_PAPERS/ppt/figs/acg_fig5_resource_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2" y="1514946"/>
            <a:ext cx="3739896" cy="241993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818120" y="410565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AgentCgroup：一个任务的 CPU 与内存时间序列，内存随工具调用尖峰式跳动（[R4] Fig. 5）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7726680" y="45262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形状是“长时间空闲 + 秒级尖峰”：按平均配会被节流，按峰值配大部分时间闲置；可行的是深度超分配，再用调度隔离保护延迟敏感任务 [R10]。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559612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每核内存带宽、PCIe 代际、机密计算的性能代价，14 篇论文都没有直接测过——是假设，不是结论；微架构计数器（IPC、MPKI、前端停顿）的刻画也完全空白。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数据来源与口径：七类需求与证据强度取自 ~/AgenticAI《Agentic AI Workload 特征分析》“CPU 视角”一章（14 篇论文）；关键数字已对照原文：[R4] AgentCgroup、[R10] DSec、[L3] CPU-Centric、[R7] arXiv 2609.29707、[57] AgentSysBench；[R5] arXiv 2609.19947、[R6] Aries arXiv 2607.29069 转引自该报告。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5.7 Agent 时代的矩阵（一）：老的行、新的格子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矩阵多了三列（一）：公式不变，只是多了三条边界；七个老税没有消失，而是在新的列上长出了新格子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 ≈ Σ 边界 [ 跨越次数 × 每次单价 × 形态系数 ]　——　传统的服务、存储、进程 / 内核三列照旧，再加三条边界：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模型边界：调用次数 × ( tokenize(L) + JSON(L) + 块哈希(L) + 调度 )　　　执行环境边界：创建次数 × 冷启动 × 隔离形态系数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时间边界：容量 × 驻留时间（内存 × 时间）＋ 搬移字节 × 每字节成本　　　检索（存储边界的新形态）：查询次数 × 扫描字节 ÷ 内存带宽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整段上下文长度：只有模型边界的单价随会话变长而上涨，这是和传统 RPC 最大的不同</a:t>
            </a:r>
            <a:endParaRPr lang="en-US" sz="105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697480"/>
                <a:gridCol w="3657600"/>
                <a:gridCol w="32918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老的行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传统：在哪一列、多大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新的格子：落在哪条新边界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新格子的量级或特征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通信（网络栈与 RPC 库）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服务列专属：TCP 栈 1.7% + RPC 库 1.1%（Google fleet）[02]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 / 服务边界：编排层多出一层更贵的调用——HTTP+JSON、每 token 一条的流式小消息、MCP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生产链式 LLM 应用 30–50% 的延迟在模型引擎之外 [66]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 / 解析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整行 9.6%，约八分之一在服务列，主体是拷贝 [25][02]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模型与执行环境边界：JSON 以 Agent 消息和 MCP 的形式回来，主体变成“解析后建对象”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编码 Agent 每请求约 8.4 MB JSON 编解码（推算）；按字节 tokenize 比 JSON 贵 100–2,000 倍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拷贝与搬移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4–5%，多数 &lt;512 B [01][20]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时间边界：要搬的从 KB 级载荷变成 GB 级 KV 缓存、快照、checkpoint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8K 提示词的 KV 约 2.5 GB（Llama-3-70B，推算）；生产系统一律绕过 CPU 核 [44][45]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整行 2.9%，一半由文件格式库发起 [34]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时间与执行环境边界：快照、空闲内存（zswap）、checkpoint；浮点张量直接压几乎无效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IAA 压快照 2–4.5×、恢复快 25–55% [89]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内存分配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4.3%，不建议硬件化 [35]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模型边界（推理 host）：地址空间碎片化、TLB 与页表遍历变贵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受干扰时页表遍历占末级缓存停顿 85% [58]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哈希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1–2%（2015）[01]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模型边界：前缀缓存的块哈希与内容寻址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每请求约 4 ms 核时，随上下文长度增长（推算）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服务列 &lt;0.2%（连接复用）[02]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执行环境边界：机密虚拟机把代价从 CPU 周期转到内存容量和 VM 退出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 VM 去重失效，内存多占 9–147%（x86 实测）[97]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读法：老的行在新列上长出新格子，所以吃整行的贴核方案在 AI 时代覆盖面变大——KAE 压缩多了快照与 zswap 两格（第 58 页）；网卡 / UB 在新列里只找到 KV 搬移这一格（第 60 页）。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19963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数据来源与口径：扩展式与表格取自整合文档 INSIGHT_DATACENTER_TAX_AI_ERA.md 1.1、1.3 节，按 v3 的矩阵重排；“推算”为该文档的显式估算；[66] Parrot OSDI'24；[44] CloudMatrix384；[45] Mooncake FAST'25；[58] Blink；[89][97] 闭门会文档语料（Intel IAA 快照、x86 机密虚拟机实测）。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5.8 Agent 时代的矩阵（二）：新列的专属行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矩阵多了三列（二）：新列带来的专属行，即五个新税——tokenize、推理调度属于模型列，冷启动属于执行环境列，状态驻留属于时间列，向量检索是存储列的新形态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2423160"/>
                <a:gridCol w="2240280"/>
                <a:gridCol w="237744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新税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业务特征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负载特征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量级（口径）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tokenize（模型列）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每次调用模型前，把整段上下文重新切成 token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编码 Agent 每请求 8.8 次调用、每次约 12 万 token，新内容约 0.8% [56]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单核串行：正则预分词加哈希随机查表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每次调用的核时：HuggingFace 228 ms、Rust 13.4 ms、增量 2.3 ms [68]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强；差别取决于用哪个库（17×）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推理调度（模型列）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 decode step 的组批、launch、同步、采样、detokenize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MaaS 推理每一步都做；CPU 欠配普遍 [69]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单线程、Python 与 C++ 混合，对单核、TLB 和共置干扰敏感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vLLM V0 接近迭代时间 50% [49]；CPU 配少时首 token 慢 1.47–7.11× [69]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强；正被“绕过 CPU”削减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冷启动（执行环境列）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从零建出进程、解释器、容器、microVM 的固定开销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编码任务初始化占 31–48% [R4]；RL 环境准备占 rollout 19–29% [76]；本地 Agent 接近零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建页表、清零、动态链接、解释器初始化，冷的分支预测和 TLB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每条命令之外的开销均值 1.26 s（中位 0.16 s），比命令本身 0.66 s 还长 [56]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中；云端与 RL 有实测，fleet 占比未知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状态驻留（时间列）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会话活着但空闲时，KV、沙箱内存和会话状态一直占着内存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会话中位 20% 时间在执行；沙箱工作集中位 0.8 GB、峰值 28 GB [57]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单位是 GB × 时间，不是 CPU 周期；内存峰均比 15.4× [R4]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192 核、1.5 TB：按内存峰值只能放约 510 个沙箱，按 CPU 约 1,340 个（推算）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强；生产会话实测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向量检索（存储列的新形态）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在百万到十亿个向量里找最近邻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 检索占端到端 &lt;1%–86% [52]；编码 Agent 几乎不用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内存带宽型：PQ 扫描每核 18 GB/s，用到约 80% 带宽 [52]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随场景从 &lt;1% 到 86% [52]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强；带宽型结论稳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59612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读法：老的行（第 47 页）可以用贴核的加速器吃整行；新列的专属行大多不适合做专用加速器，要靠通用核的单核速度、内存系统和软件（第六部分）。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53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数据来源与口径：五个新税的定义与数字取自整合文档表 1-1 第二部分：[68] TokTier arXiv 2607.29678（表 8，117K token 上下文，核时）；[49] NanoFlow / WukLab；[69] arXiv 2603.22774；[R4] AgentCgroup；[76] SWE-MiniSandbox（表 2、表 4）；[57] AgentSysBench；[52] RAGO ISCA'25；密度算式见第 51 页。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5.9 专题一 · 每轮全量重处理 · 对应模型列（单价随 L 上涨）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专题一：前缀缓存让 GPU 只算新增内容，CPU 这边却每次都把整段上下文重新 JSON、tokenize、哈希一遍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7490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tracelab_fig1_prefix_app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950" y="1399032"/>
            <a:ext cx="2928421" cy="2240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6941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TraceLab：每步的前缀 token（横轴）远大于追加 token（纵轴）（[56] Fig. 1）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48640" y="4114800"/>
            <a:ext cx="374904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9" name="Image 1" descr="/home/fanzhenhao/RPC_PAPERS/ppt/figs/asb_fig21_context_grow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66" y="4187952"/>
            <a:ext cx="3241789" cy="10241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2669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一个生产会话的上下文随步数增长，工具输出占大头（[57] Fig. 21）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4480560" y="1325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每次调用（约 12 万 token、480 KB）的 CPU 账</a:t>
            </a:r>
            <a:endParaRPr lang="en-US" sz="10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645920"/>
          <a:ext cx="71323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  <a:gridCol w="17373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今天（常见实现）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做成增量以后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228 ms（HuggingFace）；13.4 ms（Rust 实现）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 ms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核时，[68] 表 8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JSON 编解码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10 ms（Python 标准库；每请求约 8.4 MB）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0.2 ms（simdjson 类）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推算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块哈希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4 ms（16 token 一块，约 7,500 块）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只算新增的块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推算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242 ms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3 ms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推算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4480560" y="352044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590288" y="3575304"/>
            <a:ext cx="3255264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121–1,210 个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590288" y="3984244"/>
            <a:ext cx="325526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今天：每 1,000 张加速卡需要的前端核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4590288" y="4315524"/>
            <a:ext cx="3255264" cy="338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每卡每秒 0.5–5 个请求（推算）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8138160" y="352044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247888" y="3575304"/>
            <a:ext cx="3255264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1.5–15 个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247888" y="3984244"/>
            <a:ext cx="3255264" cy="294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三项都做成增量以后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8247888" y="4315524"/>
            <a:ext cx="3255264" cy="338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块哈希没做成增量时是 3–33 个（推算）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4480560" y="4846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注：“前缀命中率 0.99 时 tokenize 占首 token 延迟 64%”只见于 TokTier 的摘要和引言，正文没有给出扫描设置，引用时要注明 [68]。</a:t>
            </a:r>
            <a:endParaRPr lang="en-US" sz="880" dirty="0"/>
          </a:p>
        </p:txBody>
      </p:sp>
      <p:sp>
        <p:nvSpPr>
          <p:cNvPr id="22" name="Shape 17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三项的根因相同：成本与整段上下文长度成正比，而不是与新增内容成正比。软件方向统一——做成增量；最彻底的是服务端保存会话、客户端只发新增（OpenAI Responses API 已这样做）。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23620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数据来源与口径：[56] TraceLab；[57] AgentSysBench；[68] TokTier arXiv 2607.29678 v3（表 8 为 117K token 上下文的核时）；JSON、块哈希与前端核数为整合文档 4.3 节的推算（每卡每秒请求数为假设）。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5.10 专题二 · 冷启动与隔离形态系数 · 对应执行环境列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专题二：同样的工具负载，隔离方式不同，创建和系统调用的代价可差两个数量级——这是“部署形态系数”在 Agent 时代的对应物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040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08760"/>
                <a:gridCol w="1828800"/>
                <a:gridCol w="1097280"/>
                <a:gridCol w="7772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隔离形态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创建一个环境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运行时的系统调用与 I/O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出处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进程级限制（bubblewrap、seccomp、Seatbelt）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接近零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1×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无额外开销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[74]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容器（runc）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几十 ms（Daytona 27–90 ms）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比裸机慢约 32%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共享宿主内核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[64][81]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gVisor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几十到上百 ms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简单系统调用慢 2.2× 以上；外部 tmpfs 上开关文件慢 216×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用户态内核的额外占用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[64]（2019 微基准）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裸金属 microVM（Firecracker、CubeSandbox）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125 ms 内到应用代码；CubeSandbox &lt;60 ms（厂商自报）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真内核，接近原生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每台额外 &lt;5 MB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[51][106]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云主机里嵌套（PVM）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与单层接近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每次系统调用多约 210 ns；硬件嵌套高并发下会崩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影子页表开销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[92][93]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机密虚拟机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启动慢 102–394%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 VM 退出的指令贵 240–472%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 VM 去重失效，多占 9–147%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[97][109]（x86）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325880"/>
            <a:ext cx="3886200" cy="416052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26680" y="1325880"/>
            <a:ext cx="38862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18120" y="132588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冷启动的实测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1673352"/>
            <a:ext cx="3703320" cy="375818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编码任务：容器与 Agent 初始化占任务生命周期 31–48%；镜像中位 3.5 GB，是典型微服务镜像的 7 倍、serverless 的 70 倍 [R4]。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训练：容器方案的环境准备占每实例 rollout 19–29%（64–256 个并行环境），进程级隔离降到 8–9% [76]。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Codex：每条命令之外的开销平均 1.26 s（中位 0.16 s），比命令本身的 0.66 s 还长 [56]。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DSec 生产：每秒创建 5,000 个以上；镜像运行时只读 4.2–13.3%；8,192 个容器突发创建时，完整拉取比按需加载慢 1.71× [R10]。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Agent 用进程级沙箱，这一项接近零。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8006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对照第二部分：RPC 时代的形态系数放大每次 RPC 的 CPU（library 1.36× → sidecar 2.7–3.7×）；Agent 时代的隔离形态系数放大每次创建和每次系统调用。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548640" y="5596128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561441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选哪种隔离由信任边界决定，同样不是由性能决定：云端要跑任意代码，所以冷启动税在云端会长期存在；能做的是让创建、快照和恢复更便宜。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数据来源与口径：隔离形态表取自整合文档表 1-4（[74] 进程级沙箱；[64] gVisor 与 REAP，2019 微基准；[51] Firecracker NSDI'20；[106] CubeSandbox 厂商自报；[92][93] PVM 与 ParaCell；[97][109] x86 TDX、SEV-SNP）；[R4] AgentCgroup；[76] SWE-MiniSandbox；[56] TraceLab；[R10] DSec。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5.11 专题三 · 状态驻留 · 对应时间列（内存 × 时间）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专题三：会话中位只有 20% 的时间在执行，其余时间 KV 缓存和沙箱内存一直占着——内存容量比 CPU 先成为沙箱密度的上限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7607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pic>
        <p:nvPicPr>
          <p:cNvPr id="6" name="Image 0" descr="/home/fanzhenhao/RPC_PAPERS/ppt/figs/asb_fig20_idle_but_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42492"/>
            <a:ext cx="5614416" cy="12961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23697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35,037 个生产编码会话：活跃计算时间占生命周期的中位 20%；空闲间隔从秒到小时（[57] Fig. 20）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3712464"/>
            <a:ext cx="1655064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59.4%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4121404"/>
            <a:ext cx="1655064" cy="278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会话至少遇到一次缓存驱逐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4436809"/>
            <a:ext cx="1655064" cy="949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重算约占总费用 31.5%（5 分钟 TTL）[57]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496312" y="3657600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06040" y="3712464"/>
            <a:ext cx="16550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243 / 172 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2606040" y="4089654"/>
            <a:ext cx="1655064" cy="429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跨回合空闲中位：容器 / KV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2606040" y="4555871"/>
            <a:ext cx="1655064" cy="829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回合内只有 5.8 s，太短，不值得挂起 [R2]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443984" y="3657600"/>
            <a:ext cx="1865376" cy="1783080"/>
          </a:xfrm>
          <a:prstGeom prst="roundRect">
            <a:avLst>
              <a:gd name="adj" fmla="val 410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3712" y="3712464"/>
            <a:ext cx="16459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 / 28 GB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553712" y="4089654"/>
            <a:ext cx="1645920" cy="429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沙箱工作集：中位 / 单会话峰值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553712" y="4555871"/>
            <a:ext cx="1645920" cy="829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AgentSysBench 生产与受控实验 [57]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1325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密度算式：192 核、1.5 TB 的一台机器能放多少沙箱（推算）</a:t>
            </a:r>
            <a:endParaRPr lang="en-US" sz="10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400800" y="1600200"/>
          <a:ext cx="53035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6492240" y="3767328"/>
            <a:ext cx="5120640" cy="1691640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不超卖时，内存是第一个上限（约 510 个）；超卖做到约 2.6 倍，CPU 才成为上限；再往上，只有把空闲沙箱暂停、压缩或挪走才能继续增加。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DSec 生产：共享宿主页缓存让峰值内存降 40.2%，回收空闲页让按时间积分的内存降 21.2% [R10]。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KAE 压缩（zswap、快照）和 UB 远端内存决定超卖能推多远（第 58、59 页）。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48640" y="5596128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5800" y="561441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状态驻留税的单位是“GB × 时间”，不是 CPU 周期；按 fleet 周期做的剖析量不出它，要用“每兆瓦能跑多少沙箱”这样的综合指标。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数据来源与口径：[57] AgentSysBench §7.1 与 Fig. 6、Fig. 20（35,037 个会话、24 小时）；[R2] Copilot 空闲时间表；[R10] DSec；密度算式为整合文档 3.4 节推算，资源画像只来自一篇论文（[R4] AgentCgroup：单机、单框架、不限资源）。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第五部分小结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第五部分小结：同一张表多了三列和一种货币——Agent 负载的六条洞察，以及哪些传统结论要改口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62456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工作单位是会话，大部分时间在等人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生产编码会话中位只有 20% 的时间在执行；人的思考占会话时间 92.3%。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066544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每次调用都整段重处理（模型列的单价随 L 上涨）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331720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tokenize、JSON、块哈希的 CPU 成本与上下文长度成正比，新内容不到 1%。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734056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770632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瓶颈在模型还是工具，取决于负载和口径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035808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工具时间占比 2–89%；不能把单会话时延直接换算成数据中心 CPU。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474720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CPU 需求平均低、突发高，先撞内存容量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73989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每个沙箱平均约 0.1 核，内存峰均比 15.4×。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142232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4178808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 数据中心的沙箱 CPU 来自 rollout 和云端沙箱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4443984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token，本地执行约占一半，但几乎不进数据中心。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882896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 新税多数不适合做专用加速器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148072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靠单核速度、内存系统和软件增量化。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13258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哪些传统结论要改口</a:t>
            </a:r>
            <a:endParaRPr lang="en-US" sz="105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645920"/>
          <a:ext cx="5760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传统结论（第一、二部分）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时代的修正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传统微服务的内存带宽有富余（利用率中位 10%）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仍成立，但只适用于传统微服务；Agent 先撞内存容量，向量检索是带宽型，每核带宽是否成瓶颈待测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fleet 里省 CPU 比省 µs 重要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 token 关键路径上的 tokenize 和调度是串行单核，单核速度和时延重新排到前面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只有跨应用的税值得硬件化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仍成立；但新税多数不适合专用加速器，要靠通用核、内存系统和软件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部署形态系数：library → sidecar → serverless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对应物是隔离形态系数：进程级 → 容器 → gVisor → microVM → 机密虚拟机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SMT 有吞吐空间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生产测得兄弟线程混部的尾延迟代价 +45.2%（core scheduling 后 +17.3%）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 fleet 周期剖析衡量税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量不出“加速卡空转”和“内存被占着”，需要“每千卡前端核数”“每兆瓦沙箱数”两个综合指标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骨架：服务、存储、进程 / 内核三列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同一张表多了模型、执行环境、时间三列和“内存 × 时间”这种货币；只有模型列的单价随上下文长度上涨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一句话：Agent 把 CPU 放回关键路径，但它要的不是更多的峰值算力，而是更快的单核、更大更便宜的内存、更便宜的执行环境——第六部分按这三点规划。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数据来源与口径：各条的数字与口径见第 45–51 页页脚；修正一栏对应第 11、20 页的传统结论。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规划：按矩阵把发力点落到硅上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落地规则：行 → 核内指令与 KAE；列 → UB 与 DPA；次数与系数 → 软件与协作团队；内存 × 时间 → 内存系统；流水线 → 核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总图（税 × 硅）→ 核 → 核内指令与系统库 → KAE 与 DPA → 内存系统 → UB → 协作项 → 优先级 → 950 待测清单（矩阵的空格）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方法与对照系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方法：按矩阵把发力点落到硅上——行交给核内指令与 KAE，列交给 UB 与 DPA，次数和系数交给软件与协作团队；每条分 950 软件与 960 硬件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846320" cy="429768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48463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方法与边界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73352"/>
            <a:ext cx="4663440" cy="389534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落地规则：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行（通用操作）→ 核内指令、系统库与 KAE；列（服务边界的通信、KV 搬移）→ UB 与 DPA；次数和系数 → 950 软件与协作团队；内存 × 时间 → 内存系统；流水线 → 核。同一个硬件常服务好几行（如 KAE 服务压缩、加密和状态驻留），按硅写一次。</a:t>
            </a:r>
            <a:endParaRPr lang="en-US" sz="94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两半：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“950 现在做”是软件、配置、生态和测量；“960 硬件”是软件做完以后仍然剩下、需要核、SoC、加速器或互连解决的部分。</a:t>
            </a:r>
            <a:endParaRPr lang="en-US" sz="94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只有标“基础加速”的是本团队的工作；海思、欧拉、UB、沙箱、推理框架等团队的事写成协作项，本团队提供分析和 950 上的测量。</a:t>
            </a:r>
            <a:endParaRPr lang="en-US" sz="94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 核 192 线程与 192 核 384 线程两款；256 位 SVE2（带 BitPerm、SVE-AES、SHA3、SM4、I8MM、BF16），没有 SVE2.1、MOPS、CSSC；每核 L2 1 MB，两个 SMT 线程共用；支持 MPAM。</a:t>
            </a:r>
            <a:endParaRPr lang="en-US" sz="94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960：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 年，96 核高单核款与 256 核以上高密度款。920 即将停止服务，只作历史经验引用。</a:t>
            </a:r>
            <a:endParaRPr lang="en-US" sz="94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缺的数据：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内部微架构参数、KAE 小粒度时延、UB 小消息 Mops 都没有，汇总在第 63 页的待测清单。</a:t>
            </a:r>
            <a:endParaRPr lang="en-US" sz="94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94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与市场信号的关系：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4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CPU:GPU 比例的说法与厂商业绩见第 38–39 页；这里的规划依据第五部分的负载数据，不依赖这些叙事。</a:t>
            </a:r>
            <a:endParaRPr lang="en-US" sz="94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13258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对照系：Intel 片上加速器、NVIDIA 的 Agent 平台 vs 鲲鹏</a:t>
            </a:r>
            <a:endParaRPr lang="en-US" sz="105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645920"/>
          <a:ext cx="60350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00200"/>
                <a:gridCol w="1691640"/>
                <a:gridCol w="14173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参照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做什么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鲲鹏对应物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DSA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拷贝 / 搬移、填充、CRC、比较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片上 DPA（数据搬移加速器）〔内部口径〕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对应；软件接口与小段提交延迟待测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IAA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 / 解压 + 内存分析（扫描、过滤）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ZIP 覆盖压缩；内存分析无对应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压缩有；分析空白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QAT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 + 压缩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SEC / HPRE / ZIP（片上共享，免许可）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已覆盖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DLB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核间硬件队列与负载均衡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NI 侧有 UB Jetty Group；核侧无对应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核侧空白（ARM 阵营共有）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序列化加速器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编解码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没有任何厂商量产；文献原型 ProtoAcc、Cerebros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Vera CPU 机柜 + BlueField-4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沙箱与 RL 环境的独立 CPU 机柜；DPU 管 KV 存放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鲲鹏 + UB 内存池 + KAE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时代的直接参照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一个坐标系：压缩和加密（KAE）已有，搬移（DPA）的软件接口待打通；序列化和核侧队列是空白；Agent 时代的参照是 NVIDIA 的独立 CPU 机柜。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数据来源与口径：Intel 加速器：Sapphire Rapids 公开资料；鲲鹏：KAE 仓库（gitcode.com/boostkit/KAE）、openEuler UADK 文档、华为 HC2025〔公开〕；DPA 为内部口径（2026-09-29）；950 指令集见笔记 [83]；NVIDIA 规格转引自 ~/AgenticAI 文档。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总图 · 税 × 硅（● 主要落点，○ 次要）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总图：按矩阵把税分四组——通用操作的红格落在核内指令与 KAE（吃整行），通信落在 UB，AI 新税落在单核、内存和执行环境创建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1188720"/>
                <a:gridCol w="1005840"/>
                <a:gridCol w="914400"/>
                <a:gridCol w="1005840"/>
                <a:gridCol w="960120"/>
                <a:gridCol w="1234440"/>
                <a:gridCol w="21031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 / 特征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核：前端与单核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核内指令与系统库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DPA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内存系统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协作：内核与虚拟化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量级（口径见附录 B）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92024">
                <a:tc gridSpan="9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通用操作（矩阵的行，每条边界都会用）：贴核的方案吃整行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 / 解析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SVE2 文本库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SG 落 UB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整行 9.6%；Agent JSON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4 KB 粒度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zswap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整行 2.9%；快照、空闲内存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拷贝与搬移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MOPS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小段 + SG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KV 直传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快照脏页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4–5%；GB 级 KV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内存分配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TLB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分配器 + 大页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大页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4.3%；推理 host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哈希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SHA、增量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1–2%；每请求约 4 ms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网关、快照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机密 VM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&lt;0.2%；机密化 +9–147% 内存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 gridSpan="9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边界专属操作：服务列的通信，以及模型、执行环境、存储列的新税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通信（服务列）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唤醒切换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网关 TLS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拷贝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RPC 感知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内核网络栈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2.8%；RPC 税见第 21 页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tokenize（模型列）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单核、L1/L2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增量库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MPAM 隔离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 2.3–228 ms 核时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推理调度（模型列）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单核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TLB、MPAM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CPU→NPU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V0 接近迭代 50%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冷启动（执行环境列）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前端、睿频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用户态 spawn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页表、清零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初始化 31–48%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向量检索（存储列）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带宽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索引溢出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&lt;1%–86%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 gridSpan="9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第四种货币：内存 × 时间（时间列）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状态驻留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zswap、快照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脏页搬移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容量、超卖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远端慢层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dirty="0">
                          <a:solidFill>
                            <a:srgbClr val="3E5C7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○ HAFT、TLBID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按内存约 510 个 / 台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 gridSpan="9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第三种切法：流水线状态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1B2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前端（微架构特征）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● 取指、BTB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slot 15–30%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77900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读法：第一组的红格集中在核内指令与 KAE——吃整行；第二组里服务列的通信落在 UB，AI 新税落在单核和协作项；第三组落在内存系统。这就是第 27 页放置规则在鲲鹏上的样子。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核：前端、单核、SMT、一致性域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核：前端取指和突发单核速度是传统微服务和 Agent 工具负载共同的第一诉求——软件改不到，只能靠 960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  <a:gridCol w="2057400"/>
                <a:gridCol w="2103120"/>
                <a:gridCol w="205740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传统依据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/ Agent 依据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 现在做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960 硬件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归属与优先级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前端取指（L3→L1-I 带宽、BTB、ITLB）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前端停顿占 slot 15–30% [01]；生产 L1-I MPKI 7–56 [05]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编译、测试、短命进程、解释器每次都冷启动；工具执行在关键路径上 [L3]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用编译、pytest、git、bash -c true 和 DCPerf 做 top-down：取指、BTB、ITLB 未命中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更高的 L3→L1-I 取指带宽、更大的 BTB 和 ITLB；按真实负载而非 SPEC 调优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海思决定，本团队提供负载与测量；P0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突发单核与 SKU 分档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Uber：主频 +9% → P50 −15% [07]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tokenize、推理调度是首 token 关键路径上的串行单核活 [68][49]；工具步骤受 GIL 限制 [L3]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测固定频率与允许睿频两种情况；tokenizer 独立进程、独立核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按核睿频、快速 DVFS；96 核高单核款给推理 host 与云开发机，256 核以上款给 rollout 与沙箱平台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海思；P1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SMT 与 MPAM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叶子函数 IPC 不到峰值一半，SMT 有吞吐空间 [20]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兄弟线程混部 +45.2%，core scheduling 后 +17.3% [R10]；超卖做好后 SMT 的吞吐增益直接变成沙箱数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tokenizer 与推理引擎共置的 MPAM 实验；高优先级沙箱开关 SMT 的 P99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SMT 两线程之间能分 L2；CMAX 与监控计数齐全；MPAMv2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tokenizer 隔离本团队提，MPAMv2 协作；P1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一致性域与核间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 LLC 域 2.07× [35]；384 核内核锁争用 54% [05]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TLBI 广播：24 台 VM 时性能掉到 0.62（第 61 页）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 die 与跨 die 的 RPC 往返；核间 ping-pong 热力图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可划分一致性域、向软件暴露 cache 域拓扑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海思、欧拉；P2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核侧队列与唤醒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切换 5K 周期、&gt;50 µs 唤醒伤尾延迟 [36][02]；nanoPU −5×、µManycore −10.4×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 WFE→唤醒延迟与 C-state 退出延迟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消息驱动唤醒（WFET 类）、硬件线程队列（DLB 类）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海思；P2（只对 µs 级服务有效）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57800"/>
            <a:ext cx="11064240" cy="411480"/>
          </a:xfrm>
          <a:prstGeom prst="roundRect">
            <a:avLst>
              <a:gd name="adj" fmla="val 17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52852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920 的历史经验〔公开〕：Chips and Cheese 测得 920 的 L3 取指带宽差（接近从 DRAM 取指）、64 项单周期 BTB、L2 TLB 11 周期——950 要先测这几项是否补上。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前端和单核的共同点是传统微服务与 Agent 工具负载都要、而且软件改不到——这才是它们排在 960 核诉求第一位的原因，而不是“量级最大”。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数据来源与口径：文献见括号；950、960 规格：华为 HC2025 与笔记 [83]；920 微架构：Chips and Cheese〔公开〕；优先级与归属沿用整合文档表 4-1。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 核内指令与系统库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核内指令与系统库：tokenizer 是本团队能碰到的最大一块 CPU 开销；文本处理指令 950 已够用，缺的是跨寄存器搬运时延和 MOPS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  <a:gridCol w="2057400"/>
                <a:gridCol w="2103120"/>
                <a:gridCol w="205740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传统依据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/ Agent 依据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 现在做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960 硬件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归属与优先级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增量 tokenizer 库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每次调用 228 ms 核时（HuggingFace），增量方法 2.3 ms [68]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 BPE、紧凑表、SVE2 预分词、会话状态；与参考实现逐位一致；先做 HuggingFace 的 drop-in 替换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低的 L1 / L2 命中时延；不做 tokenizer 加速器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基础加速；P0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进程启动的用户态路径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serverless 冷启动 1.2 s → 4 s（加策略）[43]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命令外开销均值 1.26 s [56]；每请求 5–7 个 shell 类进程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libuv 改用 posix_spawn、默认紧凑重定位、预 fork 进程池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前端取指与睿频（上页）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基础加速；P1（RL 客户 P0）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 host 的分配器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 4.3%，硬件卸载只 +1.86% [35][20]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页表遍历占末级缓存停顿 85% [58]；Arm 上换 mimalloc 快 2.3× [74]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Arm 调优的 mimalloc / jemalloc 加大页后端；框架缓冲区大页接口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更大的 L2 TLB、页表遍历缓存（协作）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基础加速；P1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JSON 与文本库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9.6% [25]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simdjson 在 Neoverse 上每核 5–7 GB/s，慢在 Python 路径 [81]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 位 SVE2 用进 simdjson、simdutf、base64；快速 JSON 库的 Python / Node 绑定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不做 JSON 加速器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基础加速；P2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块哈希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哈希 1–2% [01]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每请求约 4 ms，tokenize 增量化后比它还大（推算）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SHA-256 指令、SVE 版 xxh3 / blake3；与 tokenizer 一起增量化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无（950 已有 SHA、SHA3 指令）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推理框架、基础加速；P2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近核序列化微引擎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9.6%，可加速 3.45%；贴核 0.41 mm² [25]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JSON 已经很快，不适用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先用 zBuffer 类软件零拷贝落 UB SG；在 950 上跑 HyperProtoBench 定量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ProtoAcc 类近核引擎，只为 protobuf 立项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海思；P2（理由见第 62 页）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指令集基线与跨寄存器时延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memcpy 4–5% [01]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 没有 MOPS、SVE2.1、CSSC；UMOV 在 Neoverse V2 上最多 10 周期 [83]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缺的指令都有替代写法：这是软件缺口，不是硬件诉求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基线定到 Armv9.6（MOPS 为 P1）；向量 / 谓词到通用寄存器的搬运做到约 2 周期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本团队提；P1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“不做”的清单同样重要：tokenizer、JSON、正则都不做专用加速器；文本处理指令 950 已够用，硬件上真正的问题是跨寄存器搬运时延。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数据来源与口径：[68] TokTier 表 8；[56] TraceLab；[58] Blink；[74] vLLM-on-Arm 等 web 来源；[81] Agent 市场与生态 web 来源（simdjson 数据）；[83] 950 指令集与 Neoverse 时延；[25] ProtoAcc；归属与优先级沿用整合文档表 4-3。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 加速器：KAE（ZIP / SEC / HPRE）与 DPA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KAE 与 DPA：传统的“KB 级同步压缩”和 AI 的“4 KB 页压缩”要的是同一件事——小粒度下的固定开销足够低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KAE 现状〔公开〕：ZIP（zlib、gzip、zstd、lz4、snappy；大块吞吐压缩 7 GB/s、解压 8 GB/s）、SEC（AES、SM4、SM3）、HPRE（RSA、SM2）；接入 OpenSSL、zlib 兼容 API、UADK（SVA，队列式提交）；片上共享、免许可。位置比 PCIe 卡近（PCIe 只有近核的约 1/5.6 [34]），比贴核远，接近 CDPU 的 chiplet 情形（9.5× 对 10×）。</a:t>
            </a:r>
            <a:endParaRPr lang="en-US" sz="9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  <a:gridCol w="2057400"/>
                <a:gridCol w="2103120"/>
                <a:gridCol w="205740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传统依据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/ Agent 依据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 现在做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960 硬件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归属与优先级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与存储路径的压缩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3% fleet；关键服务 10–50%；95% 字节用弱算法，加速后可换回容量 [34]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checkpoint、镜像、训练数据层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 1–64 KB 盈亏粒度（目标 4 KB 同步往返 1–2 µs 内）；接 gRPC / bRPC / HCOM 压缩点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KB 粒度的固定开销接近大块吞吐；预置 Huffman 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基础加速；RPC P2、checkpoint 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zswap 与沙箱快照压缩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不超卖时内存是密度第一上限（约 510 个 / 台）；Intel IAA 压快照 2–4.5×、恢复快 25–55% [89]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做 zswap / zram 后端；按 4 KB 页、静态 Huffman 表压快照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加速器侧地址翻译不缺页（缺页时解压慢约 2× [89]）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基础加速；P0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链式执行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同步对异步差 1.3×，链式 ≈ 全异步 [41]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快照：ZIP → SEC → SM3 不回核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在快照集成库里串起三个引擎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引擎间链式描述符、共享缓冲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基础加速；P0（随快照）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连接复用后 &lt;0.2%；贵在建连和网关 [02][21]；阿里云弃用 QAT [24]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训练数据层 TLS；机密虚拟机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接网关 TLS，提供单请求同步、不攒批模式；国密作差异化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低并发、小批量的加密路径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基础加速；P2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DPA 小段搬移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memcpy 4–5%，多数 &lt;512 B [01]；DSA 卸载 −55% 主机周期 [28]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快照的脏页收集、恢复、写时复制、页清零都要批量搬移 [105]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用户态低时延提交接口，支持 SG 批量描述符；测与 SVE memcpy 的交叉点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 B–4 KB 固定开销低于 100 ns；与 KAE 共享描述符和地址空间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基础加速；P0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序列化（KAE 空白）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9.6%；调用粒度百字节，约 84% 不在 RPC 路径 [25]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的 JSON 已经很快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不用 KAE 队列模型做；软件走 zBuffer 类零拷贝落 UB SG（编解码约 1/23 [19]）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见上页近核引擎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KAE 的四条 960 诉求（4 KB 固定开销与预置 Huffman 表、引擎间链式描述符、加速器侧翻译不缺页、低并发小批量加密）和 DPA 的两条，由本团队直接提——使用者就是本团队的软件栈。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数据来源与口径：KAE：gitcode.com/boostkit/KAE、openEuler UADK〔公开〕；DPA：内部口径；[34] CDPU；[41] Google ISCA'23；[89] Intel IAA 快照（闭门会语料）；[105] Copier 等；[28] RpcNIC；[19] zBuffer；归属见整合文档表 4-3。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 内存系统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内存系统：传统负载的带宽有富余，Agent 沙箱先撞容量；960 要在容量、带宽和功耗之间重新取舍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  <a:gridCol w="2057400"/>
                <a:gridCol w="2103120"/>
                <a:gridCol w="205740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传统依据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/ Agent 依据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 现在做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960 硬件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归属与优先级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容量与超卖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内存约占服务器成本 53%（二手）；按内存峰值每台约 510 个沙箱（推算）[R4]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zswap；冷热识别、异步迁移、快速回收；密度基准测试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容量、带宽、功耗一起取舍（DDR 通道、LPDDR5X / SOCAMM2、UB 通道补带宽）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基础加速、欧拉、海思；P0 / 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内存池作慢层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带宽有富余但热页集中 [01][05][40]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空闲会话状态、KV 溢出、向量索引溢出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远端内存（OBMM 上线为 NUMA 节点）作慢层的实测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远端内存按缓存行粒度访问；本地与远端请求公平调度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团队、KV 存储团队；P1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带宽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利用率中位 10%、95 分位 31% [01]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向量检索是带宽型（PQ 扫描每核 18 GB/s）[52]；每核带宽是否成瓶颈未测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沙箱密度满载点测每核带宽利用率（是否越过约 50% 的拐点）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192 核款每核约 3.2 GB/s（推算），按实测再定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海思；P1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MPAM 隔离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混部：主机利用率 10→30%，RT 劣化 20% [04]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tokenizer 与推理引擎共置；数千沙箱各自分份额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vLLM / MindIE 加满负荷 tokenizer 的隔离实验（只绑核、加缓存分区、加带宽分区）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SMT 线程间分 L2；MPAMv2 的 PARTID 虚拟化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tokenizer 隔离本团队提；海思；P1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TLB 与页表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 4.3% 不硬件化 [35]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 host 页表遍历占末级缓存停顿 85% [58]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大页后端；测 MindIE / vLLM 的 TLB 未命中率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更大的 L2 TLB、页表遍历缓存、BBML2/3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海思；协作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冷热识别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会话中位 80% 时间空闲 [57]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欧拉的冷热识别与回收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HAFT（与 SMMU 一起做）、内存侧冷热计数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海思、欧拉；P1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“带宽过配”和“每核带宽”不矛盾：传统负载今天带宽有富余；高密度沙箱在超卖做好、核被塞满之后，每核带宽才可能成为下一个瓶颈——需要 950 实测确认。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数据来源与口径：内存占服务器成本 53% 为二手（2026-07，笔记 [81]）；密度与每核带宽为整合文档 3.4、4.1 节推算；[52] RAGO；[58] Blink；[57] AgentSysBench；[R4] AgentCgroup；归属见整合文档表 4-1、4-4。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6.7 互连：UB（灵衢）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UB：传输层已具备文献要求的大部分特性，缺口在 RPC 感知和硬件分发；AI 侧要先实测已有的 Mooncake 鲲鹏后端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309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文献需求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对应机制〔本地〕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消息语义、每消息极小状态（避免连接 cache 悬崖）[31][38]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RM 模式无连接，每条 WR 自带目标；TP Channel 按节点对共享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松弛排序与拥塞感知多路径（Falcon vs RoCE 8× 的来源）[30]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ROI / ROT / ROL / UNO 可选；TPG ≤32 通道逐包 spraying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不依赖无损网络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RTP 端到端重传 + CC；CTP 依赖链路层无损（超节点内）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延迟型 CC、硬件时间戳、接收侧占用回传 [30]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传输层 CC、VL 信用、RNR；CQE 是否带时间戳待查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RPC（非按连接）打 QoS [17]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SL / VL 存在；ubsocket 是每链路一个优先级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按核实时负载的硬件分发 [11]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Jetty Group 按 RQ 深度分发；有界队列与按方法分发待测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有（RQ 深度）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用户态权限、免注册 [26]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UMMU MAPT 可下放、non-pin SVA；UMQ 整池注册一次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写触发的轻量通知、免 doorbell 提交 [12][14]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JFCE 完成事件；DWQE 用 st64b 直写 SQE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325880"/>
            <a:ext cx="4572000" cy="4160520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40880" y="1325880"/>
            <a:ext cx="45720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0" y="13258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bRPC over UB 与 AI 数据路径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1673352"/>
            <a:ext cx="4389120" cy="375818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8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bRPC over UB 已落地〔本地〕：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握手后切到 UMQ，IOBuf 挂 UMQ 注册内存池。四个评估点：默认 RC 改 RM，看数千对端下的延迟悬崖；ubsocket 最小块 8 KB 而中位 RPC &lt;1.5 KB，要小消息 inline；zBuffer 字段直接成为 SGE；建连成本在短连接下放大。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8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数据路径：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Mooncake 主线已有 kunpeng_transport（URMA）和 ubshmem_transport，先实测而不是重做 [75]；xDeepServe 的 P/D 间 KV 直传已走 UB 内存语义（XCCL）[60]；CloudMatrix384 的 EMS 用 UB 池化鲲鹏内存存 KV [44]。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88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最需要的是数据：</a:t>
            </a:r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每核 Mops、RTT、每 Gbps 核数、连接数对延迟；对标 eRPC 2.3 µs、10 Mrps/核，Falcon 120 Mops，Homa/Linux 100 Gbps 需 18 核。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548640" y="5596128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561441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 的 960 方向：RPC 感知（按消息映射服务等级、完成事件带时间戳、可编程拥塞控制、Jetty Group 有界队列）、CPU 的 UB 通道数与内存带宽匹配、远端内存按缓存行访问——归 UB 团队与海思。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144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数据来源与口径：UB 机制：~/ub_doc_and_code、~/umdk、~/ubs-comm、~/brpc_ub〔本地〕；UB 2.0：华为 HC2025〔公开〕；[75] Mooncake UB 后端现状；[60] xDeepServe；[44] CloudMatrix384；文献需求来自 Falcon、Homa、eRPC / Snap、Aequitas、RPCValet、Cornflakes、Dagger、HydraRPC。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6.8 协作项（不单列税种）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协作项：高密度沙箱的系统开销归海思、欧拉和沙箱团队，本团队提供 950 上的测量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9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377440"/>
                <a:gridCol w="2743200"/>
                <a:gridCol w="2834640"/>
                <a:gridCol w="14173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诉求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解决什么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TLBID（TLBI Domains）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ARM 的 TLBI 默认广播全片，VM 多了性能下滑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 MAD24：96 核上 24 台 4 核 VM 时 unixbench 掉到 0.62，按亲和限定广播后 0.95 [94]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960 支持 TLBID 列为 P0；950 先用好 TLBIRANGE 与批量刷新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海思；软件归欧拉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HDBSS / HACDBS、HAFT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硬件记录并批量清除脏页、硬件访问标记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x86 上 PML 让检查点缩短最多 10.18% [105]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随快照与冷热识别一起要；HAFT 要 SMMU 同步支持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海思、欧拉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GICv5 与用户态中断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上千个睡着的 vCPU 唤醒更便宜；ARM 没有 UINTR 等价物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用户态中断接收 600–900 周期，信号约 2,800 周期 [99]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先问清客户用途；替代是 WFET、GICv5 直接注入、UB 的 JFCE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嵌套虚拟化与 ARM 版 PVM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在租来的 ARM 云主机里跑沙箱；CubeSandbox 的 PVM 只支持 x86 [106]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x86 上硬件嵌套高并发会崩，PVM 快两个数量级 [92]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欧拉评估 ARM 版 PVM；950 若实现 NV2，在华为云开放嵌套是最短路径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欧拉、海思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轻量隔离（MTE、POE、CHERI）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能否用比 VM 更轻的机制达到 VM 级隔离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MTE 真实芯片最坏慢 6.64×；POE 只有 7 个可用域 [95][96]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 VM 边界，在内部用 POE 把切换做轻（ParaCell 思路）[93]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欧拉、海思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SMMU 规模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一台 2,000 个沙箱都要网络和存储，VF 只有几十到几百个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PASID 队列级隔离让虚拟设备数提高 2.96× [100]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请海思给 StreamID / SubstreamID 规模表；本团队先用 KAE 队列（SSID）测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海思；本团队测量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进程创建的内核路径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fork 页表复制、页清零、缺页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大进程 fork 比 vfork 慢最多约 300× [81]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本团队在 950 上测拆分，内核与沙箱团队合并提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欧拉、沙箱团队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机密虚拟机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沙箱对云厂商也保密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x86：启动慢 102–394%，去重失效多占 9–147% [97]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 950 上测 virtCCA / CCA 的四个数；同一机密 VM 里放多个沙箱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机密计算团队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安卓沙箱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手机 Agent 的 RL 训练和评测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每个安卓虚拟设备 5 GB 以上内存；ARM 可原生跑安卓 [111]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 950 上测 Redroid 与 microVM 内安卓的密度，对比 x86 加翻译层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欧拉、沙箱团队、华为云云手机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42432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7607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这些都不是“税”，也不在本团队的软件栈里；本团队的角色是把 950 上的测量做出来，让海思、欧拉提诉求时有数据。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291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数据来源与口径：取自整合文档表 4-2 与闭门会文档 INSIGHT_KUNPENG_NEXTGEN_SANDBOX.md 第 3 节；[94] 华为 Linaro MAD24 TLBI 报告；[105] G3 快照集合；[99] UINTR；[106] CubeSandbox；[92][93] PVM、ParaCell；[95][96] POE、MTE；[100] HD-IOV；[97] 机密虚拟机；[111] 安卓沙箱。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6.9 优先级（取代 v1 第 30、37 页的两套排序）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优先级：先测量建基线；本团队的 P0 是增量 tokenizer、KAE 的 4 KB 压缩（快照与 zswap）和 DPA 接口；960 的第一诉求是前端取指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950：本团队的软件（基础加速）</a:t>
            </a:r>
            <a:endParaRPr lang="en-US" sz="105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85216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3090672"/>
                <a:gridCol w="237744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级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做什么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增量 tokenizer 库（线性 BPE、紧凑表、SVE2 预分词）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最大一块 CPU 开销：每次 228 ms 核时 [68]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卸载沙箱快照（4 KB 页，ZIP→SEC→SM3 链式）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客户点名；IAA 压快照 2–4.5× [89]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做 zswap / zram 后端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不超卖时内存是密度第一上限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DPA 用户态低时延接口，支持 SG 批量描述符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快照与写时复制都要批量搬移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进程启动的用户态路径（RL 客户为 P0）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命令外开销均值 1.26 s [56]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 host 分配器加大页后端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页表遍历占 LLC 停顿 85% [58]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checkpoint、镜像、训练数据层接 KAE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加载数据占训练节点 40% CPU [53]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SVE2 文本库、JSON 绑定、块哈希、网关 TLS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收益在 Python 路径或特定形态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583680" y="1325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960：硬件（按硅）</a:t>
            </a:r>
            <a:endParaRPr lang="en-US" sz="1050" dirty="0"/>
          </a:p>
        </p:txBody>
      </p:sp>
      <p:graphicFrame>
        <p:nvGraphicFramePr>
          <p:cNvPr id="1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645920"/>
          <a:ext cx="502920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3200400"/>
                <a:gridCol w="1444752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级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诉求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谁提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核前端：L3→L1-I 取指带宽、BTB、ITLB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海思（本团队提供负载）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KAE：4 KB 固定开销、预置 Huffman、链式、翻译不缺页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本团队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DPA：小段 &lt;100 ns、SG 描述符、与 KAE 共享地址空间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本团队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TLBID（协作项）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海思、欧拉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突发单核与 SKU 分档；SMT 与 MPAM；MOPS；跨寄存器搬运时延；内存容量与带宽取舍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海思（ISA 两项本团队提）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 容量；核侧硬件队列；近核序列化引擎；其余 ISA 特性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206240"/>
            <a:ext cx="11064240" cy="1444752"/>
          </a:xfrm>
          <a:prstGeom prst="rect">
            <a:avLst/>
          </a:prstGeom>
          <a:solidFill>
            <a:srgbClr val="F7F9FC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4206240"/>
            <a:ext cx="11064240" cy="292608"/>
          </a:xfrm>
          <a:prstGeom prst="rect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42062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排序标准与两个说明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4535424"/>
            <a:ext cx="10881360" cy="1060704"/>
          </a:xfrm>
          <a:prstGeom prst="rect">
            <a:avLst/>
          </a:prstGeom>
          <a:noFill/>
          <a:ln/>
        </p:spPr>
        <p:txBody>
          <a:bodyPr wrap="square" lIns="254" tIns="635" rIns="635" bIns="254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排序标准：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量级 × 鲲鹏差距 × 可行性 × 是否本团队的事；测量先于一切（第 63 页）。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量级最大的近核序列化引擎为什么排 P2：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软件零拷贝先拿走大头且已在阿里生产；格式与接口生态风险最高；网络与存储序列化的比例没有数据。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核侧硬件队列为什么排 P2：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文献收益上限高（nanoPU −5×、µManycore −10.4×），但只对 µs 级服务有效，软件生态缺失。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不做：</a:t>
            </a:r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tokenizer、JSON、正则的专用加速器；向量距离引擎；分配器硬件卸载；单独为 RPC 库做硬件。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" y="577900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这是全篇唯一的排序：第四部分只列文献的需求，取舍都在这里；“量级最大”不等于“先做”。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09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数据来源与口径：排序沿用整合文档表 4-1、4-3，并合并 v1 第 37 页（REPORT 6.4）的测量项；理由与数字见第 56–61 页。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6.10 950 待测清单（合并 REPORT 6.4 与整合文档表 4-5）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950 上先测这 15 件事：每一件补矩阵里的一格——没有这些数据，前面的发力点都还是推断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9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4983480"/>
                <a:gridCol w="2377440"/>
                <a:gridCol w="1783080"/>
                <a:gridCol w="16002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测什么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回答什么问题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补矩阵哪一格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谁测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传统税的鲲鹏基线：DCPerf、HyperProtoBench、HyperCompressBench；按调用栈把序列化、压缩、拷贝、分配拆到服务 / 存储 / 进程内三列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各行的量级；补对账矩阵的空格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传统各行 × 三列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基础加速、海思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tokenizer 基线：HuggingFace、tiktoken、fastokens 在 950、Graviton 4、EPYC 上的每核 MB/s 与 L2 MPKI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 税有多大、紧凑表省多少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 × 模型列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工具负载的前端分析：增量编译、pytest、npm / pip、git、bash -c true 的 top-down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前端与突发单核的诉求有多强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 × 执行环境列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进程创建：fork 随父进程大小、缺页时延、microVM 内外的启动拆分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用户态能省多少、内核部分交给谁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冷启动 × 执行环境列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基础加速、欧拉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4 KB 页压缩：同步单页时延 P50 / P99、SVA 缺页、1–64 KB 盈亏点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zswap 与快照压缩能否达到验收线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 × 时间列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快照保存与恢复：不压缩、软件压缩、KAE 链式；100 个沙箱并发检查点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暂停恢复卸载的收益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压缩、拷贝 × 执行环境列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基础加速、沙箱团队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KAE zswap：沙箱匿名页的压缩比、换入时延、省下的 CPU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超卖能做到几倍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 × 时间列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基础加速、欧拉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DPA 小段提交：64 B–4 KB 的固定开销，与 SVE memcpy 的交叉点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DPA 能否承担 DSA 的角色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拷贝 × 服务 / 时间列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MPAM 隔离：推理引擎加满负荷 tokenizer，逐步加缓存与带宽分区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共置时怎么隔离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 × 模型列（隔离）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向量到标量的搬运：UMOV、FMOV、CNTP 等时延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跨寄存器时延诉求的依据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 / tokenize 行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 host 微架构：TLB 未命中、页表遍历占比、graph dispatch 延迟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分配与调度税在鲲鹏上多大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分配、调度 × 模型列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推理框架、基础加速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沙箱密度与每瓦沙箱数：加沙箱直到高优先级 P99 超标；SMT 开关；每核带宽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内存与 CPU 哪个先成为上限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 × 时间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沙箱团队、基础加速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TLBI 扩展性：1–48 台 VM 的创建、快照、迁页；核间 ping-pong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TLBID 诉求与 chiplet 的代价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执行环境列的系数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海思或欧拉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基线：小消息 RTT 与 Mops/核；RC 对 RM（数千对端）；Mooncake 鲲鹏后端对 RDMA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在 RPC 与 KV 路径上的立论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 × 服务列；KV 搬移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 团队、KV 存储团队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命令级分布：自家编码 Agent 日志里 Bash 前 20 种命令的次数与 CPU 时间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git、测试、构建各占多少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执行环境列的次数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基础加速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solidFill>
            <a:srgbClr val="FCE8B2"/>
          </a:solidFill>
          <a:ln w="12700">
            <a:solidFill>
              <a:srgbClr val="FCE8B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797296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1、2、14 是基线：没有它们，传统税和 Agent 税在鲲鹏上的量级都只是推断；4–8 决定本团队的 P0 能不能达到验收线。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09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数据来源与口径：REPORT.md 6.4 节待测清单；整合文档表 4-5（19 项，此处合并为 15 项）。“补矩阵哪一格”对应第 21 页与第 47 页；部署形态占比与托管语言的序列化税要和客户联合测（第 24 页），不在本表。</a:t>
            </a:r>
            <a:endParaRPr lang="en-US" sz="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A：论文清单（[NN] 对应 notes/ 笔记编号；[L1–L4]、[R1–R10] 对应 ~/AgenticAI 阅读报告）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62456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传统负载：用户提供（笔记 01–19）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819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Profiling a WSC (ISCA'15) · Cloud-Scale Characterization of RPCs (SOSP'23) · Lifting the veil on Meta's microservices (ATC'23) · Alibaba Trace Analysis (SoCC'21) · DCPerf (ISCA'25) · DeathStarBench (ASPLOS'19) · CRISP (ATC'22) · Homa (SIGCOMM'18) · R2P2 (ATC'19) · nanoPU (OSDI'21) · RPCValet (ASPLOS'19) · Dagger (ASPLOS'21) · Cerebros (MICRO'21) · HydraRPC (ATC'24) · LightRPC · Breakwater (OSDI'20) · Aequitas (SIGCOMM'22) · mRPC (NSDI'23) · zBuffer (PPoPP'26)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85416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传统负载：补充（笔记 20–43）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40487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Accelerometer · SoftSKU · Profiling Hyperscale Big Data (ISCA'23) · GreenSKU · Meta Hyperscale Infrastructure (CACM'25) · Memory Allocator at WSC (ASPLOS'24) · µManycore · Alibaba Complexity (arXiv'25) · ServiceRouter (OSDI'23) · MeshInsight · Canal Mesh (SIGCOMM'24) · XLB · Snap · Junction · Lightweight Sidecar for Serverless (SoCC'25) · eRPC · Falcon (SIGCOMM'25) · Homa/Linux · RpcNIC · RPCool · CEIO · FlexiNS · BenchBF3 · ProtoAcc · Optimus Prime · Cornflakes · Cereal · CDPU (ISCA'23) · SpecProto (ASPLOS'26) · Host Network Stack Overheads (SIGCOMM'21)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11064240" cy="877824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3099816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 Agent 负载（第五部分核心论文）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31927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TraceLab (arXiv 2606.30560) [56] · AgentSysBench (arXiv 2608.15127) [57] · CPU-Centric Agentic AI (arXiv 2511.00739) [78] [L3] · Agentic AI Workload Characterization (IISWC'26) [L1] · Agentic Coding in the Wild: Copilot (arXiv 2608.00101) [R2] · CacheWise (arXiv 2606.16824) [R3] · AgentCgroup (arXiv 2602.09345) [84] [R4] · Not All AI Agents Are Equal (arXiv 2609.19947) [R5] · Aries (arXiv 2607.29069) [R6] · Energy on Blackwell (arXiv 2609.29707) [R7] · XPerf (arXiv 2608.20370) [R8] · DSec (arXiv 2609.22978) [R10] · TokTier (arXiv 2607.29678) [68] · SWE-MiniSandbox [76]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548640" y="4014216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405079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与鲲鹏：整合文档引用的语料（笔记 44–112）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42702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CloudMatrix384 · Mooncake · Splitwise · DistServe · NanoFlow · Firecracker · RAGO · UB-Mesh · xDeepServe · Blink · GH200 characterization · virtCCA · Parrot · CPU-underprovisioning (arXiv 2603.22774) · 闭门会 G1–G9 九组补充研究（密度、超卖、快照、嵌套虚拟化、TLB、轻量隔离、机密计算、UINTR / SMMU / DPU、安卓沙箱）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548640" y="4727448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4764024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市场信号（第五部分开头）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4983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Q2 2026 新闻稿与 10-Q · AMD Q2 2026 新闻稿 · Arm Q1 FYE27 新闻稿 · NVIDIA Q2 FY27 财报（经媒体）· 海光 2026 半年报（经新华财经）· TrendForce 2026-04-14《The Great Rebalance》· Mercury Research Q2 2026（经 HotHardware）· Nikkei Asia、Reuters 的交期报道 · OpenRouter（Crypto Briefing、The Decoder）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64240" cy="603504"/>
          </a:xfrm>
          <a:prstGeom prst="roundRect">
            <a:avLst>
              <a:gd name="adj" fmla="val 12121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5477256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建议的下一步阅读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69671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Swift (SIGCOMM'20) · PLB (SIGCOMM'22) · Ultra Ethernet 规范 · XFaaS (SOSP'23) · Karandikar 博士论文 (2024) · CXL 3.x 多主机共享的真实硬件评估 · 云端任务沙箱与企业托管运行时的生产负载数据（公开文献空白）</a:t>
            </a:r>
            <a:endParaRPr lang="en-US" sz="78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172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数据来源与口径：传统部分 PDF 在 RPC_PAPERS/ 与 downloaded/（前缀 A–F），全文在 text/，笔记在 notes/（总表 notes/INDEX.md）；第五部分新论文在 ~/AgenticAI 与 ~/AgenticAI/related/。图按 [NN] Fig. N 截自对应 PDF。</a:t>
            </a:r>
            <a:endParaRPr lang="en-US" sz="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5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B（对象登记表精简版，完整版见 OUTLINE_RPC_DECK_V2.md 第 2 节；v3 变更见 OUTLINE_RPC_DECK_V3_LOGIC.md）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B：关键数字口径表——全篇反复出现的数字只用这一种说法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9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675120"/>
                <a:gridCol w="2103120"/>
                <a:gridCol w="822960"/>
              </a:tblGrid>
              <a:tr h="2084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标准表述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主讲页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负载集中度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CPU 周期分散（top-1 约 10%、top-50 约 60%）；按调用次数集中（top-100 方法 91%）；调用集中 ≠ 周期集中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周期对调用次数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税的矩阵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按操作切（行）是数据中心税，按边界切（列）是某条边界的税；RPC 税是服务那一列，两者只在交叉格重叠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本报告的组织方式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税的总量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2015 六项 22–27%；Meta 核心应用逻辑最少 18%；存储与分析平台税 32–40%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fleet、7 个服务、3 个平台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 fleet 全部内核 18–20%；Meta 缓存类约 30% 时间；网络栈只是其中一部分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fleet 对单类服务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RPC 税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服务那一列：[02] 口径 7.1%（压缩 3.1、TCP 1.7、序列化 1.2、库 1.1）；压缩只计 RPC 库发起的部分则约 4–5%（推算）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fleet 平均、两个口径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整行 2.9% [34]；RPC 库直接发起的占 13.9%（约 0.4%，推算）；[02] 记入 RPC 税的 3.1% 归类存疑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整行对一格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序列化与 RPC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protobuf 整行 9.6%，服务那一格约 1.2 个百分点（八分之一）；编解码操作里 16% / 35% 来自 RPC 栈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两种分母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每请求 RPC 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 Fetch 中位 498 个服务块，中位深 4、宽 472，P99 宽约 7,400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 trace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形态系数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CPU：library 1.36×、sidecar 2.7–3.7×；延迟：sidecar p50 +107%，serverless 加策略 p50 7×、p99 254×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两条链分开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front-end bound 占 slot 15–30%；L1-I MPKI 7–56；不与周期占比排序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slot 口径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SMT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吞吐有空间（IPC 不到峰值一半）；尾延迟代价 +45.2%（core scheduling 后 +17.3%）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两面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内存带宽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传统利用率中位 10%、95 分位 31%；Agent 先撞容量，带宽未测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两类负载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编码 Agent 一次请求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8.8 次模型 + 10.8 次工具（均值）；每步中位 11.9 万 / 875 / 214 token；新内容约 0.8%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TraceLab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命中率与时间构成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命中率 95.7%（token 加权）；会话中位 20% 时间在执行；人的思考占 92.3%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三份数据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工具时间占比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2–89%：TraceLab 59.8%（本地机器、请求内）、Copilot 4.7%（会话墙钟）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负载与口径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每个沙箱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平均约 0.1 核（0.08–0.13）；内存基线 185 MB + 2–4 GB 突发，峰均比 15.4×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单机与生产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冷启动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初始化 31–48%（编码任务）；RL 19–29%；Codex 命令外 1.26 s（中位 0.16 s）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受控与真实 trace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tokenize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 12 万 token：HF 228 ms、Rust 13.4 ms、增量 2.3 ms 核时；“64%”只见于摘要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TokTier 表 8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token 规模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OpenRouter 每天约 7.3 万亿（7 日均值，2026-08-10）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第三方平台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CPU:GPU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各方说法：1:4–1:8 → 接近 1:1（Intel、AMD）、1:1–1:2（TrendForce）；柜内 1:2 为内存；按生产密度与厂商规格差一个数量级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预测（利益相关方）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厂商业绩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DCAI +59%（出货 +9%、售价 +48%）；AMD 数据中心 +107%（含 GPU）；Arm 数据中心版税翻倍以上；无一家单列 Agent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最近一期同比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172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数据来源与口径：完整的对象登记表（33 个对象，含来源与引用页）见 OUTLINE_RPC_DECK_V2.md 第 2 节；v1 的一致性问题清单见同一文件第 1 节。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数据中心的"税"：从 RPC 微服务到 Agent——负载洞察与鲲鹏的软硬件发力点（v3）</dc:title>
  <dc:subject>PptxGenJS Presentation</dc:subject>
  <dc:creator>Kunpeng 基础加速 / 洞察工作组</dc:creator>
  <cp:lastModifiedBy>Kunpeng 基础加速 / 洞察工作组</cp:lastModifiedBy>
  <cp:revision>1</cp:revision>
  <dcterms:created xsi:type="dcterms:W3CDTF">2026-10-16T01:23:09Z</dcterms:created>
  <dcterms:modified xsi:type="dcterms:W3CDTF">2026-10-16T01:23:09Z</dcterms:modified>
</cp:coreProperties>
</file>