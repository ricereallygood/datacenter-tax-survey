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时代的数据中心税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六个业务场景的端到端业务流、税的落点与占比，以及鲲鹏基础加速的发力点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76 篇文献/资料笔记（2015–2026）与 INSIGHT_AI_WORKLOAD.md 三轮校正  ·  2026-09-20  ·  研讨版（前 5 页为执行摘要）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521208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212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 拷贝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521208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5212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 序列化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521208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5212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#8 tokenize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83480" y="521208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5212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#10 调度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521208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5212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#11 沙箱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18120" y="521208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5212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#6 状态驻留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43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标注约定：〔已发生〕/〔趋势〕；〔实测〕/〔推算〕；→950 = 鲲鹏 920/950 上现在能做的软件·SKU·生态动作；→960 = 2028 鲲鹏 960 及后续的架构动作；[NN] = notes/ 笔记编号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 1/5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一页结论：AI 化没有消灭数据中心税，而是换品类、加重、并新增五个税种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694944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27048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税的形态从"CPU 周期"变成"加速器空转 + 存着等"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20240"/>
            <a:ext cx="6172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fleet 级剖析（[01] 式）看不见它：CPU 欠配时 TTFT 高 1.47–7.11× 但表现为 NPU 空转 [69]；Agent 会话中位 80% 时间"活着但空闲"[57]。这也是找不到"AI 时代 tax 再刻画"论文的原因。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694944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358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08376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是税增长最快的一条线，且工具/沙箱执行比模型生成更耗时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01568"/>
            <a:ext cx="6172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真实编码 Agent 请求里工具执行占 59.8%、LLM 生成 41% [56]；RL rollout 中容器方案的环境准备占 19–29% [76]；10 个 Agent 应用里 5 个由非 LLM 组件主导时延 [57]。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379976"/>
            <a:ext cx="694944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5171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489704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业界正把 host 税从"优化 CPU"改为"绕过 CPU"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882896"/>
            <a:ext cx="6172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侧采样 [44]、graph 模式 [60]、DPU + GPU 持久 kernel [58]。CPU 在 AI 集群里的价值正向状态层（大 DRAM + UB 池）、沙箱层（隔离/密度/机密计算）、数据层（KAE + 存储路径）转移——CloudMatrix 论文 6.1.3 已明说要做 CPU 池化节点 [44]。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0" y="1417320"/>
            <a:ext cx="3840480" cy="4343400"/>
          </a:xfrm>
          <a:prstGeom prst="roundRect">
            <a:avLst>
              <a:gd name="adj" fmla="val 190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1536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老税种换形态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18745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拷贝：KB 级 RPC payload → GB 级 KV cache 搬移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序列化：protobuf → tensor + JSON（MCP/工具）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压缩：日志/存储 → checkpoint、镜像、KV（需变换）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网络栈：ms 级请求/响应 → 每 token 一条流式小消息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分配：malloc → KV 块表 + 会话状态驻留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新增五个税种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3995928"/>
            <a:ext cx="3520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#8 tokenize / detokenize（命中率→0.99 时占 TTFT 64%）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#9 采样与约束解码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#10 host 调度 / kernel launch / 同步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#11 沙箱生命周期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#14 O(上下文) 的逐轮重处理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"税"沿用 Kanev 等 [01] 的定义：与业务逻辑无关、跨应用共有、能被"不懂模型"的硬件单元执行的底层开销。传统 fleet 税 22–27% cycles [01]，RPC 全路径 7.1% [02]。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 2/5  ·  格子 = 该税在该场景一次业务请求里的量级（A、B 口径取较高者）· 实测/推算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 × 业务场景热力图：14 个税种落在 6 个业务场景的哪里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17320"/>
                <a:gridCol w="1508760"/>
                <a:gridCol w="1554480"/>
                <a:gridCol w="1417320"/>
                <a:gridCol w="1783080"/>
                <a:gridCol w="14630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电商交易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信息流推荐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智能客服 RAG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编码 Agent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训练与后训练平台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MaaS 推理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 拷贝/搬移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#2 序列化/解析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#3 压缩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#4 哈希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#5 加密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#6 分配/状态驻留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网络栈/RPC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#8 tokenize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#9 采样/约束解码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#10 调度/launch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#11 沙箱生命周期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#12 向量距离核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#13 数据层编解码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#14 O(上下文)重处理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 = 该税在该场景"一次业务请求 / 一个作业"里的量级，A（时延/进度占比）与 B（CPU 侧资源占比）取较高者：大 ≥ 30%、中 5–30%、小 &lt; 5%、— 不出现；实测 = 有文献数字，推算 = 本文算式或类比。⑤ 含预训练与 RL 后训练。逐格出处见 p32 完整矩阵。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 3/5  ·  A 口径排序，B 口径（CPU 侧资源）见各流程页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按端到端时延占比排序的痛点榜 Top 8——以客户为中心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737360"/>
                <a:gridCol w="4480560"/>
                <a:gridCol w="1828800"/>
                <a:gridCol w="26974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痛点（税）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A：端到端时延占比（实测为主）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落在哪块硅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谁能吃掉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 / 工具执行（#11）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编码 Agent：工具执行占请求响应 59.8%、生成 41% [56]；⑤ RL 后训练：容器环境准备占 rollout 19–29% [76]；5/10 Agent 应用非 LLM 主导 [57]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核 + DRAM + 虚拟化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鲲鹏 CPU（隔离/密度/机密计算）；→960 硬件辅助快照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 + O(上下文) 重处理（#8 #14）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MaaS / ④ Agent：命中率→0.99 时 tokenize 占 TTFT 64% [68]；CPU 欠配 TTFT 1.47–7.11× [69]；冗余 prefill 3.8× [56]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单核（BPE 串行）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单核性能 + 核数配比；增量化；前端 CPU 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引擎外编排 RPC / 序列化（#7 #2）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客服 RAG：LLM 调用 30–50% 延迟在引擎外（最坏 &gt;70%）[66]；④ Agent：runner 残余 18.6% [56]、每会话数十 MB 序列化 [57]；② 推荐：级联多阶段传递（OneRec 单阶段后 OPEX 10.6% [77]）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核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 第 5 章方案；bRPC over UB；结构化数据变换引擎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向量检索 / embedding 表（#12 #1）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客服 RAG：检索占端到端 &lt;1%–86% [52]、非 LLM 模块 &gt;50% [73]；② 推荐：ANN 召回 + DLRM embedding 表 gather 内存主导 [72]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内存带宽 + 容量（18 GB/s/核、80% 带宽）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SKU 内存带宽/通道；UB 内存池作第二层内存 [65]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训练数据层与 checkpoint（#13 #3 #1）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训练平台：checkpoint 200 s/次 [63]、同步拖慢 43% [62]；评估作业 29.5% 在加载 + tokenize [62]；数据层 DSI 功耗可超训练 [53]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host CPU + 内存带宽（加载占 40% CPU + 55% 带宽 [53]）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sec/zip in-line；DSA 式搬移；大 DRAM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host 调度 / launch（#10）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MaaS：vLLM V0 每步 CPU ~50%（A100/8B）[49]；昇腾 graph dispatch 0.6–0.8 ms [44]；共置干扰 TTFT 139× [58]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单核 + TLB/LLC + CPU–NPU 链路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微架构（TLB/LLC/IPC）；UB 提交队列；host 与沙箱分池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KV 搬移与状态层（#1 #6）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MaaS：逐层流水后 KV 传输 &lt;7%、第二 token +16.5%（串行 +64%）[46]；EMS over UB TTFT −34%/−59% [44]；④ Agent：TTL 驱逐占 31.5% 费用 [57]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 + 互连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内存语义（已在生产 [44][60]）；大 DRAM；zswap 式压缩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 datacenter tax 延续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电商交易：RPC 延迟税均值 2%、尾部 96% [02]；sidecar P99 +180% [18]；cycles 22–27% [01]——③④⑥ 的编排层同样承担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核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 第 5–6 章（KAE 压缩/序列化、DPA 作 DSA）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126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排序依据：该税在所属业务场景一次业务请求里的时延占比（取实测的高位值）；同一税种在不同场景占比不同，取影响客户最大的场景（①–⑥ 见 p8）。B 口径（CPU 周期 / 内存 GB / 互连字节）的排序见 p33。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 4/5  ·  每条后面是它吃掉的税种与服务的场景；推导链见各场景页，展开见 p34–35；UB 专题 U1–U10 见 p6、p36–38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鲲鹏基础加速的发力点：软件 S1–S11（→950）与硬件 H1–H12（→960 / SKU）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990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软件发力点（→950，现在就能做）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52120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 前端友好的代码布局　·　#7 #2 #3 · ①③④⑥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PGO/BOLT、text 大页、热路径函数重排，针对 RPC 库 / 序列化 / 内核栈 / 网关这些"税代码"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零拷贝与二进制序列化　·　#2 #1 #14 · ①②③④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zBuffer / FlatBuffers / Arrow 直接成为 bRPC-UB 的 SGE；embedding 用 fp16 二进制而非 FP32 JSON；messages 增量序列化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 用户态 / 内核旁路网络 + UB 消息语义　·　#7 · ①③④⑥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bRPC over UB 的小消息 slab 修复（U1）、RM 默认化（U2）、UM 自举建连（U8）、io_uring、busy-poll、Homa 式接收端驱动；流式 token 批量帧 + kTLS（U10）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S4 分配器与大页　·　#6 #10 · ①④⑥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mimalloc / TCMalloc 调优（Arm 上 vLLM 2.3×）、THP + text 大页、KV 块表；缓解 Python 栈碎片化地址空间的页表遍历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S5 增量 tokenize 与前端池　·　#8 #14 · ⑥④③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TokTier 式增量修复 + tokenized 缓存；每 NPU 前端核数配比；前端 CPU 池 / DPU 承接 tokenize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S6 推理引擎 host 路径　·　#10 #9 · ⑥⑤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 模式、异步调度、采样 / 元数据上 NPU、绑核与 host–沙箱分池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S7 状态层软件　·　#6 #1 · ⑥④②⑤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Mooncake kunpeng_transport / ubshmem（U9）；EMS 类 KV 池参考架构；空闲会话卸载、TTL 策略、zswap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S8 沙箱软件栈　·　#11 · ④⑤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进程级沙箱、快照 + 工作集预取（REAP）、预热池、OverlayFS、virtCCA 机密 VM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S9 KAE 接入 AI 路径　·　#3 #5 #13 · ⑤④⑥①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UADK Python/PyTorch 零拷贝绑定；zip 接 checkpoint / 镜像 / zswap；sec in-line 接训练数据层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S10 检索与 embedding 表的 SVE / 带宽调优　·　#12 #1 · ②③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faiss / SVS / ScaNN 移植；DLRM gather 与 ANN 的带宽利用率基线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S11 剖析与基准工具链　·　支撑全部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DCPerf 类基线、每 step CPU 时间拆解、共置干扰复现、鲲鹏–昇腾 launch 延迟——决定 H 清单的优先级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3990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硬件发力点（→960 进架构 / 定 SKU）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691640"/>
            <a:ext cx="516636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 前端：L1-I / 取指带宽 / BTB / 指令预取　·　#7 #2 #3 · ①③④⑥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税代码路径长、二进制数百 MB：前端受限 15–30%、L1-I MPKI 7–56；920 L3 取指带宽弱、64 项 BTB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TLB 与页表　·　#10 #6 #11 · ⑥④⑤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更大更快的 L2 TLB、页表遍历缓存、大页；Python 栈页表遍历占 LLC stall 85%；920 L2 TLB 11 周期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 单核 IPC 与频率（关键路径核）　·　#7 #10 #8 · ①⑥④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主频差 9% → 尾延迟差 1.5×；Arm launch 比 x86 慢 17–22%；BPE 串行 2–4 MB/s/核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H4 内存系统　·　#6 #12 #1 #13 · ②③⑥⑤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通道数 / 带宽（MRDIMM 类）、容量、UB 内存池、内存侧位平面变换 + codec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H5 搬移引擎　·　#1 · ①⑤⑥④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DPA（片上搬移加速器）作 DSA、与 UB 内存语义合一；小拷贝也要划算（片外阈值 ≥425 B）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H6 结构化数据变换引擎　·　#2 · ①③④②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+ JSON + tensor，近核 / 片上，异步或链式接口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H7 KAE zip / sec 演进　·　#3 #5 #13 · ⑤①④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KB 级小 buffer 固定开销、in-line / DMA 直达不额外过内存、zswap 路径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H8 沙箱硬件辅助　·　#11 · ④⑤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stage-2 页表复制、内存清零卸载、快照恢复 DMA、低开销机密计算、SMT 隔离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H9 CPU → NPU 提交路径　·　#10 · ⑥⑤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内存语义队列 / doorbell、低延迟 launch（对标 x86 2.3 µs、昇腾 graph dispatch 0.6–0.8 ms）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 SME2 级矩阵扩展 + BF16/INT8　·　#12 #9 · ③②⑥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rerank / embedding / draft / 生成式推荐前端上 CPU；生态（KleidiAI/oneDNN）已就绪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H11 UB CPU 出口带宽与远端读延迟　·　#1 #6 · ⑥②④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x32 lane vs DRAM 带宽哪端先饱和；cache-line 粒度按需取（稀疏注意力 2.1×）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H12 SKU 配比　·　全部</a:t>
            </a:r>
            <a:endParaRPr lang="en-US" sz="750" dirty="0"/>
          </a:p>
          <a:p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高密度款（沙箱 / 前端 / 状态层）vs 高单核款（host）；每 NPU 的 CPU 核数；CPU 池化节点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17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一句话原则：税落在哪块硅，就在哪块硅上吃掉它——前端/TLB/单核对应老税与 host 税（H1–H3），内存系统与 UB 对应状态层与检索（H4 H11），搬移/变换/压缩引擎对应拷贝/序列化/压缩（H5–H7），虚拟化路径对应沙箱（H8）。软件先把税测出来、把能软件消掉的消掉，剩下的才是硬件的目标。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 5/5  ·  UB 已具备文献要求的大部分"传输"特性；缺口在"RPC 感知"与"数据"；展开见 p36–38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专题摘要：RPC 通信时延链上 UB 能吃掉什么——U1–U10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353312" cy="384048"/>
          </a:xfrm>
          <a:prstGeom prst="chevron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 / 组包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353312" cy="1463040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" y="18288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文献量级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2011680"/>
            <a:ext cx="12435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zBuffer 25 ns [19]；protobuf 拷贝主体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48640" y="3310128"/>
            <a:ext cx="1353312" cy="1234440"/>
          </a:xfrm>
          <a:prstGeom prst="roundRect">
            <a:avLst>
              <a:gd name="adj" fmla="val 5926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" y="33558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原语 · 状态：有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3675888"/>
            <a:ext cx="1243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UMQ 预注册 qbuf + SGE；U6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938528" y="1325880"/>
            <a:ext cx="1353312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29968" y="132588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提交（doorbell）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938528" y="1783080"/>
            <a:ext cx="1353312" cy="1463040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93392" y="18288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文献量级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1993392" y="2011680"/>
            <a:ext cx="12435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PCIe doorbell 固定开销；内存互连提交 +14% [12]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938528" y="3310128"/>
            <a:ext cx="1353312" cy="1234440"/>
          </a:xfrm>
          <a:prstGeom prst="roundRect">
            <a:avLst>
              <a:gd name="adj" fmla="val 5926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93392" y="33558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原语 · 状态：有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1993392" y="3675888"/>
            <a:ext cx="1243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DWQE st64b 直写、SoC 内无 PCIe；U1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328416" y="1325880"/>
            <a:ext cx="1353312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19856" y="132588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传输（fabric）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28416" y="1783080"/>
            <a:ext cx="1353312" cy="1463040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83280" y="18288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文献量级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2011680"/>
            <a:ext cx="12435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eRPC 2.3 µs RTT [31]；Falcon 5.8–8.7 µs [30]；CXL RPC 1.5 vs RDMA 17 µs [29]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328416" y="3310128"/>
            <a:ext cx="1353312" cy="1234440"/>
          </a:xfrm>
          <a:prstGeom prst="roundRect">
            <a:avLst>
              <a:gd name="adj" fmla="val 5926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83280" y="33558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原语 · 状态：有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3675888"/>
            <a:ext cx="1243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无连接 + TPG 多路径 + RTP/CTP；2.1 µs（超节点）；U2 U3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718304" y="1325880"/>
            <a:ext cx="1353312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09744" y="132588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接收通知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18304" y="1783080"/>
            <a:ext cx="1353312" cy="1463040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73168" y="18288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文献量级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4773168" y="2011680"/>
            <a:ext cx="12435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中断唤醒 &gt;50 µs [02]；轮询浪费核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718304" y="3310128"/>
            <a:ext cx="1353312" cy="1234440"/>
          </a:xfrm>
          <a:prstGeom prst="roundRect">
            <a:avLst>
              <a:gd name="adj" fmla="val 5926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73168" y="33558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原语 · 状态：有·待测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4773168" y="3675888"/>
            <a:ext cx="1243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JFCE / 消息中断；U5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108192" y="1325880"/>
            <a:ext cx="1353312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99632" y="132588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核间分发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108192" y="1783080"/>
            <a:ext cx="1353312" cy="1463040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63056" y="18288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文献量级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6163056" y="2011680"/>
            <a:ext cx="12435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 浪费 30–76% [11]；nanoPU JBSQ [10]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108192" y="3310128"/>
            <a:ext cx="1353312" cy="1234440"/>
          </a:xfrm>
          <a:prstGeom prst="roundRect">
            <a:avLst>
              <a:gd name="adj" fmla="val 5926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63056" y="33558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原语 · 状态：有·待增强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6163056" y="3675888"/>
            <a:ext cx="1243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Jetty Group RQ 深度分发；U4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498080" y="1325880"/>
            <a:ext cx="1353312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89520" y="132588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 / 过载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98080" y="1783080"/>
            <a:ext cx="1353312" cy="1463040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552944" y="18288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文献量级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7552944" y="2011680"/>
            <a:ext cx="12435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Homa grant [08]；Breakwater 信用 [16]；Aequitas −10% [17]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498080" y="3310128"/>
            <a:ext cx="1353312" cy="1234440"/>
          </a:xfrm>
          <a:prstGeom prst="roundRect">
            <a:avLst>
              <a:gd name="adj" fmla="val 5926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552944" y="33558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原语 · 状态：部分</a:t>
            </a:r>
            <a:endParaRPr lang="en-US" sz="700" dirty="0"/>
          </a:p>
        </p:txBody>
      </p:sp>
      <p:sp>
        <p:nvSpPr>
          <p:cNvPr id="52" name="Text 50"/>
          <p:cNvSpPr txBox="1"/>
          <p:nvPr/>
        </p:nvSpPr>
        <p:spPr>
          <a:xfrm>
            <a:off x="7552944" y="3675888"/>
            <a:ext cx="1243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UMQ 立即数授信、RNR、SL/VL；U3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8887968" y="1325880"/>
            <a:ext cx="1353312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979408" y="132588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反序列化 / 拷贝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887968" y="1783080"/>
            <a:ext cx="1353312" cy="1463040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942832" y="18288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文献量级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8942832" y="2011680"/>
            <a:ext cx="12435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网络栈拷贝 &gt;50–60% [33]；DDIO/LLC 占用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8887968" y="3310128"/>
            <a:ext cx="1353312" cy="1234440"/>
          </a:xfrm>
          <a:prstGeom prst="roundRect">
            <a:avLst>
              <a:gd name="adj" fmla="val 5926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942832" y="33558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原语 · 状态：有·小消息放大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8942832" y="3675888"/>
            <a:ext cx="1243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JFR、qbuf 池、OBMM 共享内存；U6 U7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0277856" y="1325880"/>
            <a:ext cx="1353312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369296" y="132588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连接与权限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0277856" y="1783080"/>
            <a:ext cx="1353312" cy="1463040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332720" y="18288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文献量级</a:t>
            </a:r>
            <a:endParaRPr lang="en-US" sz="750" dirty="0"/>
          </a:p>
        </p:txBody>
      </p:sp>
      <p:sp>
        <p:nvSpPr>
          <p:cNvPr id="65" name="Text 63"/>
          <p:cNvSpPr txBox="1"/>
          <p:nvPr/>
        </p:nvSpPr>
        <p:spPr>
          <a:xfrm>
            <a:off x="10332720" y="2011680"/>
            <a:ext cx="12435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 QP 悬崖 [31][38]；MR 注册走内核 [26]；TLS 建连 1.6 ms [21]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10277856" y="3310128"/>
            <a:ext cx="1353312" cy="1234440"/>
          </a:xfrm>
          <a:prstGeom prst="roundRect">
            <a:avLst>
              <a:gd name="adj" fmla="val 5926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0332720" y="33558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原语 · 状态：有·默认未开</a:t>
            </a:r>
            <a:endParaRPr lang="en-US" sz="700" dirty="0"/>
          </a:p>
        </p:txBody>
      </p:sp>
      <p:sp>
        <p:nvSpPr>
          <p:cNvPr id="68" name="Text 66"/>
          <p:cNvSpPr txBox="1"/>
          <p:nvPr/>
        </p:nvSpPr>
        <p:spPr>
          <a:xfrm>
            <a:off x="10332720" y="3675888"/>
            <a:ext cx="1243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模式、MAPT/Token/non-pin；UM 自举；U2 U8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548640" y="4681728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85800" y="4736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三句话结论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685800" y="49834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传输层已经够用：无连接可靠、松弛排序、多路径、不依赖无损、用户态权限、事件通知、DWQE——对照 Falcon 的功能清单 UB 一项不少，这是相对 RoCE 的实质优势（REPORT 6.3）。② 缺口在"RPC 感知"和"默认配置"：按消息的 SL 映射、CQE 时间戳、可编程 CC、接收侧资源回传、Jetty Group 有界队列（U3 U4）；bRPC-UB 默认 RC_TP、8 KB 最小块、TCP 握手建连把 UB 的三个卖点都关掉了（U1 U2 U8）——这些是软件就能改的。③ 最缺的是数据：每核 Mops、RTT、每 Gbps 核数、连接数 vs 延迟、通知→唤醒延迟、远端 Load/Store 延迟，UB 目前公开的只有超节点级 2.1 µs 和 HCOM ≤0.5 µs 软件目标；AI 路径上 EMS/XCCL/Mooncake 后端三条都在生产或主线，但 CPU 侧 URMA 一个延迟数字都没有（U9）。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方法：税的定义、两种占比口径、六个业务场景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 Kanev 等（ISCA 2015）的 datacenter tax 定义；A 口径按客户感受的端到端时延，B 口径按鲲鹏卖的 CPU 侧资源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1/4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税的定义与判定三问 · 两种占比口径 · 标注体系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什么是"税"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10512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 [01]：与业务逻辑无关、跨应用共有的底层例程。Google fleet 2015：allocation 6–7%、compression 5–6%、memcpy 4–5%、protobuf 3–4%、RPC 3%、hash 1–2%，合计 22–27% cycles（内核另占 18–20%）；RPC 全路径 7.1% [02]。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税 = 不属于模型前向计算（NPU 上的 matmul/attention/集合通信）、也不属于业务逻辑，而是围绕模型运行、被所有 AI 应用共享的通用底层开销。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判定三问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79392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换一个模型、换一个业务，它还在吗？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它在框架/运行时/内核的公共路径上，而不是应用代码里？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一个"不懂模型"的硬件单元能执行它？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三个都是，就是税。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3400" y="1325880"/>
            <a:ext cx="3749040" cy="4572000"/>
          </a:xfrm>
          <a:prstGeom prst="roundRect">
            <a:avLst>
              <a:gd name="adj" fmla="val 195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两种占比口径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端到端时延占比（客户感受）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121408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一次请求 / 一条轨迹的墙钟时间里，税占多少。例：Agent 请求里工具执行 59.8% [56]、LLM 调用引擎外 30–50% [66]、tokenize 在命中率→0.99 时占 TTFT 64% [68]。用来证明痛点，本 PPT 的排序依据。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· CPU 侧资源占比（鲲鹏卖的东西）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721608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周期 / 内存 GB / 内存带宽 / 互连字节里，税占多少。例：[01] 22–27% cycles、训练节点加载数据占 40% CPU + 55% 内存带宽 [53]、2 TB 节点托管 310 个 100K 会话（推算）。用来定发力点。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50292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两者都算；同一税种两口径可能相反（KV 搬移：A 小 B 大）。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321040" y="1325880"/>
            <a:ext cx="3291840" cy="4572000"/>
          </a:xfrm>
          <a:prstGeom prst="roundRect">
            <a:avLst>
              <a:gd name="adj" fmla="val 22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标注体系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1847088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0" y="18470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〔已发生〕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9738360" y="1828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生产系统/论文佐证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03920" y="2322576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0" y="232257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〔趋势〕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9738360" y="23042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有推理链无硬数据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03920" y="2798064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03920" y="27980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〔实测〕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9738360" y="277977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文献数字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503920" y="327355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03920" y="32735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〔推算〕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9738360" y="325526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本文算式，给出输入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503920" y="374904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03920" y="37490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→950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9738360" y="37307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920/950 上现在能做的软件·SKU·生态动作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503920" y="4224528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03920" y="42245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→960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9738360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 鲲鹏 960 及后续的架构动作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503920" y="4700016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03920" y="470001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〔待内部确认〕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9738360" y="46817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鲲鹏/UB 内部规格，不替代内部数据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503920" y="5175504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03920" y="51755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[NN]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9738360" y="51572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notes/ 笔记编号（p41 索引）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2/4  ·  先画客户看到的业务步骤，再在每步下面挂系统环节，税贴在系统环节上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六个业务场景：业务步骤、系统形态、业务指标与数据来源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554480"/>
                <a:gridCol w="3291840"/>
                <a:gridCol w="2468880"/>
                <a:gridCol w="192024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业务场景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业务步骤（客户视角）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系统形态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业务指标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电商交易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浏览 → 加购 → 下单 → 支付 → 履约；每步是一次落到几十到上百个微服务的请求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传统微服务（RPC 76% / MQ 23%）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下单 P99；峰值 QPS；单位请求 CPU 成本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[01][02][03][04][18][21][39]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信息流 / 短视频推荐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刷新 → 召回 → 粗排 → 精排 → 重排 → 下发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DLRM 级联（精排 = embedding 表 + MLP，CPU 推理）；AI 化 = 生成式推荐（HSTU / OneRec，transformer）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 100–200 ms；每千次刷新成本；embedding 表容量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[72][77][65]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智能客服 / 企业知识问答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提问 → 意图识别/改写 → 知识检索 → 生成回答 → 审核 → 转人工/工单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 + LLM（检索在 CPU，生成走 ⑥）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TTFT 1–2 s；每会话成本；拦截率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[52][66][73][57]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代码助手 / 编码 Agent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 → 计划 → 读代码 → 改代码 → 跑测试 → 提 PR（循环 8.8 轮）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在线会话（LLM 走 ⑥ + 工具 + 沙箱）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每任务 4.3 min、$9.7；工具执行 59.8%；缓存命中 95.7%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[56][57][67][50][51][64][61][74]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大模型训练与后训练平台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数据准备 → 预训练 → SFT → RL 后训练（rollout + 奖励沙箱）→ 评估 → 发布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训练作业 + RL 循环（host = 数据 + 状态 + 沙箱）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MFU；checkpoint 停顿；rollout 吞吐；每轨迹成本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[53][62][63][71][76]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模型即服务（MaaS API）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租户请求 → 鉴权/限流/路由 → 推理 → 流式返回 → 计费；③④ 的底座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推理服务平台（P/D 分离 + KV 池 + 前端）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 token 成本；TTFT/TPOT SLO；每 NPU 并发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[44][45][46][47][49][58][59][60][68][69][70][75]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035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与上一版的差别：推荐单列（DLRM 不是 LLM，"embedding 表查找"与"embedding 模型"是两回事）；RL 后训练并入 ⑤（同一平台的后半段）；MaaS 作为独立业务 ⑥，③④ 的 LLM 调用环节写"→ 走 ⑥"。向量数据库并入 ②③。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3/4  ·  这一页是"场景 → 税表 → 发力点"之间的桥；场景页的推导链按这里的机理展开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税的字典 1/2：每个税种为什么发生、卡在哪个硬件资源上、软件和硬件各能做什么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777240"/>
                <a:gridCol w="3840480"/>
                <a:gridCol w="1371600"/>
                <a:gridCol w="1463040"/>
                <a:gridCol w="1463040"/>
                <a:gridCol w="12801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出现在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微观机理（为什么发生）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瓶颈资源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软件发力点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硬件发力点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依据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 拷贝 / 搬移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①②④⑤⑥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用户态↔内核态 payload 拷贝、序列化本身的拷贝、NIC DMA 只能到 pinned 缓冲；AI 时代变成 KV/checkpoint 的 GB 级 D2H/H2D 与跨节点搬移、embedding 表的稀疏 gather。fleet 里多数拷贝 &lt;512 B，片外卸载只对 ≥425 B 划算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核周期 + 内存带宽；小拷贝时是核，大块时是 DMA/互连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S2 零拷贝序列化；S3 zerocopy 发送；S7 让 KV 绕过 CPU（UB/GPUDirect）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H5 片上搬移引擎（小拷贝也划算）；H11 UB 内存语义；H4 近内存 gather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[01][20][33][44][72]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#2 序列化 / 解析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①②③④⑤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protobuf：生成代码庞大（每消息 1.3 万行）、字段遍历 + varint + 拷贝，"拷贝是主体、元数据其次、编码最少"；JSON：分支密集的解析、SIMD 可加速；tensor：纯拷贝。都是长代码路径 → 前端取指失效、IPC 低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前端（i-cache/BTB）+ 拷贝带宽 + 单核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S2 零拷贝/二进制格式、增量序列化；S1 代码布局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H6 结构化数据变换引擎（近核、异步/链式接口）；H1 前端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[19][25][26][42][57]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#3 压缩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①⑤④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LZ 匹配 = 哈希表随机访问 + 分支密集，IPC 低；RPC 路径是 KB 级同步小 buffer，95% 字节用弱算法省 CPU；checkpoint/镜像/日志是大块吞吐口径；浮点张量直接压无效，需位平面变换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核周期；小 buffer 时是调用固定开销；大块时是内存带宽（要 in-line）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S9 KAE 接入点覆盖 RPC 库 / 文件格式 / checkpoint / zswap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H7 KAE 小 buffer 固定开销压到近核 2× 内、in-line/DMA 直达；H4 内存侧变换 + codec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[01][02][34][53][70][74]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#4 哈希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①④⑥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CRC/SHA/xxhash 有指令级支持；前缀缓存的块 hash 每 128–512 token 一次，量小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核周期（小）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指令级即可，不投引擎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[01][44][45]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#5 加密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①③⑤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TLS record AES-GCM 有 AES 指令，但每 record 固定开销在小 record（流式 token）时主导；握手是 RSA/ECC；数据层 TLS 把明文读一遍、密文写一遍——内存带宽放大 3×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 record：核固定开销；大块：内存带宽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S3 kTLS/批量帧、会话复用；S9 sec in-line 接数据层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H7 KAE sec in-line、不额外过内存；NIC/UB 侧 in-line TLS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[02][53][21]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#6 分配 / 状态驻留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①②④⑥⑤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malloc：指针追逐、cache/dTLB miss、锁争用、跨 chiplet 域 2.07×；AI 时代的新形态是"状态驻留"——KV/会话/沙箱状态占内存但不计算（会话中位 80% 空闲）、embedding 表 TB 级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分配：cache/TLB 延迟与一致性域；驻留：DRAM 容量、分层与恢复延迟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S4 分配器/大页；S7 状态卸载、TTL、zswap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H2 TLB；H4 内存容量/通道/UB 池；H7 zswap 压缩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[01][35][57][72][74]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内核网络栈 / RPC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①③④⑥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每消息一次 syscall + skb 分配 + 拷贝 + softirq/中断 + 上下文切换，100 Gbps 要 18 核；RPC 库的分发/线程/future；sidecar 再走一遍；每 token 流式小消息把这项放大；尾延迟来自排队与单线程速度。这些都是长代码路径 → 前端受限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核周期（前端 + 单核）；小消息固定开销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S3 内核旁路 / bRPC over UB（U1 U2 U6 U8）/ 接收端驱动；S1 代码布局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 前端；H3 单核频率；UB：U1 小消息/DWQE、U2 无连接、U3 RPC 感知传输、U4 NI 分发、U5 通知（p36–38）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[02][32][33][18][06][07]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035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出现在：① 电商 ② 推荐 ③ 客服 ④ 编码 Agent ⑤ 训练平台 ⑥ MaaS。"瓶颈资源"决定发力点落在硬件的哪一块；同一税种小尺寸时是核的事、大尺寸时是 DMA/带宽的事。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4/4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税的字典 2/2：新增的五个 AI 税种与向量、数据层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777240"/>
                <a:gridCol w="3840480"/>
                <a:gridCol w="1371600"/>
                <a:gridCol w="1463040"/>
                <a:gridCol w="1463040"/>
                <a:gridCol w="12801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出现在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微观机理（为什么发生）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瓶颈资源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软件发力点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硬件发力点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依据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#8 tokenize / detokenize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⑥④③⑤②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BPE：正则预分词 + 哈希查找 + 合并优先队列，逐序列串行、分支/哈希密集，HF 约 2–4 MB/s/核；前端对全文重算（O(上下文)），前缀缓存把 NPU 的活省掉后它成了 TTFT 剩下的最大项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单核 IPC + 前端核数；SIMD 帮助有限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S5 增量 tokenize、tokenized 缓存、前端池/DPU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H3 单核；H12 每 NPU 前端核数；（GPU/NPU 精确 BPE 是另一条路）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[68][69][58]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#9 采样 / 约束解码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top-k/top-p 对 15 万词表排序、logit 处理；语法约束的 FSM 掩码；CPU 与 NPU 之间每步同步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核周期 + CPU–NPU 往返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S6 采样/元数据搬到 NPU；XGrammar 与推理重叠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H9 提交路径；不投专用引擎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[44][73]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#10 调度 / launch / 同步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⑥⑤④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 decode step 回到 host：组 batch、块表、张量准备、Python 元数据、launch 图；页表遍历占 LLC stall 85%（碎片化虚拟地址空间）；共置干扰让 dispatch 间隙 1→40 µs；Arm 核 launch 比 x86 慢 17–22%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TLB/LLC/单核 IPC + CPU–NPU 链路延迟；对共置极敏感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S6 graph 模式、异步调度、分池；S4 大页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H2 TLB；H3 IPC；H9 UB 内存语义提交队列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[49][58][59][44]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#11 沙箱生命周期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④⑤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VM 创建 = stage-2 页表建立 + 内存清零 + 设备初始化；快照恢复 = 逐页缺页（执行慢 95%）；gVisor 类 syscall 拦截 2.2×、文件 216×；每任务容器镜像 1.2–2.5 GB；工作集中位 0.8 GB、峰值 28 GB；机密计算 I/O 开销 &lt;29.7%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虚拟化路径（stage-2 TLB、页拷贝/清零）、内存容量、syscall 路径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S8 进程级沙箱、快照预取、预热池、OverlayFS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H8 页表复制/清零卸载/快照 DMA/CCA/SMT 隔离；H2；H12 高密度款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[51][64][61][57][76]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#12 向量距离核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②③④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PQ 码扫描 = SIMD 点积/查表，18 GB/s/核、80% 内存带宽即上限；图索引 = 每跳一次随机访问；十亿级溢出 DRAM 后 SSD 放大 5.8–7.7×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内存带宽（DRAM 内）与访问粒度（溢出后）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S10 SVE 移植、LVQ/PQ 压缩、索引布局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H4 通道/带宽；H11 UB 第二层内存；H10 让 embedding/rerank 上 CPU；不投距离引擎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[52][65][73]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#13 数据层编解码 / 加载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⑤②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解压、解密、过滤、特征变换、JPEG/视频解码；训练节点仅加载张量即 40% CPU + 55% 内存带宽（TLS 解密 + Thrift 反序列化 + 网络栈）；预处理功耗可超训练器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内存带宽 + 核；每一步都过一遍内存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S9 KAE in-line 接 DPP/加载路径；DPP 与训练节点分离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H7 in-line zip/sec；H5 搬移引擎；H12 CPU 密集节点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[53][62][63]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#14 O(上下文) 逐轮重处理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④⑥③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框架未增量化：每轮把全部 messages 重新 JSON 序列化、网关重新解析、推理前端重新 tokenize、重新分块哈希；每请求 8.8 轮 × ~120K token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单核（与 #2 #8 同）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S5 + S2 增量化（纯软件可消）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无硬件对应；是评估 #2 #8 硬件收益的前提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[56][68][57]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035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#8 #10 #11 #14 是"AI 税"里最值得单独立项的四个：它们在老的 fleet 剖析里不存在，且各自有明确的硬件资源对应（单核/TLB/虚拟化路径）。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六个业务场景：业务流 → 税表 → 推导链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顶部箭头 = 客户看到的业务步骤；泳道 = 系统环节落在哪块硅（CPU 核 / 内存·存储 / 互连 / NPU）；琥珀标签 = 税种；红框 = 该场景最重的环节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业务：电商平台（阿里、Meta 类）· 传统微服务 · 数据全部实测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①  电商交易：从浏览到履约，每一步都是一次微服务请求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16152"/>
            <a:ext cx="960120" cy="384048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业务步骤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691640" y="1216152"/>
            <a:ext cx="1848917" cy="384048"/>
          </a:xfrm>
          <a:prstGeom prst="chevron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1368" y="1216152"/>
            <a:ext cx="1629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浏览商品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86861" y="1216152"/>
            <a:ext cx="1848917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6589" y="1216152"/>
            <a:ext cx="1629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加入购物车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82082" y="1216152"/>
            <a:ext cx="1848917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91810" y="1216152"/>
            <a:ext cx="1629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提交订单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677302" y="1216152"/>
            <a:ext cx="1848917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87030" y="1216152"/>
            <a:ext cx="1629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72523" y="1216152"/>
            <a:ext cx="1848917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82251" y="1216152"/>
            <a:ext cx="1629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 / 通知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996696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每个业务步骤 = 一次这样的请求（下图为其中一次的系统路径）：中位深 4、宽 472 的调用树 [03]；RPC 76% / MQ 23% [04]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1783080"/>
            <a:ext cx="11064240" cy="76581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178308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548890"/>
            <a:ext cx="11064240" cy="765810"/>
          </a:xfrm>
          <a:prstGeom prst="rect">
            <a:avLst/>
          </a:prstGeom>
          <a:solidFill>
            <a:srgbClr val="EFF4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54889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 / 存储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314700"/>
            <a:ext cx="11064240" cy="765810"/>
          </a:xfrm>
          <a:prstGeom prst="rect">
            <a:avLst/>
          </a:prstGeom>
          <a:solidFill>
            <a:srgbClr val="FDF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31470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互连（UB / RDMA / 网络）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80510"/>
            <a:ext cx="11064240" cy="765810"/>
          </a:xfrm>
          <a:prstGeom prst="rect">
            <a:avLst/>
          </a:prstGeom>
          <a:solidFill>
            <a:srgbClr val="F3E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408051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91640" y="191109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728216" y="192938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接入网关 / LB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终结、L7 路由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463165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63165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106549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106549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#5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810637" y="2165985"/>
            <a:ext cx="125403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936040" y="191109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72616" y="192938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 / 商品 / 用户服务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反序列化、分配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707565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07565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350949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50949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#6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055037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7739" y="2165985"/>
            <a:ext cx="0" cy="153162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7739" y="369760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180441" y="344271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217017" y="346100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扇出到下游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（library 或 sidecar）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951966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51966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95350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95350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299438" y="369760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62140" y="2165985"/>
            <a:ext cx="0" cy="153162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62140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424841" y="191109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61417" y="192938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库存/优惠/风控 ×N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序列化·压缩·哈希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196366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196366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839750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839750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#3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483134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483134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#4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543838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06540" y="2165985"/>
            <a:ext cx="0" cy="76581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06540" y="293179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669242" y="267690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705818" y="269519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 / 数据库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（叶子几乎全是 DB [03]）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440767" y="256717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440767" y="256717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788239" y="293179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850940" y="2931795"/>
            <a:ext cx="0" cy="76581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850940" y="369760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7913642" y="344271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950218" y="346100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订单事务 / MQ 投递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（MQ 23% [04]）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685167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685167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8328551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328551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9032639" y="369760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095341" y="2165985"/>
            <a:ext cx="0" cy="153162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095341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9158043" y="191109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194619" y="192938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聚合、序列化响应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929568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929568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9572952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572952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#3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0277040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339741" y="2165985"/>
            <a:ext cx="0" cy="153162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339741" y="369760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10402443" y="344271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439019" y="346100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响应回传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内核网络栈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1173968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1173968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48640" y="5029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685800" y="5084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业务指标</a:t>
            </a:r>
            <a:endParaRPr lang="en-US" sz="1050" dirty="0"/>
          </a:p>
        </p:txBody>
      </p:sp>
      <p:sp>
        <p:nvSpPr>
          <p:cNvPr id="92" name="Text 90"/>
          <p:cNvSpPr txBox="1"/>
          <p:nvPr/>
        </p:nvSpPr>
        <p:spPr>
          <a:xfrm>
            <a:off x="685800" y="5340096"/>
            <a:ext cx="3794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下单/支付链路 P99（客户直接感受）；峰值 QPS（大促）；每请求 CPU 成本 = 请求量 × 每请求 RPC 数 × 每 RPC 成本（REPORT 骨架公式）；生产 RPC 是 ms 级、KB 级：P90 请求 11.8 KB、P99 196 KB [02]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754880" y="502920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892040" y="50840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关键刻画</a:t>
            </a:r>
            <a:endParaRPr lang="en-US" sz="1050" dirty="0"/>
          </a:p>
        </p:txBody>
      </p:sp>
      <p:sp>
        <p:nvSpPr>
          <p:cNvPr id="95" name="Text 93"/>
          <p:cNvSpPr txBox="1"/>
          <p:nvPr/>
        </p:nvSpPr>
        <p:spPr>
          <a:xfrm>
            <a:off x="4892040" y="5340096"/>
            <a:ext cx="6583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税几乎全落在 CPU 核泳道，NPU 泳道为空——这是 Kanev 六项 + 内核栈的世界。A 口径"平均小、尾部大"：RPC 延迟税均值 2%、尾部 96% [02]，sidecar 形态 P99 +180%、CPU +273% [18][21]；B 口径稳定：tax 22–27% cycles + 内核 18–20% [01]，RPC 全路径 7.1% [02]。阿里 top 1% 服务占 87% 调用 [39]。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电商交易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①  税表：A 端到端时延 / B CPU 侧资源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  <a:gridCol w="457200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A：端到端时延占比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B：CPU 侧资源占比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网络栈 / RPC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延迟税均值 2%，尾部可达 96% [02]；sidecar P99 +180% [18]、+273% CPU [21]；尾延迟由调用树最慢 1–2 跳决定 [07]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全路径 7.1% cycles（压缩 3.1 / TCP 1.7 / 序列化 1.2 / 库 1.1）[02]；内核 18–20% [01]；100 Gbps 内核栈需 18 核 [32]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#2 序列化 / 解析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轻逻辑微服务里 RPC 层占 40–90% cycles [13]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3–4% [01]；全口径 9.6%、可加速 3.45% [25]；拷贝是主体、元数据其次、编码最少 [19][26]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#3 压缩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（时延占比小，吞吐口径）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5–6% [01]；RPC 路径 3.1% [02]；热点服务 10–50% [34]；95% 字节用弱算法以省 CPU [01][34]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 拷贝 / 搬移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memcpy 4–5% [01]；网络栈拷贝 &gt;50–60% [33]；多数拷贝 &lt;512 B [20]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#6 内存分配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6–7%，最大单项 [01]；fleet A/B +1.4% 吞吐 [35]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#4 哈希 / #5 加密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hash 1–2% [01]；加密 &lt;0.2%（连接复用）[02]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客户感受 = 尾延迟（CRISP 关键路径 [07]）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tax 22–27% cycles + 内核 18–20% [01]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193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46811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这条业务是后面五个场景的底座：③④⑥ 的编排层、② 的级联流水线都跑在同样的微服务栈上，这些老税一项都没消失，只是被更大的新税盖住。对电商本身，A 口径的痛点是尾延迟，B 口径是稳定的 1/4 fleet 周期。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电商交易  ·  每行 = 业务步骤 → 系统环节 → 税 → 机理/瓶颈资源 → 发力点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①  推导链：从"下单"到"为什么要加大 L1-I"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65960"/>
                <a:gridCol w="3977640"/>
                <a:gridCol w="1783080"/>
                <a:gridCol w="1783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业务步骤 → 系统环节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税（数字）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机理 / 瓶颈资源（为什么、卡在哪）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软件发力点（→950）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硬件发力点（→960 / SKU）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下单 / 支付 → 网关 + RPC 扇出（每请求 472 次 [03]）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RPC 全路径 7.1% cycles、延迟税尾部 96% [02]；内核 18–20% [01]；sidecar P99 +180% [18]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 RPC 都走一遍网关 → RPC 库 → 序列化 → 内核栈的长代码路径；二进制数百 MB、共享库多 → 前端取指失效：Front-end bound 15–30%、5–10% cycles 取不到指令、i-cache 工作集年增 27% [01]；生产 L1-I MPKI 7–56 [05]；tax 代码 IPC 1.0/0.7 vs 核心计算 1.4 [41]。920 的 L3 取指带宽"接近从 DRAM 取指"、64 项 BTB（REPORT 6.1）正是这条路径的软肋。瓶颈资源：前端（L1-I 容量、取指带宽、BTB、预取）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 PGO/BOLT/text 大页把热路径塞进 L1-I；S3 bRPC over UB / 内核旁路缩短路径本身（U1 inline+DWQE、U2 RM 无连接、U6 零拷贝接缝）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 更大 L1-I、L2/L3 取指带宽、BTB、指令预取（DCPerf：L1-I 减到 1/4 Perf/W −57%、cache 微码优化 FB Web +38% [05]）；U3/U4 UB Controller 做 RPC 感知传输与 NI 分发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下单 → 库存 / 优惠 / 风控 ×N：请求/响应序列化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#2 protobuf 3–4% [01]；轻逻辑服务 RPC 层 40–90% cycles [13]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生成代码庞大（每消息 1.3 万行 [42]），字段遍历 + varint + 拷贝；"拷贝是主体、元数据其次、编码最少" [19][26]。瓶颈：前端 + 拷贝带宽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S2 零拷贝序列化（zBuffer 25 ns、比 Cornflakes 7× [19]）作 UB 的 SGE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H6 结构化数据变换引擎（近核，异步/链式接口，[20][41] 异步比同步好 1.3×）；H1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各服务 → 压缩响应 / 日志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#3 compression 5–6% [01]；RPC 路径 3.1% [02]；热点服务 10–50% [34]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LZ 匹配 = 哈希表随机访问 + 分支密集，IPC 低；RPC 路径是 KB 级同步小 buffer，95% 字节用弱算法省 CPU [01][34]。瓶颈：核周期 + 调用固定开销（PCIe 卡慢 5.6× [34]）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S9 KAE 接入 RPC 库压缩点与文件格式（存储平台压缩占 tax 14–31% [41]）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H7 KAE 小 buffer 固定开销压到近核 2× 内（REPORT 6.2）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反序列化 / 业务逻辑 → 内存分配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#6 allocation 6–7%，最大单项 [01]；TCMalloc 4.3% [35]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指针追逐、cache/dTLB miss、锁争用；跨 chiplet 域延迟 2.07× [35]；线程超订靠自旋 [20]。瓶颈：cache/TLB 延迟、一致性域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S4 分配器调优 + 大页（fleet A/B +1.4% 吞吐 [35]）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H2 TLB；H4 一致性域 / NUCA（950 mesh 待测）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扇出 / 响应 → 内核网络栈拷贝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 memcpy 4–5% [01]；网络栈拷贝 &gt;50–60% CPU [33]；多数拷贝 &lt;512 B [20]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用户↔内核 payload 拷贝、skb、softirq；小拷贝无法片外卸载（阈值 ≥425 B [20]）。瓶颈：核周期 + 内存带宽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S3 zerocopy 发送 / io_uring / UB 直写（U6 qbuf 预注册 + non-pin SVA）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H5 片上搬移引擎（DPA 作 DSA，小拷贝也划算）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整条链路 → 尾延迟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主频差 9% → 尾延迟差 1.5× [07]；微服务比单体对单线程更敏感 [06]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每跳延迟预算紧，排队 + 单线程速度决定 P99；关键路径上只有 1–2 跳真正决定尾部 [07]。瓶颈：单核频率/IPC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S11 关键路径识别（CRISP），把敏感服务放到快核；U7 同域高频服务对用 OBMM 共享内存 RPC（1.5 vs 17 µs）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H3 关键路径核：高频大核；SMT 对 P99 的影响待测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394960"/>
            <a:ext cx="11247120" cy="1024128"/>
          </a:xfrm>
          <a:prstGeom prst="roundRect">
            <a:avLst>
              <a:gd name="adj" fmla="val 714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54406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从业务到硅的一条完整推导链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660136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"下单"这个业务动作 = 一次 472 跳的 RPC 树 → 每一跳都要跑网关/RPC 库/序列化/内核栈这些与业务无关的公共代码 → 这些代码路径长、二进制大，Google [01]、Meta DCPerf [05]、Google 大数据平台 [41] 三份独立剖析都指出它们的第一瓶颈是前端取指（15–30% 的流水线 slot 在等指令）→ 鲲鹏 920 公开可见的三个微架构弱点（L3 取指带宽、小 BTB、慢 L2 TLB）正好落在这条路径上 → 所以电商这类客户的 fleet 平均最大杠杆是 H1 前端（配合 S1 代码布局），而不是任何加速器；加速器（H5–H7）吃的是拷贝/序列化/压缩这三项各 3–6% 的具体税。DCPerf 把这条链闭合：L1-I 只有 1/4 的 ARM SKU Perf/W −57%；一次 cache 替换微码优化让 FB Web +38%、Perf/W +47%，SPEC 上完全看不到 [05]。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业务：抖音/快手/Feed 类 · DLRM 级联（不是 LLM）· AI 化 = 生成式推荐（HSTU / OneRec）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②  信息流 / 短视频推荐：一次刷新的召回 → 排序 → 下发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16152"/>
            <a:ext cx="960120" cy="384048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业务步骤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691640" y="1216152"/>
            <a:ext cx="1516380" cy="384048"/>
          </a:xfrm>
          <a:prstGeom prst="chevron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1368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用户刷新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54324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64052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召回（数千候选）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17008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6736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粗排（数百）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9692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89420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精排（DLRM）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342376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52104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 / 混排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05060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14788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下发十几条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996696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端到端预算 100–200 ms（业界惯例，推算）；2019–20 年推荐已占 Facebook AI 推理周期 79% [72]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1783080"/>
            <a:ext cx="11064240" cy="76581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178308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548890"/>
            <a:ext cx="11064240" cy="765810"/>
          </a:xfrm>
          <a:prstGeom prst="rect">
            <a:avLst/>
          </a:prstGeom>
          <a:solidFill>
            <a:srgbClr val="EFF4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254889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 / 存储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314700"/>
            <a:ext cx="11064240" cy="765810"/>
          </a:xfrm>
          <a:prstGeom prst="rect">
            <a:avLst/>
          </a:prstGeom>
          <a:solidFill>
            <a:srgbClr val="FDF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31470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互连（UB / RDMA / 网络）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080510"/>
            <a:ext cx="11064240" cy="765810"/>
          </a:xfrm>
          <a:prstGeom prst="rect">
            <a:avLst/>
          </a:prstGeom>
          <a:solidFill>
            <a:srgbClr val="F3E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408051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191109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728216" y="192938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+ 特征拼装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用户/上下文特征序列化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463165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63165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06549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06549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810637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73339" y="2165985"/>
            <a:ext cx="0" cy="76581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73339" y="293179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936040" y="267690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972616" y="269519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多路召回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协同过滤 + 双塔向量 ANN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707565" y="256717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707565" y="256717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#12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350949" y="256717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350949" y="256717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#6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055037" y="293179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7739" y="2165985"/>
            <a:ext cx="0" cy="76581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7739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180441" y="191109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217017" y="192938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轻量模型（CPU）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951966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951966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#6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299438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62140" y="2165985"/>
            <a:ext cx="0" cy="76581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62140" y="293179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424841" y="267690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61417" y="269519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精排：embedding 表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查找（ID→向量 gather）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96366" y="256717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196366" y="256717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839750" y="256717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839750" y="256717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#6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543838" y="293179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06540" y="2165985"/>
            <a:ext cx="0" cy="76581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06540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669242" y="191109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705818" y="192938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精排 DLRM：MLP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（CPU 推理；或 NPU）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788239" y="2165985"/>
            <a:ext cx="125403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7913642" y="191109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950218" y="192938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 / 混排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业务规则、多样性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685167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685167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9032639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95341" y="2165985"/>
            <a:ext cx="0" cy="153162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95341" y="369760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9158043" y="344271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194619" y="346100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下发 + 日志/特征回流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（训练样本）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9929568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929568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9572952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572952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#3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10402443" y="420852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dash"/>
          </a:ln>
        </p:spPr>
      </p:sp>
      <p:sp>
        <p:nvSpPr>
          <p:cNvPr id="78" name="Text 76"/>
          <p:cNvSpPr txBox="1"/>
          <p:nvPr/>
        </p:nvSpPr>
        <p:spPr>
          <a:xfrm>
            <a:off x="10439019" y="422681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化后：生成式推荐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替换级联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1173968" y="409879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1173968" y="409879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#8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548640" y="5029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85800" y="5084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业务指标</a:t>
            </a:r>
            <a:endParaRPr lang="en-US" sz="1050" dirty="0"/>
          </a:p>
        </p:txBody>
      </p:sp>
      <p:sp>
        <p:nvSpPr>
          <p:cNvPr id="83" name="Text 81"/>
          <p:cNvSpPr txBox="1"/>
          <p:nvPr/>
        </p:nvSpPr>
        <p:spPr>
          <a:xfrm>
            <a:off x="685800" y="5340096"/>
            <a:ext cx="3794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 100–200 ms；每千次刷新成本；embedding 表容量（TB 级）与内存带宽；生成式推荐上线后：OneRec 承接 25% QPS、运营成本降到级联的 10.6%、MFU 23.7%/28.8% [77]；HSTU 1.5T 参数、线上 A/B +12.4% [77]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754880" y="502920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892040" y="50840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关键刻画</a:t>
            </a:r>
            <a:endParaRPr lang="en-US" sz="1050" dirty="0"/>
          </a:p>
        </p:txBody>
      </p:sp>
      <p:sp>
        <p:nvSpPr>
          <p:cNvPr id="86" name="Text 84"/>
          <p:cNvSpPr txBox="1"/>
          <p:nvPr/>
        </p:nvSpPr>
        <p:spPr>
          <a:xfrm>
            <a:off x="4892040" y="5340096"/>
            <a:ext cx="6583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③ 的 RAG 不同：这里的"embedding"是 ID → 向量的表查找（内存 gather，性能由内存带宽/延迟主导，RecNMP 近内存 9.8× [72]），不是 transformer 编码器。AI 化改造的真正形态是用 transformer 序列模型替换级联（HSTU 把排序改成序列转导；OneRec 单阶段合并召回 + 排序），算力主体从 CPU 内存系统迁到 NPU，但 embedding 表、序列特征拼装/序列化、ANN 召回三项仍留在 CPU/内存侧 [77]。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信息流推荐  ·  DLRM 级联（现状）与生成式推荐（AI 化）分开标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②  税表：A 端到端时延 / B CPU 侧资源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023360"/>
                <a:gridCol w="384048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A：端到端时延占比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B：CPU 侧资源占比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#1/#6 embedding 表查找（精排）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推荐推理性能由内存受限的稀疏 embedding 操作主导，带宽饱和 [72]；批大小决定延迟/吞吐取舍 [72]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推荐占 Facebook AI 推理周期 79%（top 模型 65%）[72]；表 TB 级、不规则 gather；近内存处理内存延迟 9.8×、吞吐 4.2× [72]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#12 ANN 召回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双塔向量召回是带宽型 SIMD 扫描（与 RAG 检索同源 [52]）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PQ 扫描 18 GB/s/核、80% 内存带宽 [52]；溢出 DRAM 后 SSD 放大 5.8–7.7× [65]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#2/#7 级联多阶段传递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每阶段一次特征序列化 + RPC；级联本身就是税：OneRec 单阶段后运营成本 10.6% [77]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特征序列化（推算）；与 ① 的编排层同构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已发生·实测（业务级）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#3 日志 / 样本回流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（离线）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日志与训练样本压缩、回流到 ⑤ 的数据层 [53]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生成式推荐（AI 化后）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算力主体迁到 NPU（HSTU 自定义注意力比 FA2 快 5.3–15.2× [77]）；级联的 RPC/序列化消失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仍在 CPU/内存侧：embedding 表容量、序列特征拼装/tokenize（#8 新增）、ANN 召回；host 税形态趋同 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趋势·实测（Meta/快手已上线）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4965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23951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口径下推荐的税是级联结构本身（多阶段传递）与 embedding 表的内存延迟；B 口径下它是最早、最大的 CPU 侧 AI 负载，对 CPU 的要求是内存容量 + 带宽 + 不规则 gather，与核数关系不大。AI 化之后：级联税被单阶段生成消掉，内存侧的税留下并向 MaaS 的 host 税靠拢。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信息流推荐  ·  DLRM 级联（现状）+ 生成式推荐（AI 化）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②  推导链：从"一次刷新"到"为什么是内存系统而不是核数"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65960"/>
                <a:gridCol w="3977640"/>
                <a:gridCol w="1783080"/>
                <a:gridCol w="1783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业务步骤 → 系统环节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税（数字）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机理 / 瓶颈资源（为什么、卡在哪）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软件发力点（→950）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硬件发力点（→960 / SKU）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精排 → embedding 表查找（稀疏 ID → 向量）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#1/#6 推荐推理由内存受限的稀疏 embedding 操作主导 [72]；占 AI 推理周期 79% [72]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每个稀疏特征一次随机 gather，表 TB 级、无局部性，内存带宽饱和后核空转；批大小决定延迟/吞吐取舍。瓶颈：内存带宽 + 容量 + 延迟（近内存处理 9.8× 的原因 [72]）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S10 gather 访存模式优化（批合并、预取）；S7 表溢出时放 UB 内存池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H4 通道数 / 带宽（MRDIMM 类）、容量；H5 近内存 gather 引擎（RecNMP 路线）；H11 UB 远端读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召回 → 双塔向量 ANN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#12 带宽型：PQ 扫描 18 GB/s/核、80% 内存带宽 [52]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SIMD 点积/查表已达带宽上限；图索引每跳一次随机访问；溢出 DRAM 后 SSD 放大 5.8–7.7× [65]。瓶颈：带宽 + 访问粒度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S10 SVE 移植、LVQ/PQ 压缩（SVS 20.7× 低内存场景 [73]）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H4；H11 UB 作第二层内存（细粒度随机读优于 SSD [65]）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召回 → 粗排 → 精排 → 重排：级联各阶段的特征传递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#2/#7 级联本身是税：OneRec 单阶段后运营成本降到 10.6% [77]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每阶段一次特征序列化 + RPC，机理同 ①（前端 + 拷贝 + 内核栈）；候选数从数千到数百到十几，每级都要序列化一遍候选集。瓶颈：前端 + 拷贝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S2 二进制特征格式 / 零拷贝；S1 代码布局；（业务侧：单阶段生成消掉级联）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H6 结构化数据变换引擎；H1 前端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下发 → 日志 / 样本回流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#3 大块离线压缩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日志、曝光/点击样本压缩后回流到训练数据层（⑤ 的 #13）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S9 KAE zip 接日志/样本管道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H7 KAE zip（大块吞吐口径）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化后 → 生成式推荐（HSTU / OneRec）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#8 序列 token 化；算力上 NPU（HSTU 比 FA2 快 5.3–15.2× [77]）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用户行为序列当 token 序列生成，transformer 在 NPU；CPU 侧剩下：embedding 表（仍在）、序列特征拼装 + tokenize、ANN 召回、前端——与 ⑥ 的 host 税形态趋同。瓶颈：单核 + 前端核数 + 内存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S5 前端池 / 增量 tokenize；S6 host 路径；S7 表放 UB 池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H10 SME2 让小模型前端上 CPU；H9 CPU→NPU 提交；H4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394960"/>
            <a:ext cx="11247120" cy="1024128"/>
          </a:xfrm>
          <a:prstGeom prst="roundRect">
            <a:avLst>
              <a:gd name="adj" fmla="val 714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54406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从业务到硅的一条完整推导链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660136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"一次刷新"要在 100–200 ms 内完成召回 → 粗排 → 精排 → 重排 → 精排的 DLRM 不是算力问题而是内存问题：每个稀疏特征一次随机 gather、表 TB 级，带宽一饱和核就空转（RecNMP 用近内存处理拿到 9.8× 就是证据）→ 所以推荐客户要的鲲鹏是通道数、带宽、容量（H4）和把溢出的表放进 UB 内存池（H11），核数是次要的。AI 化之后（HSTU/OneRec 已上线）算力主体迁到 NPU，级联的 RPC/序列化税被单阶段生成消掉（OPEX 10.6%），但 embedding 表、序列特征拼装、召回三项仍留在 CPU/内存侧——这时推荐变成 ⑥ 的一个租户，它的 CPU 侧要求与 MaaS 前端一样：单核、每 NPU 的前端核数、内存池。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业务：客服机器人、企业知识库助手 · RAG + LLM（transformer）· 生成环节走 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③  智能客服 / 企业知识问答：一次提问的检索增强生成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16152"/>
            <a:ext cx="960120" cy="384048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业务步骤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691640" y="1216152"/>
            <a:ext cx="1516380" cy="384048"/>
          </a:xfrm>
          <a:prstGeom prst="chevron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1368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用户提问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54324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64052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 / 改写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17008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6736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知识检索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9692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89420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生成回答（流式）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342376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52104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 / 护栏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05060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14788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 / 工单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996696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TTFT 目标 1–2 s（推算）；检索占端到端 &lt;1%（长上下文）– 86%（超大规模检索）[52]；LLM 调用 30–50% 延迟在引擎外 [66]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1783080"/>
            <a:ext cx="11064240" cy="76581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178308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548890"/>
            <a:ext cx="11064240" cy="765810"/>
          </a:xfrm>
          <a:prstGeom prst="rect">
            <a:avLst/>
          </a:prstGeom>
          <a:solidFill>
            <a:srgbClr val="EFF4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254889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 / 存储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314700"/>
            <a:ext cx="11064240" cy="765810"/>
          </a:xfrm>
          <a:prstGeom prst="rect">
            <a:avLst/>
          </a:prstGeom>
          <a:solidFill>
            <a:srgbClr val="FDF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31470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互连（UB / RDMA / 网络）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080510"/>
            <a:ext cx="11064240" cy="765810"/>
          </a:xfrm>
          <a:prstGeom prst="rect">
            <a:avLst/>
          </a:prstGeom>
          <a:solidFill>
            <a:srgbClr val="F3E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408051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191109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728216" y="192938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/ 会话服务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HTTP、鉴权、JSON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463165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63165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06549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06549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#5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749933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749933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810637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73339" y="2165985"/>
            <a:ext cx="0" cy="229743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73339" y="446341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936040" y="420852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972616" y="422681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 / 查询改写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（小模型或 LLM）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707565" y="409879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707565" y="409879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#8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055037" y="4463415"/>
            <a:ext cx="125403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180441" y="420852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217017" y="422681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模型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（transformer 编码器）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299438" y="446341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62140" y="2931795"/>
            <a:ext cx="0" cy="153162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62140" y="293179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424841" y="267690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461417" y="269519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+ 关键词检索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HNSW / IVF-PQ 扫描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96366" y="256717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196366" y="256717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#12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839750" y="256717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839750" y="256717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#6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543838" y="293179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06540" y="2165985"/>
            <a:ext cx="0" cy="76581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06540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669242" y="191109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705818" y="192938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rerank + prompt 拼装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/ 序列化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440767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440767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084151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084151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#14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788239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50940" y="2165985"/>
            <a:ext cx="0" cy="229743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50940" y="446341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7913642" y="420852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950218" y="422681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走场景 ⑥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685167" y="409879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685167" y="409879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#8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8328551" y="409879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328551" y="409879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#10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032639" y="446341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095341" y="3697605"/>
            <a:ext cx="0" cy="76581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095341" y="369760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9158043" y="344271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194619" y="346100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流式返回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token 一条小消息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9929568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929568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9572952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572952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#5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0277040" y="369760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339741" y="2165985"/>
            <a:ext cx="0" cy="153162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339741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10402443" y="191109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0439019" y="192938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审核/护栏/工单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（辅助模型 + ①）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11173968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1173968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10817352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0817352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48640" y="5029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685800" y="5084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业务指标</a:t>
            </a:r>
            <a:endParaRPr lang="en-US" sz="1050" dirty="0"/>
          </a:p>
        </p:txBody>
      </p:sp>
      <p:sp>
        <p:nvSpPr>
          <p:cNvPr id="92" name="Text 90"/>
          <p:cNvSpPr txBox="1"/>
          <p:nvPr/>
        </p:nvSpPr>
        <p:spPr>
          <a:xfrm>
            <a:off x="685800" y="5340096"/>
            <a:ext cx="3794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TTFT 1–2 s、每会话成本、拦截率；RAG 问答的非 LLM 模块占端到端 &gt;50% [73]；生产链式应用 30–50%（最坏 &gt;70%）的延迟在 LLM 引擎之外 [66]；94% 的请求 token 跨用户重复 [66]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754880" y="502920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892040" y="50840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关键刻画</a:t>
            </a:r>
            <a:endParaRPr lang="en-US" sz="1050" dirty="0"/>
          </a:p>
        </p:txBody>
      </p:sp>
      <p:sp>
        <p:nvSpPr>
          <p:cNvPr id="95" name="Text 93"/>
          <p:cNvSpPr txBox="1"/>
          <p:nvPr/>
        </p:nvSpPr>
        <p:spPr>
          <a:xfrm>
            <a:off x="4892040" y="5340096"/>
            <a:ext cx="6583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这里的"embedding"是 transformer 编码器（算力），检索是 CPU 上的带宽型扫描（PQ 18 GB/s/核、80% 内存带宽 [52]）。payload 从 KB 级结构化数据变成向量（2–16 KB）、prompt（16–512 KB）、token 流——LLM 调用的中位 payload 落在传统 RPC 的 P90–P99 区间 [02]；延迟预算从 ~100 ms 变成 1–10 s，传统 µs 级税被稀释，但编排层的 RPC 量与每条 payload 都上升。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智能客服 RAG  ·  生成环节（tokenize、host 调度、KV）的税记在 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③  税表：A 端到端时延 / B CPU 侧资源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206240"/>
                <a:gridCol w="384048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A：端到端时延占比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B：CPU 侧资源占比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#12 向量检索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超大规模检索（640 亿向量、92 TB）8B 模型短序列 86.3%、长序列 30.9%；长上下文范式 &lt;1% [52]；RAG 问答非 LLM 模块 &gt;50% [73]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ScaNN PQ 扫描 18 GB/s/核、内存带宽利用率 ~80%——带宽型，SIMD 已近上限 [52]；溢出 DRAM 后 SSD 索引放大 5.8–7.7× [65]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#7/#2 编排 RPC 与序列化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API 调用 30–50% 延迟在引擎外（最坏 &gt;70%），随 prompt 变长而增大 [66]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embedding 以 FP32 JSON 传输时膨胀 2–3×、解析再高一个量级（推算）；一次请求 &gt;20 MB embedding [57]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流式小消息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 token 一次 JSON+HTTP/2+TLS+syscall；有效载荷占比 2–5%（推算）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万并发流 × 50 tok/s = 500 万条/s，按 [33] 的 2–5 µs/条 ≈ 10–25 核（推算）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#2/#14 prompt 拼装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多轮客服会话每轮重新拼装全量上下文（同 ④ 的形态，量级更小）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（推算）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已发生·推算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#8/#10/#1（生成环节）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见场景 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见场景 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4965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23951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口径下最大的两项都不在模型里：检索（配置相关，&lt;1%–86%）和引擎外编排（30–50%）。B 口径下检索是"内存带宽"而不是"核"的事，与 ② 的 ANN 召回同源——对 SKU 的要求是通道数与带宽。压缩/加密在这条业务里退居次要（流式 TLS 是每 record 固定开销，KAE 帮不上）。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智能客服 RAG  ·  生成环节（tokenize / 调度 / KV）的链在 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③  推导链：从"一次提问"到"检索要带宽、编排要前端"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65960"/>
                <a:gridCol w="3977640"/>
                <a:gridCol w="1783080"/>
                <a:gridCol w="1783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业务步骤 → 系统环节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税（数字）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机理 / 瓶颈资源（为什么、卡在哪）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软件发力点（→950）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硬件发力点（→960 / SKU）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知识检索 → 向量 + 关键词检索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#12 检索占端到端 &lt;1%（长上下文）– 86%（超大规模检索）[52]；RAG 问答非 LLM 模块 &gt;50% [73]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PQ 码扫描 = SIMD 点积/查表，18 GB/s/核、80% 内存带宽即上限 [52]；加速器越快、序列越短、每次检索的查询向量越多，检索占比越高 [52]。瓶颈：内存带宽（DRAM 内）、访问粒度（溢出后）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S10 faiss/SVS/ScaNN 的 SVE 路径与带宽利用率基线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H4 通道/带宽；H11 UB 第二层内存 [65]；H10 让 embedding/rerank 模型上 CPU（Neoverse V2 INT8 4.8–6.2× [74]）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编排 → 意图识别 / 检索 / rerank / LLM 的多次调用往返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#7/#2 LLM API 调用 30–50% 延迟在引擎外，最坏 &gt;70%，随 prompt 变长而增大 [66]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客户端–网关–引擎"聊天式"往返：前一调用输出要绕回客户端再作为下一调用输入；每次往返走一遍网关/JSON/内核栈（机理同 ①，前端 + 拷贝 + 网络栈），且 payload 是 16–512 KB 的 prompt（落在传统 RPC 的 P90–P99 区间 [02]）。瓶颈：前端 + 拷贝带宽 + 内核栈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S3 服务端编排（Parrot 把往返压进引擎内，11.7× [66]）、bRPC over UB（U1 U2）；S2 二进制/fp16 向量与 prompt 零拷贝（U6）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 前端；H6 变换引擎（JSON + tensor）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生成回答 → 流式返回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#7/#5 每 token 一条小消息：JSON+HTTP/2+TLS record+syscall，有效载荷 2–5%（推算）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 token 一次序列化 + TLS record（小 record 固定开销主导）+ write + 内核栈；10 万流 ≈ 500 万条/s ≈ 10–25 核（按 [33] 2–5 µs/条推算）。瓶颈：内核栈每消息固定开销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S3 批量帧 / kTLS / 用户态栈；U10 超节点内流式 token 走 UMQ 小消息 + 批量帧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 前端；NIC/UB 侧 in-line TLS（小 record 时 KAE sec 无效）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多轮对话 → prompt 拼装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#2/#14 每轮全量重编码（同 ④，量级小）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框架未增量化：每轮把全部历史 JSON 序列化、网关解析、前端重 tokenize。瓶颈：单核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S2 + S5 增量化（纯软件可消）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审核 / 护栏 / 转人工 → 辅助模型 + 工单微服务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#2/#7 辅助 LLM 调用 + ① 的微服务税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安全护栏、循环检测等辅助调用是"控制面税"（35K 会话额外 2,684 次调用 [57]）；工单/CRM 是传统微服务，机理同 ①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 S3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394960"/>
            <a:ext cx="11247120" cy="1024128"/>
          </a:xfrm>
          <a:prstGeom prst="roundRect">
            <a:avLst>
              <a:gd name="adj" fmla="val 714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54406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从业务到硅的一条完整推导链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660136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"一次提问"的时延 = 检索 + 编排往返 + 生成 + 流式 → 检索是 CPU 上的带宽型扫描（PQ 18 GB/s/核、80% 带宽），加速器越快它占比越高（&lt;1%→86%），所以客服客户要的第一个东西是内存带宽（H4），第二是让 embedding/rerank 这类小模型留在 CPU 上（H10）→ 编排层的 30–50% 是每次调用绕客户端一圈的网关/JSON/内核栈成本，机理与电商完全相同（前端 + 拷贝），所以 H1/H6 同样适用，而软件上服务端编排（Parrot）能先消掉一半 → 生成环节的 tokenize/调度/KV 税全部计入 ⑥。这条业务里 KAE 现有引擎几乎没有落点：流式 TLS 是小 record，压缩几乎不出现。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业务：Claude Code / Codex 类 · Agent 在线会话 · LLM 调用走 ⑥、工具在沙箱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④  代码助手 / 编码 Agent：一个开发任务的自治循环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16152"/>
            <a:ext cx="960120" cy="384048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业务步骤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691640" y="1216152"/>
            <a:ext cx="1516380" cy="384048"/>
          </a:xfrm>
          <a:prstGeom prst="chevron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1368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开发者指令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54324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64052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17008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6736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读代码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9692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89420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改代码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342376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52104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跑测试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05060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14788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 PR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996696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每请求平均 8.8 次 LLM 调用 + 10.8 次工具调用、4.3 min（中位 38 s，p90 6.4 min）[56]；中间步骤由 Agent 自治循环完成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1783080"/>
            <a:ext cx="11064240" cy="76581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178308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548890"/>
            <a:ext cx="11064240" cy="765810"/>
          </a:xfrm>
          <a:prstGeom prst="rect">
            <a:avLst/>
          </a:prstGeom>
          <a:solidFill>
            <a:srgbClr val="EFF4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254889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 / 存储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314700"/>
            <a:ext cx="11064240" cy="765810"/>
          </a:xfrm>
          <a:prstGeom prst="rect">
            <a:avLst/>
          </a:prstGeom>
          <a:solidFill>
            <a:srgbClr val="FDF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31470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互连（UB / RDMA / 网络）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080510"/>
            <a:ext cx="11064240" cy="765810"/>
          </a:xfrm>
          <a:prstGeom prst="rect">
            <a:avLst/>
          </a:prstGeom>
          <a:solidFill>
            <a:srgbClr val="F3E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408051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191109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728216" y="192938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指令入口 / 会话服务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463165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63165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810637" y="2165985"/>
            <a:ext cx="125403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936040" y="191109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72616" y="192938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上下文组装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全量序列化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707565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07565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350949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50949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#14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055037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7739" y="2165985"/>
            <a:ext cx="0" cy="229743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7739" y="446341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180441" y="420852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217017" y="422681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调用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走场景 ⑥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951966" y="409879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51966" y="409879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#8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95350" y="409879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95350" y="409879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#10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299438" y="446341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62140" y="3697605"/>
            <a:ext cx="0" cy="76581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62140" y="369760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424841" y="344271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61417" y="346100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tool_call 解析 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调用（每消息一 POST）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196366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196366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839750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839750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543838" y="369760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06540" y="2165985"/>
            <a:ext cx="0" cy="153162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606540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6669242" y="191109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705818" y="192938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沙箱执行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Bash · Read · Edit · 测试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440767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440767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#11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788239" y="2165985"/>
            <a:ext cx="125403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7913642" y="191109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950218" y="192938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结果拼回上下文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回到②，×N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685167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685167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8328551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328551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#14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7822202" y="2430018"/>
            <a:ext cx="130187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↺ 每请求 8.8 轮 [56]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9032639" y="216598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095341" y="2165985"/>
            <a:ext cx="0" cy="76581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095341" y="2931795"/>
            <a:ext cx="6270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9158043" y="267690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194619" y="269519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空闲驻留（等人）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/ 沙箱 / 会话状态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929568" y="256717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929568" y="256717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#6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9032639" y="2165985"/>
            <a:ext cx="1260076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292715" y="2165985"/>
            <a:ext cx="0" cy="153162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292715" y="3697605"/>
            <a:ext cx="109728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10402443" y="3442716"/>
            <a:ext cx="1118997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0439019" y="3461004"/>
            <a:ext cx="104584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 PR / CI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（① 微服务 + git）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1173968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1173968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548640" y="5029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85800" y="5084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业务指标</a:t>
            </a:r>
            <a:endParaRPr lang="en-US" sz="1050" dirty="0"/>
          </a:p>
        </p:txBody>
      </p:sp>
      <p:sp>
        <p:nvSpPr>
          <p:cNvPr id="87" name="Text 85"/>
          <p:cNvSpPr txBox="1"/>
          <p:nvPr/>
        </p:nvSpPr>
        <p:spPr>
          <a:xfrm>
            <a:off x="685800" y="5340096"/>
            <a:ext cx="3794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每任务 4.3 min、$9.70（中位 $0.61，p99 $178）[56]；工具执行占响应时间 59.8%、生成 41.0% [56]；前缀缓存命中 95.7%，未命中造成 3.8× 冗余 prefill [56]；成本 59.5% 在前缀读、11.2% 在输出 [56]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754880" y="502920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4892040" y="50840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关键刻画</a:t>
            </a:r>
            <a:endParaRPr lang="en-US" sz="1050" dirty="0"/>
          </a:p>
        </p:txBody>
      </p:sp>
      <p:sp>
        <p:nvSpPr>
          <p:cNvPr id="90" name="Text 88"/>
          <p:cNvSpPr txBox="1"/>
          <p:nvPr/>
        </p:nvSpPr>
        <p:spPr>
          <a:xfrm>
            <a:off x="4892040" y="5340096"/>
            <a:ext cx="6583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每步中位 119K 前缀 + 875 追加 + 214 输出 token [56]；前 3 种工具（Bash/Read/Edit）占 &gt;80% 调用，即 syscall 与文件 I/O 密集 [56]；会话中位 80% 时间"活着但空闲"，5 min TTL 驱逐占 31.5% 费用 [57]；沙箱工作集中位 0.8 GB、编译/单测峰值 28 GB [57]；本地 Agent 已用进程级沙箱（bubblewrap/seccomp/Landlock），云端仍容器/microVM [74]。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Agent  ·  三份独立 trace：TraceLab（UW）、AgentSysBench（HKUST）、SMetric（SJTU/阿里）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④  税表：A 端到端时延 / B CPU 侧资源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206240"/>
                <a:gridCol w="40233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A：端到端时延占比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B：CPU 侧资源占比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#11 沙箱 / 工具执行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工具执行占请求响应时间 59.8%，生成 41.0% [56]；&gt;1 min 的工具调用只占 4% 却占 85% 工具时间 [56]；5/10 应用非 LLM 组件主导 [57]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沙箱工作集中位 0.8 GB、峰值 28 GB [57]；gVisor syscall ≥2.2×、tmpfs open 216× [64]；快照恢复执行 +95% [64]；virtCCA@鲲鹏 920 I/O 开销 &lt;29.7% [61]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#8/#14 tokenize / 重处理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冗余 prefill 3.8×，新鲜追加仅 19% [56]；命中率→0.99 时 tokenize 占 TTFT 64% [68]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每步 ~120K token × 8.8 步 ≈ 4.2 MB 文本/请求重处理（推算）；TTL 驱逐使 59.4% 会话至少一次重 prefill、占 31.5% 费用 [57]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已发生·实测+推算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#2/#7 序列化 / 编排 RPC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runner 残余开销 18.6%（均值 1.11 s、p99 10 s）[56]；引擎外 30–50% [66]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每会话数十 MB 序列化：&gt;20 MB FP32 embedding/请求、&gt;10 MB 文本往返 [57]；MCP = JSON-RPC/每消息一 POST/base64 [74]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#6 状态驻留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（不占时延，占资源）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会话中位仅 20% 生命周期在执行 [57]；KV 复用 &gt;80%（聊天 54–62%）[67]；规划期间卸载闲着的沙箱，平均内存 −4.6×（受控实验）[57]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 搬移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（被工具时延盖住）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截图 / embedding / 上下文往返 [57]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834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047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32180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口径下编码 Agent 的最大税不在模型里：工具/沙箱执行（59.8%）&gt; LLM 生成（41%），其次是被人停顿打断的重 prefill 与 tokenize。B 口径下状态层的形态是"存着等"（80% 空闲）——需要便宜、大、几分钟内可恢复的停靠层；序列化量级已到每会话数十 MB。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Agent  ·  LLM 调用环节的链在 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④  推导链：从"跑测试"到"为什么是虚拟化路径而不是加速器"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65960"/>
                <a:gridCol w="3977640"/>
                <a:gridCol w="1783080"/>
                <a:gridCol w="1783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业务步骤 → 系统环节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税（数字）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机理 / 瓶颈资源（为什么、卡在哪）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软件发力点（→950）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硬件发力点（→960 / SKU）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读代码 / 改代码 / 跑测试 → 沙箱执行（Bash · Read · Edit · 单测）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#11 工具执行占请求响应 59.8%、生成 41.0% [56]；工作集中位 0.8 GB、峰值 28 GB [57]；&gt;1 min 的调用 4% 占 85% 工具时间 [56]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Bash/Read/Edit 占 &gt;80% 工具调用 [56] = 进程创建 + syscall + 文件 I/O；隔离层把它们放大：gVisor syscall ≥2.2×、tmpfs open 216×、小文件读 11× [64]；快照恢复逐页缺页让执行慢 95% [64]；编译/单测让内存峰值 28 GB [57]。瓶颈：syscall/虚拟化路径（stage-2 页表、页拷贝/清零）、内存容量、密度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S8 进程级沙箱（本地已如此 [74]）、快照 + 工作集预取（3.7× [64]）、预热池、OverlayFS、virtCCA（&lt;29.7% [61]）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H8 stage-2 页表复制、内存清零卸载、快照恢复 DMA、低开销机密计算、SMT 隔离；H2 TLB；H12 高密度款 + 大 DRAM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每轮 → 上下文组装 + LLM 前端 tokenize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#14/#8 冗余 prefill 3.8×、新鲜追加仅 19% [56]；命中率→0.99 时 tokenize 占 TTFT 64% [68]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每轮 O(上下文) 的 JSON 全量编码 + 全文 BPE（串行、哈希/分支密集，2–4 MB/s/核 [68]）；每步 ~120K token × 8.8 轮 ≈ 4.2 MB/请求（推算）；人停顿 &gt;5 min 缓存失效 → NPU 重 prefill。瓶颈：单核 IPC；前端核数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S5 增量 tokenize（0.5–1.1 ms [68]）+ 增量序列化；tokenized 缓存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H3 单核；H12 每 NPU 前端核数；（DPU/前端池承接）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工具调用 → MCP（JSON-RPC）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#7/#2 Codex runner 残余 18.6%（均值 1.11 s、p99 10 s）[56]；每会话数十 MB 序列化 [57]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MCP：每条消息一次新的 HTTP POST、SSE 返回、二进制 base64（+33%）[74]；工具结果（文件、搜索、截图）数十 KB–MB；每次都走网关/JSON/内核栈。瓶颈：前端 + 解析 + 内核栈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S3 长连接/批量帧；S2 二进制帧、fp16 embedding；U10 Agent↔工具/沙箱链路走 UB 消息语义；U8 UM 自举免 TCP 握手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H6 变换引擎（JSON）；H1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等人 → 空闲驻留（KV / 沙箱 / 会话状态）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#6 会话中位 80% 时间空闲；5 min TTL 驱逐占 31.5% 费用 [57]；KV 复用 &gt;80% [67]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KV 占 HBM/DRAM 但不计算；驱逐后要重 prefill（NPU 税）；沙箱内存与文件系统状态要保留以便恢复。瓶颈：DRAM 容量、分层介质、恢复延迟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S7 空闲会话卸载（收益待测；受控实验里卸闲置沙箱 −4.6× [57]）、TTL 延长到覆盖 1–10 min 停顿、zswap 压空闲状态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H4 大 DRAM / UB 内存池；H7 zswap 式内存压缩（IAA +62–67% [74]）；H11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调用 → 走 ⑥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#10/#1/#9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见 ⑥ 的推导链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S6 S7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H9 H5 H2 H3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394960"/>
            <a:ext cx="11247120" cy="1024128"/>
          </a:xfrm>
          <a:prstGeom prst="roundRect">
            <a:avLst>
              <a:gd name="adj" fmla="val 714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54406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从业务到硅的一条完整推导链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660136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"跑测试"这个业务动作在 Agent 里比"生成代码"更耗时（59.8% vs 41%）→ 它的成本是进程创建、syscall、文件 I/O 被隔离层放大（gVisor 2.2×–216×、快照缺页 95%）加上 28 GB 的峰值内存 → 这些都落在虚拟化路径和内存容量上，不落在任何加速器上，所以编码 Agent 客户要的鲲鹏是：每核能装多少个沙箱、创建/恢复多快、机密计算多贵（H8、H2、H12），软件上先用进程级沙箱 + 快照预取把创建税消掉（S8）→ 第二大税是每轮全量重处理上下文（4.2 MB/请求）落在单核上（H3、S5）→ "等人"的 80% 空闲让状态层需要一个便宜的停靠层（H4/H7/S7）。RL rollout 是这个循环的批量版，沙箱创建最频繁，见 ⑤。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业务：模型厂商 / 训练平台 · 预训练 + SFT + RL 后训练 · host = 数据 + 状态 + 沙箱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⑤  大模型训练与后训练平台：从数据准备到发布的一个作业周期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16152"/>
            <a:ext cx="960120" cy="384048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业务步骤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691640" y="1216152"/>
            <a:ext cx="1516380" cy="384048"/>
          </a:xfrm>
          <a:prstGeom prst="chevron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1368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数据准备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54324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64052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17008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6736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9692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89420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后训练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342376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52104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05060" y="1216152"/>
            <a:ext cx="1516380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14788" y="1216152"/>
            <a:ext cx="1296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996696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MFU 55.2%（MegaScale 175B/12K GPU [71]）；预训练作业只占 3.2% 数量却用 94% GPU 时 [62]；RL rollout 占设备 3/4 [76]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1783080"/>
            <a:ext cx="11064240" cy="76581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178308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548890"/>
            <a:ext cx="11064240" cy="765810"/>
          </a:xfrm>
          <a:prstGeom prst="rect">
            <a:avLst/>
          </a:prstGeom>
          <a:solidFill>
            <a:srgbClr val="EFF4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254889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 / 存储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314700"/>
            <a:ext cx="11064240" cy="765810"/>
          </a:xfrm>
          <a:prstGeom prst="rect">
            <a:avLst/>
          </a:prstGeom>
          <a:solidFill>
            <a:srgbClr val="FDF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31470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互连（UB / RDMA / 网络）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080510"/>
            <a:ext cx="11064240" cy="765810"/>
          </a:xfrm>
          <a:prstGeom prst="rect">
            <a:avLst/>
          </a:prstGeom>
          <a:solidFill>
            <a:srgbClr val="F3E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408051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267690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728216" y="269519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数据仓库读取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解压 / 解密 / 过滤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326640" y="256717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326640" y="256717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#13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970024" y="256717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70024" y="256717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#3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613408" y="256717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13408" y="256717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#5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74112" y="293179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35834" y="2165985"/>
            <a:ext cx="0" cy="76581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35834" y="216598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797556" y="191109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34132" y="192938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DPP 预处理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特征变换 / tokenize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432556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432556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#13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75940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075940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#8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780028" y="2165985"/>
            <a:ext cx="123444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903472" y="191109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940048" y="192938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训练节点加载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+ Thrift 反序列化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38472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538472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#5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181856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181856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825240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825240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885944" y="216598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47666" y="2165985"/>
            <a:ext cx="0" cy="229743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47666" y="446341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5009388" y="420852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045964" y="422681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迭代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（集合通信 → 互连）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991860" y="446341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53582" y="2931795"/>
            <a:ext cx="0" cy="153162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53582" y="293179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115304" y="267690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151880" y="269519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D2H → 序列化 → 共享内存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750304" y="256717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750304" y="256717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393688" y="256717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393688" y="256717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037072" y="256717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037072" y="256717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#3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7097776" y="293179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59498" y="2931795"/>
            <a:ext cx="0" cy="153162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59498" y="446341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7221220" y="420852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257796" y="422681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rollout 生成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（占设备 3/4）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856220" y="409879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856220" y="409879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#8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8203692" y="446341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265414" y="2165985"/>
            <a:ext cx="0" cy="229743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65414" y="216598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8327136" y="191109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363712" y="192938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 / 验证沙箱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单测 · 判分 · 终端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8962136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8962136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#11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9309608" y="216598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371330" y="2165985"/>
            <a:ext cx="0" cy="153162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371330" y="369760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9433052" y="344271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9469628" y="346100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权重同步 → rollout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经验数据回传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0068052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0068052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9711436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711436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0415524" y="369760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477246" y="2165985"/>
            <a:ext cx="0" cy="153162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477246" y="216598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10538968" y="191109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10575544" y="192938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 / 发布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 + tokenize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11173968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1173968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#8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10817352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0817352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48640" y="5029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685800" y="5084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业务指标</a:t>
            </a:r>
            <a:endParaRPr lang="en-US" sz="1050" dirty="0"/>
          </a:p>
        </p:txBody>
      </p:sp>
      <p:sp>
        <p:nvSpPr>
          <p:cNvPr id="103" name="Text 101"/>
          <p:cNvSpPr txBox="1"/>
          <p:nvPr/>
        </p:nvSpPr>
        <p:spPr>
          <a:xfrm>
            <a:off x="685800" y="5340096"/>
            <a:ext cx="3794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MFU；checkpoint 停顿（175B/4096 GPU 到 HDFS 200 s/次 [63]，同步拖慢最多 43% [62]）；rollout 吞吐（容器环境准备占 19–29% [76]）；每轨迹成本；评估作业 29.5% 时间在加载 + tokenize [62]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4754880" y="502920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4892040" y="50840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关键刻画</a:t>
            </a:r>
            <a:endParaRPr lang="en-US" sz="1050" dirty="0"/>
          </a:p>
        </p:txBody>
      </p:sp>
      <p:sp>
        <p:nvSpPr>
          <p:cNvPr id="106" name="Text 104"/>
          <p:cNvSpPr txBox="1"/>
          <p:nvPr/>
        </p:nvSpPr>
        <p:spPr>
          <a:xfrm>
            <a:off x="4892040" y="5340096"/>
            <a:ext cx="6583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两面证据：Meta 训练节点仅"加载预处理好的张量"就占 40% CPU + 55% 内存带宽，其中是 TLS 解密、Thrift 反序列化等 datacenter tax，TLS 放大内存带宽 3× [53]；而上海 AI Lab 集群里 CPU:GPU = 16:1 低利用、CPU 内存 &lt;50%、NIC 60% 空闲 [62]——数据层紧、训练节点闲。RL 让 Agent 的沙箱创建最频繁：无预热池、无空闲、万级并发、用完即弃 [76]。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训练与后训练平台  ·  上半预训练，下半 RL 后训练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⑤  税表：A 对训练进度 / rollout 吞吐的影响 · B CPU 侧资源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297680"/>
                <a:gridCol w="384048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A：对进度 / 吞吐的影响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B：CPU 侧资源占比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#3/#1/#2 checkpoint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175B/4,096 GPU 保存到 HDFS 200 s，远超一次迭代 [63]；同步 checkpoint 拖慢 43% [62]；异步化后停顿 −12–161× [63]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D2H → 序列化 → /dev/shm → 上传全在 host；单文件 2–3 GB/s 上限来自 CPU 序列化而非 NIC [63]；CPU 内存要容纳几个 checkpoint [62]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#13/#5/#2 数据层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stall 直接停 GPU；评估作业 29.5% 在加载 + tokenize [62]；预处理吞吐需求两年 +3.5× [53]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仅加载占训练节点 40% CPU + 55% 内存带宽 [53]；存储 + 预处理功耗可超训练器 [53]；TLS 放大内存带宽 3× [53]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#10 launch / straggler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42.5% 作业因 straggler 至少慢 10% [71]；CPU 侧操作未被掩盖 → launch 延迟 [71]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CUDA 分配器碎片导致 cudaMalloc/Free 激增 [71]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#11 RL 沙箱创建 / 验证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容器化 SWE 环境准备约 89 s，64–256 并行时占 rollout 19–29%；进程级隔离后 23.6 s、占 8–9% [76]；同步 RL 等最长生成，异步后 2.77× [76]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每任务镜像 1.2–2.5 GB → 进程级存储约 5%；ASandbox 100 ms / 5,000 QPS（runsc/kata）[76]；奖励验证 = 纯 CPU 可并行 kernel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 权重同步 / 经验数据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rollout 等权重的时间可降 47%（Laminar）[76]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trainer → rollout GB–TB/步走 NPU 网络，CPU 不在路径；轨迹/logprob/reward 序列化搬移 [76]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 rollout NPU 需要的 CPU 核（沙箱 + 前端）〔待内部确认〕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训练节点 CPU 16:1 低利用 vs 数据层紧张 [62][53]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230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4864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预训练的 host 税表现为"GPU 停下来等"（checkpoint、data stall、straggler），软件已把大头异步化，B 口径下数据层的 CPU 与内存带宽真实紧张且成分正是老税；RL 后训练让沙箱创建最频繁，沙箱创建延迟与每节点密度直接换算成训练吞吐（环境准备占 rollout 19–29% → 8–9%）。训练节点闲、数据层与沙箱忙——CloudMatrix 6.1.3 "CPU 物理池化、按需配比"的动机 [44]。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训练与后训练平台  ·  预训练在前四行，RL 后训练在后三行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⑤  推导链：从"数据准备 / checkpoint / RL"到"数据层 in-line、沙箱密度"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65960"/>
                <a:gridCol w="3977640"/>
                <a:gridCol w="1783080"/>
                <a:gridCol w="1783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业务步骤 → 系统环节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税（数字）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机理 / 瓶颈资源（为什么、卡在哪）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软件发力点（→950）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硬件发力点（→960 / SKU）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数据准备 → 读取 / 解压 / 解密 / 特征变换（DPP）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#13/#3/#5 存储 + 预处理功耗可超训练器；预处理需求两年 +3.5× [53]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解压、解密、过滤、变换是大块流式，每一步把数据过一遍内存；TLS 让内存带宽放大 3× [53]。瓶颈：内存带宽 + 核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S9 KAE in-line 接 DPP/加载路径；DPP 与训练节点分离（Meta 做法）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H7 in-line zip/sec（不额外过内存）；H4 带宽；H12 CPU 密集节点（CloudMatrix 6.1.3 [44]）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预训练 → 训练节点加载张量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#5/#2/#7 仅加载占训练节点 40% CPU + 55% 内存带宽 [53]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TLS 解密 + Thrift 反序列化 + 网络栈 + 内存管理——论文原话的 datacenter tax；内存带宽 ~70% 即饱和 [53]。瓶颈：带宽 + 前端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S2 零拷贝反序列化；S3 内核旁路 / UB 直达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H7 sec in-line；H6 变换引擎；H5 搬移引擎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预训练 → 周期 checkpoint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#1/#2/#3 175B/4,096 GPU 到 HDFS 200 s/次 [63]；同步拖慢 43% [62]；异步后停顿 −12–161× [63]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D2H 拷贝 → pickle/序列化 → 落 /dev/shm → 上传；单文件 2–3 GB/s 上限来自 CPU 序列化而非 NIC [63]；CPU 内存要容纳几个 checkpoint [62]。瓶颈：拷贝 + 序列化（核）+ DRAM 容量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S9 zip 接 checkpoint 流水；异步流水（ByteCheckpoint 式）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H5 搬移引擎（D2H/H2D）；H4 DRAM 容量；H11 checkpoint 落 UB 内存池（EMS 5 s vs 281 s 同类 [44]）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后训练 → 奖励 / 验证沙箱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#11 容器环境准备占 rollout 19–29% → 进程级后 8–9%（89 s → 24 s）[76]；ASandbox 100 ms / 5,000 QPS [76]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create-on-demand / destroy-after-use、万级并发、无预热无空闲：容器环境准备约 89 s、每任务镜像 1.2–2.5 GB；进程级（namespace + chroot + 预缓存 venv）后约 24 s、存储约 5%，高并行时卡在并发解压 [76]。瓶颈：虚拟化路径 + 内存 + 密度（与 ④ 同机理、创建更频繁）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S8 进程级沙箱 + 预缓存依赖 + 镜像缓存/fork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H8 沙箱硬件辅助；H12 高密度款；H7 镜像解压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→ rollout 生成 → 权重同步 / 经验回传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#1/#2 rollout 占设备 3/4 [76]；rollout 等权重同步的时间可降 47% [76]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 GB–TB/步走 NPU 间网络，CPU 不在路径；轨迹/logprob/reward 在 rollout 与 trainer 间序列化搬移；每条轨迹 tokenize/detokenize。瓶颈：NPU 互连 + 序列化（核）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S6 rollout 引擎 host 路径；S7 权重/经验走 UB 共享内存（XCCL 路径 [60]，U9）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H11 UB；H9 提交路径；H6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 / 发布 → 模型加载 + 数据 tokenize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#8/#1 评估作业 29.5% 时间在加载 + tokenize [62]；模型切换 EMS 5 s vs OBS 2,560 s [44]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全量 tokenize 评估集、从对象存储加载权重；训练节点 CPU 16:1 低利用、DRAM &lt;50%、NIC 60% 空闲 [62]。瓶颈：容量与配比错位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S5 tokenized 缓存；S7 模型缓存（EMS 类）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H4 / H11 UB 模型缓存；H12 按数据层 / 训练节点 / 沙箱分开配比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394960"/>
            <a:ext cx="11247120" cy="1024128"/>
          </a:xfrm>
          <a:prstGeom prst="roundRect">
            <a:avLst>
              <a:gd name="adj" fmla="val 714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54406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从业务到硅的一条完整推导链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660136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"数据准备"和"checkpoint"是训练平台里 GPU 停下来等 CPU 的两个业务动作 → 它们的成分恰是 Kanev 的老税（TLS、Thrift、解压、拷贝、序列化），只是搬到了每 GPU 200 Gbps 的数据流上、每一步都过一遍内存 → 所以数据层的硬约束是内存带宽，KAE 的 zip/sec 只有做成 in-line、不额外过内存才有收益（H7），搬移引擎和 DRAM 容量对 checkpoint 直接有效（H5、H4）→ RL 后训练把 ④ 的沙箱创建推到最频繁（容器环境准备占 rollout 19–29%），沙箱创建延迟与密度直接换算成训练吞吐（H8、H12）→ 而训练节点本身的 CPU 是闲的（16:1、DRAM &lt;50%），这就是"CPU 物理池化、按需配比"的依据（H12）。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业务：华为云 MaaS / 各家 API 平台 · P/D 分离 + KV 池 · ③④ 的底座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⑥  模型即服务（MaaS API）：一次租户请求的推理路径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16152"/>
            <a:ext cx="960120" cy="384048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业务步骤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691640" y="1216152"/>
            <a:ext cx="1848917" cy="384048"/>
          </a:xfrm>
          <a:prstGeom prst="chevron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1368" y="1216152"/>
            <a:ext cx="1629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租户 API 请求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86861" y="1216152"/>
            <a:ext cx="1848917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6589" y="1216152"/>
            <a:ext cx="1629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 / 限流 / 路由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82082" y="1216152"/>
            <a:ext cx="1848917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91810" y="1216152"/>
            <a:ext cx="1629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推理（prefill → decode）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677302" y="1216152"/>
            <a:ext cx="1848917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87030" y="1216152"/>
            <a:ext cx="1629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流式返回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72523" y="1216152"/>
            <a:ext cx="1848917" cy="384048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82251" y="1216152"/>
            <a:ext cx="1629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 / 日志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996696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生产请求：Azure coding 中位 1,500/13、conversation 1,020/129 token [46]；Kimi 均值 7,590/182 [45]；CloudMatrix prefill 6,688 / decode 1,943 tok/s/NPU [44]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1783080"/>
            <a:ext cx="11064240" cy="76581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178308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548890"/>
            <a:ext cx="11064240" cy="765810"/>
          </a:xfrm>
          <a:prstGeom prst="rect">
            <a:avLst/>
          </a:prstGeom>
          <a:solidFill>
            <a:srgbClr val="EFF4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54889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 / 存储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314700"/>
            <a:ext cx="11064240" cy="765810"/>
          </a:xfrm>
          <a:prstGeom prst="rect">
            <a:avLst/>
          </a:prstGeom>
          <a:solidFill>
            <a:srgbClr val="FDF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31470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互连（UB / RDMA / 网络）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80510"/>
            <a:ext cx="11064240" cy="765810"/>
          </a:xfrm>
          <a:prstGeom prst="rect">
            <a:avLst/>
          </a:prstGeom>
          <a:solidFill>
            <a:srgbClr val="F3E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4080510"/>
            <a:ext cx="96012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91640" y="191109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728216" y="192938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 / 鉴权 / 限流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HTTP、JSON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326640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26640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970024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970024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674112" y="2165985"/>
            <a:ext cx="123444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797556" y="191109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834132" y="192938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 O(上下文)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432556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32556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#8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075940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075940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#14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780028" y="2165985"/>
            <a:ext cx="123444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903472" y="191109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940048" y="192938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前缀缓存查找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 hash + 块表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38472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38472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#4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181856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181856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#6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885944" y="216598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7666" y="2165985"/>
            <a:ext cx="0" cy="76581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47666" y="293179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009388" y="267690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045964" y="269519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池读取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DRAM / UB / SSD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644388" y="256717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644388" y="256717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287772" y="256717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287772" y="256717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#6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991860" y="293179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53582" y="2931795"/>
            <a:ext cx="0" cy="153162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53582" y="446341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115304" y="420852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151880" y="422681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prefill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（增量部分）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097776" y="446341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59498" y="3697605"/>
            <a:ext cx="0" cy="76581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59498" y="369760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7221220" y="344271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257796" y="346100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传输 P→D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RoCE 或 UB（XCCL）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856220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856220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8203692" y="369760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65414" y="3697605"/>
            <a:ext cx="0" cy="76581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65414" y="446341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8327136" y="420852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363712" y="422681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 循环 ×T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309608" y="446341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371330" y="2165985"/>
            <a:ext cx="0" cy="229743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371330" y="216598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9433052" y="191109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469628" y="192938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 CPU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batch·launch·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采样·detokenize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068052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0068052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#10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9711436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711436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#9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9354820" y="180136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354820" y="18013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#8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0415524" y="216598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477246" y="2165985"/>
            <a:ext cx="0" cy="153162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477246" y="3697605"/>
            <a:ext cx="61722" cy="0"/>
          </a:xfrm>
          <a:prstGeom prst="line">
            <a:avLst/>
          </a:prstGeom>
          <a:noFill/>
          <a:ln w="15875">
            <a:solidFill>
              <a:srgbClr val="3E5C76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10538968" y="3442716"/>
            <a:ext cx="982472" cy="509778"/>
          </a:xfrm>
          <a:prstGeom prst="roundRect">
            <a:avLst>
              <a:gd name="adj" fmla="val 10762"/>
            </a:avLst>
          </a:prstGeom>
          <a:solidFill>
            <a:srgbClr val="FFFFFF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0575544" y="3461004"/>
            <a:ext cx="909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流式返回 + 计费日志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token 一条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1173968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1173968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10817352" y="3332988"/>
            <a:ext cx="329184" cy="182880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0817352" y="33329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#3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548640" y="5029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685800" y="5084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业务指标</a:t>
            </a:r>
            <a:endParaRPr lang="en-US" sz="1050" dirty="0"/>
          </a:p>
        </p:txBody>
      </p:sp>
      <p:sp>
        <p:nvSpPr>
          <p:cNvPr id="93" name="Text 91"/>
          <p:cNvSpPr txBox="1"/>
          <p:nvPr/>
        </p:nvSpPr>
        <p:spPr>
          <a:xfrm>
            <a:off x="685800" y="5340096"/>
            <a:ext cx="3794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token 成本；TTFT / TPOT SLO；每 NPU 并发数；CloudMatrix decode 538 tok/s/NPU@&lt;15 ms TPOT [44]；xDeepServe 峰值 2,400 tok/s/910C @~50 ms [60]；EMS 命中 90% 时 TTFT −59% [44]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754880" y="502920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892040" y="50840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关键刻画</a:t>
            </a:r>
            <a:endParaRPr lang="en-US" sz="1050" dirty="0"/>
          </a:p>
        </p:txBody>
      </p:sp>
      <p:sp>
        <p:nvSpPr>
          <p:cNvPr id="96" name="Text 94"/>
          <p:cNvSpPr txBox="1"/>
          <p:nvPr/>
        </p:nvSpPr>
        <p:spPr>
          <a:xfrm>
            <a:off x="4892040" y="5340096"/>
            <a:ext cx="6583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token KV（bf16）：Llama-3-70B 320 KB、Qwen3-235B 188 KB、DeepSeek-V3（MLA）69 KB（推算）；8K prompt = 0.54–2.5 GB；KV 池命中率 30→50% 后饱和、&gt;50% 块零复用 [45]。CPU 在每个 decode step 都要回来一次；加速器越快、缓存越好，CPU 前端（tokenize、调度）在 TTFT 里的占比越高 [68][69][49]。KV 池是旁路：EMS 让 NPU 直读鲲鹏 DRAM、不经 CPU 核 [44]。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MaaS 推理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⑥  税表：A 端到端时延（TTFT / TPOT）/ B CPU 侧资源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572000"/>
                <a:gridCol w="374904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A：端到端时延占比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B：CPU 侧资源占比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#8/#14 tokenize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命中率→0.99 时 tokenization 占 TTFT 10%→64% [68]；16 核无状态前端 40 req/s 饱和 [68]；CPU 欠配 TTFT 1.47–7.11×、引擎超时 [69]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HF ≈2–4 MB/s/核（1M 字符 ~430 ms）[68]；中位每次只追加 1.4K 字符却全量重算 [68]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#10/#9 host 调度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vLLM V0 每步 CPU ~50%（A100/8B）、55%（1.3B）；SGLang ≤18% [49]；graph dispatch 0.6–0.8 ms [44]；共置干扰 TTFT +139× [58]；GH200 CPU-bound 到 4× 大 batch [59]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构成 = 张量准备 + detokenize + Python 元数据 [49]；页表遍历占 LLC stall 85% [58]；Grace launch 2.77 µs vs x86 2.26–2.37 [59]；软件基线 vLLM V1 +1.7× [74]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 KV 传输 P→D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逐层流水后 &lt;7% prompt 时间、非重叠 5–8 ms、E2E +0.8%；串行则第二 token +64% [46]；10 rps@66B 需 90 Gbps [47]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字节不经 CPU 核：GPUDirect RDMA [45]、RoCE 平面 [44]、UB/XCCL &lt;20 µs@&lt;1 MB [60]、GPU 自发起拷贝 [49]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#6/#1 KV 池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EMS over UB vs VPC：prefill +1.52×，50%/90% 复用率 TTFT −34%/−59% [44]；存 KV 比重算 batch +30%、GPU −87%（CXL ROI）[70]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TB DRAM ≈ 3,100 万 token ≈ 310 个 100K 会话（DS-V3，推算）；块 hash + 前缀 hash、多粒度分配、LRU [44][45]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已发生·实测+推算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流式 / 计费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 token 一条小消息（推算，见 ③）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万流 ≈ 10–25 核（推算）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推算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230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50468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口径下 MaaS 的税集中在 TTFT 的 CPU 前端（tokenize、调度）——加速器越快、缓存越好，占比越高；KV 传输本身可被流水藏住。B 口径下 KV 池是"GB"而非"cycles"的事，CPU DRAM 容量直接换算成托管会话数与 NPU 算力节省。③④ 的每一次 LLM 调用都承担这张表。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MaaS 推理  ·  ③④ 的每一次 LLM 调用都承担这条链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⑥  推导链：从"一次 API 请求的 TTFT"到"单核、TLB 与前端核数"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65960"/>
                <a:gridCol w="3977640"/>
                <a:gridCol w="1783080"/>
                <a:gridCol w="1783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业务步骤 → 系统环节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税（数字）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机理 / 瓶颈资源（为什么、卡在哪）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软件发力点（→950）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硬件发力点（→960 / SKU）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租户请求 → 前端 tokenize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#8/#14 命中率→0.99 时 tokenize 占 TTFT 10%→64% [68]；16 核无状态前端 40 req/s 饱和 [68]；CPU 欠配 TTFT 1.47–7.11× [69]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BPE = 正则预分词 + 哈希查找 + 合并优先队列，逐序列串行、分支/哈希密集（HF 2–4 MB/s/核）；前端对全文重算而 NPU 只算增量 → 前缀缓存越好它占比越高。瓶颈：单核 IPC + 前端核数；SIMD 帮助有限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S5 增量 tokenize（TokTier 0.5–1.1 ms）、tokenized 缓存、前端 CPU 池 / DPU 承接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H3 单核 IPC；H12 每 NPU 前端核数（[69]：加核是最便宜的缓解）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 → 每个 decode step 回到 host（组 batch / launch / 采样 / detokenize）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#10/#9 vLLM V0 每步 CPU ~50%（A100/8B）[49]；昇腾 graph dispatch 0.6–0.8 ms [44]；共置干扰 TTFT +139× [58]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元数据 + 张量准备 + detokenize 是分支/指针密集的单线程代码；页表遍历占 LLC stall 85%（碎片化虚拟地址空间），共置让 TLB miss 更贵、dispatch 间隙 1→40 µs [58]；Arm 核 launch 比 x86 慢 17–22%、GPU 越快 CPU-bound 区越大 [59]。瓶颈：TLB/LLC/单核 IPC + CPU–NPU 链路延迟；对共置极敏感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S6 graph 模式、异步调度（vLLM V1 +1.7×、SGLang 零开销）、采样/元数据上 NPU [44]、host 与沙箱分池；S4 大页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H2 更大更快 L2 TLB、页表遍历缓存；H3 单核；H9 UB 内存语义提交队列 / 低延迟 doorbell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 → KV 传输 P→D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 逐层流水后 &lt;7% prompt 时间、非重叠 5–8 ms [46]；10 rps@66B 需 90 Gbps [47]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 级 KV 若经 CPU 拷贝就是 memcpy 税 × 三个数量级；生产系统一律绕过 CPU（GPUDirect [45]、RoCE 平面 [44]、UB/XCCL &lt;20 µs@&lt;1 MB [60]）。瓶颈：互连带宽/延迟，不是核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S7 实测 Mooncake kunpeng_transport / ubshmem [75]（U9）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H11 UB CPU 出口带宽（x32 lane）与远端读延迟（U9）；H5 搬移引擎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 → 前缀查找 + KV 池（CPU DRAM / UB / SSD）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#6/#1 EMS over UB vs VPC：prefill +1.52×、TTFT −34%/−59% [44]；命中率 30→50% 后饱和 [45]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块 hash + 前缀 hash、多粒度分配、LRU、SSD 分层——通用系统软件；NPU 直读鲲鹏 DRAM 不经 CPU [44]；2 TB ≈ 310 个 100K 会话（推算）。瓶颈：DRAM 容量 + 互连语义 + 热块复制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S7 EMS 类参考架构、热块复制、TTL（U9）；S4 块表分配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H4 大 DRAM / 通道；H11 UB 内存语义（cache-line 按需取 2.1× [70]）；H7 内存侧位平面变换 + codec（KV 无损 46.9% [70]）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流式返回 → 计费 / 日志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#7/#3 每 token 一条小消息（推算）；日志压缩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 ③ 的流式机理；计费日志是大块压缩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S3 批量帧 / kTLS；S9 zip 接日志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 前端；H7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394960"/>
            <a:ext cx="11247120" cy="1024128"/>
          </a:xfrm>
          <a:prstGeom prst="roundRect">
            <a:avLst>
              <a:gd name="adj" fmla="val 714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54406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从业务到硅的一条完整推导链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660136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"一次 API 请求"的 TTFT = 前端 tokenize + 前缀查找 + 调度 + prefill → NPU 越快、缓存命中越高，留在 CPU 上的 tokenize 与调度占比越大（tokenize 可到 64%，CPU 欠配时 TTFT 高 7×）→ 这两项都是分支/哈希/指针密集的单线程代码，卡在单核 IPC、TLB/LLC 和 CPU→NPU 的提交延迟上，所以 MaaS 客户要的鲲鹏是：单核（H3）、TLB（H2）、提交路径（H9）和每 NPU 配多少前端核（H12），软件上先把增量 tokenize 与 graph/异步调度做进去（S5、S6）→ KV 传输与 KV 池是"GB 与互连语义"的事：字节绕过 CPU 核、CPU DRAM 作状态层（H4、H11、S7），压缩只在内存侧加变换后才有效（H7）。业界"CPU-free"路线（Blink）若成主流，前端与状态层就是鲲鹏在推理集群里剩下的价值。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综合：汇总矩阵 → 痛点榜 → 动作清单 → 待确认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六个业务场景叠起来看：哪些税反复出现、量最大、最能被一块硅一次性吃掉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 1/8  ·  A/B 口径混排（各场景税表已分列）；"—" = 该场景不出现或可忽略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完整汇总矩阵：税种 × 业务场景，格内为主要数字与出处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91640"/>
                <a:gridCol w="1554480"/>
                <a:gridCol w="1691640"/>
                <a:gridCol w="1737360"/>
                <a:gridCol w="169164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税种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电商交易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信息流推荐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智能客服 RAG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编码 Agent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训练与后训练平台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MaaS 推理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 拷贝/搬移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memcpy 4–5% cyc [01]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embedding 表 gather 主导 [72]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embedding 载荷（推算）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数十 MB/会话 [57]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加载占 55% 内存带宽 [53]；ckpt D2H；权重同步 [76]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KV 传输 &lt;7%（流水）[46]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#2 序列化/解析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3–4% [01]；轻服务 40–90% [13]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级联特征传递；单阶段后 OPEX 10.6% [77]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引擎外 30–50% [66]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&gt;20 MB embedding/请求 [57]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Thrift（含于 40% CPU）[53]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tensor（小）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#3 压缩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5–6% [01]；RPC 3.1% [02]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日志/样本回流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镜像解压 +40 ms [51]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ckpt 200 s [63]；解压 [53]；每任务镜像 1.2–2.5 GB [76]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KV 直接压无效 [48][70]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#4 哈希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1–2% [01]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块 hash [44][45]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块 hash + 前缀 hash [44][45]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#5 加密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&lt;0.2% [02]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流式 record（推算）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（机密计算）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TLS 放大内存带宽 3× [53]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（跨节点 KV，推算）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#6 分配/状态驻留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6–7% [01]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embedding 表 TB 级 [72]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索引节点（推算）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中位 80% 空闲；TTL 驱逐 31.5% 费用 [57]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ckpt 暂存；DRAM &lt;50% 利用 [62]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块表；2 TB ≈ 310 会话（推算）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网络栈/RPC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均值 2% 尾 96% [02]；内核 18–20% [01]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级联多阶段 RPC（推算）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引擎外 30–50% [66]；流式（推算）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runner 残余 18.6% [56]；MCP 每消息一 POST [74]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NIC 60% 空闲 [62]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流式每 token（推算）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#8 tokenize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生成式推荐序列 token（趋势）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（生成走 ⑥）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冗余 prefill 3.8× [56]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 29.5% 加载+tokenize [62]；每轨迹固定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TTFT 10→64% [68]；欠配 7.11× [69]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#9 采样/约束解码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（同 ⑥）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（rollout 同 ⑥）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采样 → NPU [44]；XGrammar [73]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#10 调度/launch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scheduler 5% [01]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（同 ⑥）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straggler launch 延迟 [71]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V0 ~50% [49]；0.6–0.8 ms [44]；共置 139× [58]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#11 沙箱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（工具调用）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工具执行 59.8% [56]；0.8/28 GB [57]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环境准备 19–29%→8–9% [76]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#12 向量距离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ANN 召回，带宽型 [52][65]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&lt;1%–86% [52]；带宽型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（检索型 Agent）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#13 数据层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特征流水线（推算）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40% CPU + 55% 带宽 [53]；功耗可超训练 [53]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#14 O(上下文)重处理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（prompt 拼装）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4.2 MB/请求（推算）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（推算）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全文重 tokenize [68]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= 文献数字；推算 = 本文算式（输入见各场景页与 INSIGHT_AI_WORKLOAD.md 第 7 节）。同一税在不同场景的量级差异本身就是结论：拷贝、序列化、分配这三项老税在六个场景里都出现；② 的 AI 化（生成式推荐）正把推荐的税向 ⑥ 合并。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 2/8  ·  A 口径排序（p4），B 口径排序在右下角；括号内为主要业务场景；"谁能吃掉"给出 S/H 编号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痛点榜展开：现状 · 软件消灭到什么程度 · 剩余落在哪块硅 · 谁能吃掉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1600200"/>
                <a:gridCol w="1234440"/>
                <a:gridCol w="3017520"/>
                <a:gridCol w="237744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痛点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 / 趋势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软件正在消灭到什么程度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剩余部分落在哪块硅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谁能吃掉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 / 工具执行（④⑤）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已发生（三份 trace）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 Agent 已进程级（bubblewrap/seccomp）[74]；RL 进程级后 &lt;5% [76]；快照预取 3.7× [64]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核 + DRAM（峰值 28 GB）+ 虚拟化；云端仍是容器/microVM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S8 → H8 H2 H12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 + 重处理（⑥④）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增量 tokenize + GPU BPE（TokTier 437–491× [68]）；vLLM V1 挪出核心循环 [74]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单核（BPE 串行）；核数配比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S5 → H3 H12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引擎外编排 RPC / 序列化（③④②）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服务端编排（Parrot 11.7× [66]）；二进制/fp16 向量格式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核（JSON 解析、拷贝）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S3 S2 S1 → H1 H6；U1 U2 U6 U8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向量检索 / embedding 表（③②）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SIMD 已达带宽上限 [52]；LVQ 压缩 [73]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内存带宽；溢出后远端内存粒度 [65]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S10 → H4 H11 H10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训练数据层 / checkpoint（⑤）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异步 checkpoint 3.6–58.7× [62]、停顿 −12–161× [63]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host CPU + 内存带宽（TLS 3×）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S9 → H7 H5 H4 H12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host 调度 / launch（⑥）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已发生，软件在消灭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vLLM V1 +1.7×、SGLang ≤5.6% [74][49]；采样上 NPU [44]；CPU-free [58]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TLB/LLC/单核 + CPU–NPU 链路；共置敏感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S6 S4 → H2 H3 H9；U4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KV 搬移与状态层（⑥④）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已发生（UB 已在生产）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逐层流水 [46]；EMS/XCCL 绕过 CPU [44][60]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内存容量 + 互连；"存着等"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S7 → H4 H11 H7；U9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 tax 延续（①→③④⑥）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已发生（十年稳定）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零拷贝序列化 [19][26]；内核旁路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核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 S2 S3 S9 → H1 H5 H6 H7；U1–U7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534924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78040" y="53949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口径（CPU 侧资源）排序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565099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状态层容量（GB）· 2 训练数据层（40% CPU/55% 带宽）· 3 传统 tax（22–27% cyc）· 4 序列化/JSON · 5 检索带宽 · 6 沙箱内存 · 7 host 调度 · 8 KV 搬移（绕过 CPU 后趋零）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两种口径的最大分歧是 KV 搬移（A 小、B 曾大、现在被 UB/RDMA 绕过后趋零）与状态层容量（A 不占时延、B 第一）。S/H 编号见 p34–35，U 编号见 p36–38。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 3/8  ·  全部 →950；每条：内容 · 怎么做与验收 · 吃掉的税与服务的场景 · 依据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软件发力点清单 S1–S11：现在就能做，先把税测出来、把能软件消掉的消掉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417320"/>
                <a:gridCol w="3291840"/>
                <a:gridCol w="3794760"/>
                <a:gridCol w="123444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发力点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具体内容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怎么做 / 验收 / 产出物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 · 场景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依据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前端友好的代码布局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PGO/BOLT、text 大页、热路径函数重排，针对 RPC 库 / 序列化 / 内核栈 / 网关这些"税代码"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920/950 上对 bRPC/gRPC + protobuf + 内核栈跑 PGO/BOLT + text 大页，测 L1-I MPKI、前端 stall、RPC 每核 Mops 的变化；目标：前端 stall 降 20–30%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#2 #3 · ①③④⑥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[01][05][41]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S2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零拷贝与二进制序列化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zBuffer / FlatBuffers / Arrow 直接成为 bRPC-UB 的 SGE；embedding 用 fp16 二进制而非 FP32 JSON；messages 增量序列化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zBuffer 式零拷贝接进 bRPC over UB（protobuf 字段直接成 SGE）；embedding/向量 API 改 fp16 二进制；产出：每 RPC 序列化周期与拷贝字节的前后对比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#2 #1 #14 · ①②③④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[19][26][57]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S3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用户态 / 内核旁路网络 + UB 消息语义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bRPC over UB 的小消息 slab 修复（U1）、RM 默认化（U2）、UM 自举建连（U8）、io_uring、busy-poll、Homa 式接收端驱动；流式 token 批量帧 + kTLS（U10）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 ubsocket 8 KB 最小块 / UMQ 4 KB slab 的小消息放大；流式 token 用批量帧 + kTLS；产出：小消息每核 Mops、100 Gbps 所需核数（对标 Snap 7–14 核）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· ①③④⑥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[08][31][33] REPORT 6.3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S4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分配器与大页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mimalloc / TCMalloc 调优（Arm 上 vLLM 2.3×）、THP + text 大页、KV 块表；缓解 Python 栈碎片化地址空间的页表遍历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vLLM/SGLang/MindIE 前端换 mimalloc、开 THP + text 大页；测 dTLB miss、页表遍历占 LLC stall 的比例（对标 [58] 的 85%）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#6 #10 · ①④⑥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[35][74][58]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S5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增量 tokenize 与前端池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TokTier 式增量修复 + tokenized 缓存；每 NPU 前端核数配比；前端 CPU 池 / DPU 承接 tokenize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TokTier 式增量修复接进 MindIE/vLLM 前端；tokenized 缓存；测 TTFT 中 tokenize 占比随命中率的曲线；给出每 NPU 前端核数的配比表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#8 #14 · ⑥④③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[68][69]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S6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推理引擎 host 路径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graph 模式、异步调度、采样 / 元数据上 NPU、绑核与 host–沙箱分池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在鲲鹏–昇腾上复现 vLLM V1 / SGLang 的异步调度，采样搬到 NPU；测每 step CPU 时间拆解与 graph dispatch 延迟（对标 0.6–0.8 ms）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#10 #9 · ⑥⑤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[44][49][60][74]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S7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状态层软件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 Mooncake kunpeng_transport / ubshmem（U9）；EMS 类 KV 池参考架构；空闲会话卸载、TTL 策略、zswap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同机跑 Mooncake kunpeng_transport vs rdma_transport：Mops、GB/s、CPU 占用、远端读延迟；EMS 类 KV 池参考架构 + 每节点托管会话数指标；zswap 压空闲会话的收益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#6 #1 · ⑥④②⑤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[44][45][57][75]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S8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沙箱软件栈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进程级沙箱、快照 + 工作集预取（REAP）、预热池、OverlayFS、virtCCA 机密 VM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Firecracker / Kata / gVisor / 进程级沙箱在 950 上的创建·快照恢复·每核密度·SMT 取舍基线；virtCCA 机密 VM 的 I/O 开销（对标 &lt;29.7%）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#11 · ④⑤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[51][64][61][74][76]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S9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接入 AI 路径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UADK Python/PyTorch 零拷贝绑定；zip 接 checkpoint / 镜像 / zswap；sec in-line 接训练数据层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UADK 的 Python/PyTorch 零拷贝绑定；zip 接 ByteCheckpoint 式流水与沙箱镜像、Linux zswap；sec in-line 接 DPP/加载路径；产出：in-line 约束下的实际收益表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#3 #5 #13 · ⑤④⑥①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[53][63][74]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S10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检索与 embedding 表的 SVE / 带宽调优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faiss / SVS / ScaNN 移植；DLRM gather 与 ANN 的带宽利用率基线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faiss / SVS / ScaNN / DLRM 在 950 上的 SVE 移植与带宽利用率（对标 18 GB/s/核、80%）；决定是否需要专用引擎（预期：不需要）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#12 #1 · ②③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[52][65][72]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S11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剖析与基准工具链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DCPerf 类基线、每 step CPU 时间拆解、共置干扰复现、鲲鹏–昇腾 launch 延迟——决定 H 清单的优先级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DCPerf 类基线 + 每 step CPU 拆解 + 共置干扰复现 + 鲲鹏–昇腾 launch 延迟 + 沙箱基线，形成"鲲鹏 AI 税剖析套件"；这是 H 清单排优先级的唯一依据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支撑全部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[05][49][58][59]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优先级建议（按痛点榜）：S8 沙箱 &gt; S5 增量 tokenize / 前端池 &gt; S3 网络与 UB 消息语义 &gt; S7 状态层 &gt; S6 host 路径 &gt; S9 KAE 接入 &gt; S1/S2/S4 &gt; S10；S11 工具链最先做——它决定 H 清单里哪几条真正值得投。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 4/8  ·  →960 / SKU；每条：为什么 · 需求数字从哪来 · 吃掉的税与服务的场景 · 依据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硬件发力点清单 H1–H12：软件消不掉的部分落在哪块硅，就在那块硅上投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554480"/>
                <a:gridCol w="3200400"/>
                <a:gridCol w="3749040"/>
                <a:gridCol w="123444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发力点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为什么（机理与证据）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需求数字从哪来 / 验收指标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 · 场景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依据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前端：L1-I / 取指带宽 / BTB / 指令预取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税代码路径长、二进制数百 MB：前端受限 15–30%、L1-I MPKI 7–56；920 L3 取指带宽弱、64 项 BTB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需求数字来自 S1/S11：950 的 L1-I/L2/L3 取指带宽与 BTB 规模〔待内部确认〕；验收指标：DCPerf Web/Ranking 类负载的前端 stall、L1-I MPKI、Perf/W（对标 SKU-B −57% 的反例）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#2 #3 · ①③④⑥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[01][05][41] REPORT 6.1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H2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TLB 与页表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更大更快的 L2 TLB、页表遍历缓存、大页；Python 栈页表遍历占 LLC stall 85%；920 L2 TLB 11 周期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需求数字来自 S4/S6：页表遍历占 LLC stall 的比例、共置下 TLB miss 代价；验收：vLLM 前端在共置干扰下的 TTFT 退化倍数（对标 139×）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#10 #6 #11 · ⑥④⑤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[58][35] REPORT 6.1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H3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单核 IPC 与频率（关键路径核）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主频差 9% → 尾延迟差 1.5×；Arm launch 比 x86 慢 17–22%；BPE 串行 2–4 MB/s/核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需求来自 S5/S6/S11：nullKernel launch 延迟（对标 x86 2.3 µs）、BPE 每核吞吐、关键路径服务 P99 对频率的敏感度（对标 9%→1.5×）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#10 #8 · ①⑥④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[06][07][59][68]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H4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内存系统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通道数 / 带宽（MRDIMM 类）、容量、UB 内存池、内存侧位平面变换 + codec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需求来自 S7/S10：DLRM/ANN 的带宽利用率、KV 池每节点托管会话数；SKU：通道数、MRDIMM、容量；UB 内存池的容量/延迟；内存侧位平面变换 + codec 的可行性（TRACE 256 GB/s）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#6 #12 #1 #13 · ②③⑥⑤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[52][65][70][72]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H5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搬移引擎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DPA（片上搬移加速器）作 DSA、与 UB 内存语义合一；小拷贝也要划算（片外阈值 ≥425 B）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需求来自 S2/S3/S7：小拷贝（&lt;512 B）占比与片上引擎的提交延迟；DPA 的用户态接口（低延迟提交 + SG + 与内存池共段）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 · ①⑤⑥④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[20][28][44]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H6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结构化数据变换引擎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+ JSON + tensor，近核 / 片上，异步或链式接口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需求来自 S2：protobuf/JSON 的 KB 级同步调用粒度 → 接口必须异步或链式（[20][41]）；放置：近核/片上（ProtoAcc RoCC vs Kanev 近 LLC 的争议）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#2 · ①③④②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[25][34][41][57]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H7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zip / sec 演进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KB 级小 buffer 固定开销、in-line / DMA 直达不额外过内存、zswap 路径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需求来自 S9：KAE 小 buffer（KB 级同步）固定开销 vs CDPU 近核；in-line/DMA 直达的数据层路径；zswap 批量压缩接口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#3 #5 #13 · ⑤①④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[34][53][74]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H8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沙箱硬件辅助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stage-2 页表复制、内存清零卸载、快照恢复 DMA、低开销机密计算、SMT 隔离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需求来自 S8：沙箱创建/快照恢复的延迟分解（页表、清零、页拷贝）、每核密度、CCA 开销；目标对标 ASandbox 100 ms / 5,000 QPS 与进程级隔离的环境准备 23.6 s（容器 88.9 s）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#11 · ④⑤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[51][64][61][76]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H9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→ NPU 提交路径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内存语义队列 / doorbell、低延迟 launch（对标 x86 2.3 µs、昇腾 graph dispatch 0.6–0.8 ms）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需求来自 S6：鲲鹏→昇腾 graph dispatch 与同步延迟 vs PCIe-x86 vs GH200 NVLink-C2C；UB 内存语义提交队列（UMQ）的实测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#10 · ⑥⑤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[44][59][60]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H10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SME2 级矩阵扩展 + BF16/INT8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rerank / embedding / draft / 生成式推荐前端上 CPU；生态（KleidiAI/oneDNN）已就绪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需求来自 S10 与客户数据：rerank/embedding/draft 模型有多少落在 CPU；生态：KleidiAI/oneDNN 对 SVE/SME 的支持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#12 #9 · ③②⑥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[74][77]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H11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CPU 出口带宽与远端读延迟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x32 lane vs DRAM 带宽哪端先饱和；cache-line 粒度按需取（稀疏注意力 2.1×）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需求来自 S7：CPU x32 lane 的实际出口带宽 vs DRAM 带宽；CPU 侧 URMA 远端读延迟 vs NPU 侧 XCCL（&lt;20 µs@&lt;1 MB）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 #6 · ⑥②④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[54][60][70]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H12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SKU 配比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高密度款（沙箱 / 前端 / 状态层）vs 高单核款（host）；每 NPU 的 CPU 核数；CPU 池化节点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需求来自 S5/S8/S11：每 NPU 前端核数、每核沙箱数、数据层 vs 训练节点 vs 沙箱池的 CPU/DRAM 配比；CloudMatrix 6.1.3 的 CPU 池化节点 SKU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[44][62][69]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126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优先级建议：H1 前端与 H2 TLB 是 fleet 平均的最大杠杆（六个场景都受益，且 920 的公开弱点正落在此）；H8 沙箱与 H12 配比是 Agent/RL 时代增量最大的；H4/H11 决定鲲鹏在推理集群里的"状态层"定位；H5–H7 引擎吃的是各 3–6% 的具体税，收益确定但需 in-line/近核接口；H9/H10 取决于 host 是否留在推理路径上（争议 9）。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 5/8  ·  依据 REPORT 6.3 的需求对照表（有 / 部分 / 待测）+ 本地 UB 文档与 brpc_ub 代码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专题 1/3：把一次 RPC 的时延拆成八段，每段文献怎么说、UB 有什么、差在哪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377440"/>
                <a:gridCol w="1920240"/>
                <a:gridCol w="2468880"/>
                <a:gridCol w="777240"/>
                <a:gridCol w="24688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时延链环节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文献量级与最优解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软件基线（现状）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原语〔本地〕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差距 → 发力点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序列化 / 组包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拷贝是主体、元数据其次、编码最少 [19][26]；zBuffer 25 ns、比 Cornflakes 7× [19]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bRPC：protobuf → IOBuf 拷贝式序列化，再挂接 UMQ block 链表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UMQ 预注册 qbuf 池、SGE、共享 JFR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U6：protobuf 字段直接成 UMQ 的 SGE（软件最便宜的一步）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提交（syscall / doorbell）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 doorbell 是小消息固定开销；Dagger 用内存互连提交 +14% [12]；eRPC 用户态 10 Mrps/核 [31]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用户态 URMA post，无 syscall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DWQE：st64b 64 B 原子 MMIO 直写整条 SQE，硬件免 DMA 取描述符；SoC 内无 PCIe 往返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U1：小消息 inline 与 DWQE 配合；每核 Mops 待测（对标 eRPC 10 M、Falcon 单 QP 20 M）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传输（fabric）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eRPC 2.3 µs RTT [31]；Falcon 1 B–2 MB 5.8–8.7 µs、松弛排序 + 多路径比 RoCE 好 8× [30]；CXL 域内 1.5 vs RDMA 17 µs [29]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RoCE：单路径严格有序、PFC 依赖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RM 无连接可靠、ROI/ROT/ROL/UNO 四种排序、TPG ≤32 通道逐包 spraying + OOR 重排、RTP 端到端重传 / CTP 机架内无损两档；UB 2.0 超节点 2.1 µs〔公开〕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U2：默认改 RM + share_tp；U7：同域走 OBMM 共享内存 RPC；RTT 与每 Gbps 核数待测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接收通知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生产中断唤醒 &gt;50 µs 伤尾延迟 [02]；CXL 只能轮询（MSI 未通）[14]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轮询（浪费核）或中断（慢）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JFCE 完成事件通道、消息中断（中断地址表/向量表）、远端事件通知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有·量级待测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U5：通知→唤醒延迟实测；混合轮询策略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核间分发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RSS 静态哈希浪费 30–76% [11]；nanoPU JBSQ 有界队列 [10]；Cerebros 按方法亲和 [13]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ubsocket 软件多平面 LB（affinity_priority / rr）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Jetty Group：目标侧多 RQ，硬件按 Hint 哈希 / RR / RQ 深度选 RQ，免 CPU、NUMA 亲和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有（RQ 深度）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U4：有界队列 + 超时回收/抢占、按 RPC 方法亲和——SoC 内 ns 级反馈的结构性机会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排队 / 过载 / QoS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Homa 接收端 grant [08]；Breakwater 信用 &lt;20 ms 收敛 [16]；Aequitas 按 RPC 标 QoS fleet −10% [17]；Falcon 四时间戳 CC + 接收侧资源回传 [30]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TCP：多 RPC 复用连接无法按消息标 QoS；ubsocket 每链路一个 link_priority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UMQ 应用层信用（授信压进 64 位立即数、独立 FC Jetty、共享信用池）；事务层 RNR；SL 0–15 / VL；传输层 CC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U3：每消息 SL 映射、CQE 硬件时间戳、可编程 CC、接收 NIC 缓冲占用回传（ncwnd）——UB 消息边界 = WR 边界，比 TCP 容易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 反序列化 / 拷贝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网络栈拷贝 &gt;50–60% CPU [33]；多数拷贝 &lt;512 B [20]；DDIO/LLC 占用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ubsocket 最小块 8 KB、UMQ qbuf 4 KB slab + 512 B headroom 对中位 &lt;1.5 KB 的 RPC 是内存放大〔本地〕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零拷贝 block 链表挂接（非 POSIX SG）；UB Controller 是否直写 L3 待测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有·小消息放大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U1：&lt;256 B inline、小消息专用 slab；U6：non-pin SVA 免 pinned 簿记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⑧ 连接 / 权限 / 建连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RC QP 状态溢出 NIC cache 吞吐骤降 [31][38]；MR 注册走内核 [26]；TLS 建连 1.6 ms [21]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brpc_ub 默认 RC_TP 一对一独占；TCP 握手交换 EID/Jetty 再切 UMQ，失败逃生回 TCP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RM：TP 按节点对共享（O(节点²)）、MUE 托管上下文；MAPT 用户态权限队列（PERMQ）、Token 可转授、non-pin 段；UM 带内自举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有·默认未开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U2 默认 RM；U8 UM 自举替代 TCP 握手；连接数 vs 延迟曲线待测（对标 Falcon &gt;100K 连接无悬崖）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读法：①②⑦ 是 CPU 侧的税（前端 + 拷贝），UB 的贡献是把它们的软件路径缩短（DWQE、预注册、零拷贝接缝）；③–⑥ 是互连/NIC 侧的税，UB 在传输层已有文献要求的机制，缺的是"RPC 感知"（按消息 QoS、时间戳、有界分发）；⑧ 是默认配置把卖点关掉了。Falcon 的硬件预算可作参照：接收侧 O(BDP) 包缓冲 1–2 mm²，传输 IP 面积 5–6% / 功耗 3–4% [30]。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 6/8  ·  每条：为什么（机理与证据）· 吃掉的税与场景 · 依据 · 标签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专题 2/3：发力点 U1–U10——RPC 时延链 + AI 数据路径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011680"/>
                <a:gridCol w="5394960"/>
                <a:gridCol w="1188720"/>
                <a:gridCol w="1371600"/>
                <a:gridCol w="9144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发力点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为什么（机理与证据）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 · 场景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依据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标签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U1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小消息路径：inline 发送 + 小 slab + DWQE 直写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中位 RPC &lt;1.5 KB [02]，而 ubsocket 最小块 8 KB、UMQ qbuf 最小 4 KB slab + 512 B headroom〔本地〕：内存放大与 LLC 占用；eRPC/Falcon 对 &lt;256 B 走 inline；DWQE 用 st64b 把整条 SQE 直写设备、免 doorbell 往返（Dagger：内存互连提交 +14% [12]）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#1 · ①③④⑥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[02][12][30][31] REPORT 6.3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→950 软件 + 待测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U2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无连接 RM 模式默认化 + TP 通道共享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bRPC-UB 默认 RC_TP 一对一独占 TP（"同 IB RC 的扩展性问题"〔本地〕）；RDMA RC 的 QP 状态随连接数溢出 NIC cache 吞吐骤降 [31][38]；ServiceRouter 型客户端连数万后端 [21]。RM 模式每条 WR 自带 EID/Jetty、TP 按节点对共享（O(节点²)）——这是 UB 相对 RoCE 的核心卖点，不该在默认配置里放弃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· ①③④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[21][31][38] REPORT 6.3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→950 软件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U3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感知的传输：每消息 SL/VL、CQE 时间戳、可编程 CC、接收侧资源回传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Aequitas 按 RPC 标 QoS fleet −10%，多 RPC 复用连接是障碍 [17]——UB 消息边界 = WR 边界，天然可做；Falcon 的四时间戳延迟 CC + 接收 NIC Rx 缓冲占用率回传（ncwnd）处理 PCIe/IOMMU/内存瓶颈 [30]；ubsocket 当前每链路一个 link_priority〔本地〕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尾延迟 · ①③⑥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[17][30][02] REPORT 6.3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→960 UB Controller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U4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NI 侧硬件分发：Jetty Group → 有界队列 + 按方法亲和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RSS 静态哈希浪费 30–76% 吞吐 [11]；Jetty Group 已按 RQ 深度选队列（RPCValet 式 NI 分发）〔本地〕；差距是 nanoPU JBSQ 的有界队列 + 超时回收/抢占 [10] 与 Cerebros 的按 RPC 方法亲和 [13]；SoC 内 UB Controller 有 ns 级反馈的结构性机会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#10 · ①③⑥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[10][11][13] REPORT 6.3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→960 UB Controller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U5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通知与唤醒：JFCE / 消息中断替代轮询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生产 &gt;50 µs 的唤醒延迟伤尾延迟 [02]，轮询又浪费核；CXL 只能轮询（MSI 未通）[14]；UB 有 JFCE 完成事件通道、消息中断、远端事件通知〔本地〕——量级待测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· 全部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[02][14] REPORT 6.3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U6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零拷贝接缝：zBuffer 反射 → protobuf 字段直接成 UMQ SGE；MAPT/Token 用户态权限 + non-pin SVA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bRPC 仍是 protobuf → IOBuf 拷贝式序列化；zBuffer 的 scatter-gather 反射 25 ns、比 Cornflakes 7×、阿里生产部署 [19] 可直接叠加到 UB；RDMA 的 MR 注册走内核、NIC 只能 DMA pinned 页是 Cornflakes 复杂度的根源 [26]，UB 的 PERMQ/Token/non-pin 段消除它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#2 #1 · ①③④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[19][26] REPORT 6.3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→950 软件（最便宜的一步）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U7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超节点内共享内存 RPC：OBMM 共享 + 软件 Ownership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CXL 域内共享内存 RPC 1.5 µs vs RDMA 17 µs [29]，大消息 96–247× [14]；UB 的域比 CXL 大（超节点 16 节点/200 m）且多了通知机制；HydraRPC 主动绕开硬件一致性，与 UB "共享 = 软件一致性"一致 [14]；需要调度器把高频通信服务对放同域，缺 POE/MPK 类沙箱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#1 · ①②③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[14][29] REPORT 6.3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→950 复现 + →960 沙箱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U8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建连与逃生：UM 带内自举替代 TCP 握手 + UB 协商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brpc_ub 建连仍用 TCP 握手交换 EID/Jetty 再切 UMQ，失败逃生回 TCP〔本地〕；对照 ServiceRouter TLS 建连 1.6 ms [21]；短连接 / serverless 形态下每连接固定开销被放大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#5 · ③④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[21] REPORT 6.3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→950 软件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U9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数据路径：KV / 状态层全部走 UB 内存语义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EMS：NPU SDMA 直读鲲鹏 DRAM、prefill +1.52×、TTFT −59% [44]；XCCL：KV 直传 &lt;20 µs@&lt;1 MB、当前非零拷贝 [60]；Mooncake kunpeng_transport 已在主线、无公开性能数据 [75]；稀疏注意力下 cache-line 按需取比 RDMA 整段搬 2.1× [70]；CPU x32 lane 出口带宽 vs DRAM 带宽 [54]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#1 #6 · ⑥④⑤②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[44][60][70][75][54]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→950 实测 + →960 零拷贝/lane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U10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流式 token 与 Agent 工具调用走 UB 消息语义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 token 一条 HTTP/2 + TLS record + syscall，有效载荷 2–5%、10 万流 ≈ 10–25 核（推算）；MCP 每消息一次 HTTP POST [74]；超节点内的网关↔推理、Agent↔工具/沙箱链路可换成 UMQ 立即数携带的小消息 + 批量帧，把内核栈税从每 token 变成每批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#7 #2 · ③④⑥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[33][74] 推算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趋势 · →950 原型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优先级建议：U9（AI 数据路径实测，三条生产路径一个 CPU 侧数字都没有）&gt; U1/U2/U8（软件就能改的默认配置）&gt; U6（零拷贝接缝，收益已在阿里生产验证）&gt; U3/U4（UB Controller 的 RPC 感知，→960）&gt; U7（同域共享内存 RPC，需调度器配合）&gt; U5 &gt; U10（趋势）。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 7/8  ·  文献里每个方案都有四个数：每核 Mops、RTT、每 Gbps 核数、连接数 vs 延迟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专题 3/3：验证清单——用文献同口径的数字给 UB 立论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657600"/>
                <a:gridCol w="2926080"/>
                <a:gridCol w="20116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测什么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对标口径（文献）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在哪测 / 载体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回答哪个发力点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小消息 RPC：RTT、每核 Mops、每 Gbps 核数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eRPC 2.3 µs RTT、10 Mrps/核 [31]；Falcon 单 QP 20 Mops、12 QP 120 Mops、8 B–2 MB 5.8–8.7 µs [30]；Homa/Linux 18 核 @100 Gbps [32]；Snap 7–14 核 [38]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bRPC over UB（brpc_ub）+ HCOM 微基准；64 B / 512 B / 1.5 KB / 16 KB 四档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U1 U6；判断 RPC 场景 UB 相对 RoCE 的实际差距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连接数 vs 延迟：RC_TP vs RM_TP（+share_tp）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Falcon &gt;100K 连接无悬崖；CX-7 &gt;100K 连接 RTT 3× [30]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ServiceRouter 式客户端连 1K / 10K / 100K 对端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U2；决定 bRPC-UB 默认配置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通知→唤醒延迟：JFCE / 消息中断 vs 轮询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&gt;50 µs 中断唤醒 [02]；CXL 轮询 [14]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HCOM 收端三种模式对比；P99 与核占用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Load/Store 远端访存延迟（TP Bypass）与 OBMM 共享内存 RPC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CXL 远端 ~200–400 ns；HydraRPC 1.47 µs 真硬件 [14]；RPCool 1.5 µs 模拟 [29]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超节点内两节点 OBMM 共享段；复现 HydraRPC 协议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U7；也回答 KV 池的远端读（U9）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Jetty Group 分发：RQ 深度 vs RSS 哈希 vs 软件 LB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RPCValet 比 RSS +29–76% [11]；nanoPU 有界尾延迟 [10]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多核收端、请求服务时间双峰分布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CQE 时间戳 / CC 可编程性 / 接收侧资源回传是否存在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Falcon：CC 算法可演化是必需，NIC 核每 RTT 算一次（&lt;32 µs）足够 [30]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Controller 规格与驱动接口审查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路径：EMS / XCCL / Mooncake kunpeng_transport 的 CPU 侧数字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XCCL &lt;20 µs@&lt;1 MB（NPU 侧）[60]；EMS +1.52× / TTFT −59% [44]；Splitwise 逐层流水 5–8 ms [46]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同机 kunpeng_transport vs rdma_transport（Mooncake bench）；CPU 侧 URMA 读远端 DRAM；x32 lane 出口带宽 vs DRAM 带宽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U9 H11；决定"CPU DRAM 作状态层"的 SKU 参数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流式 token / MCP 走 UB 的原型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 token 小消息有效载荷 2–5%、10 万流 10–25 核（推算）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网关↔推理实例走 UMQ 立即数 + 批量帧；对比 HTTP/2 + TLS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U10（趋势，先做原型再定）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Controller 是否直写 L3 及容量控制；UMMU TLB/PLB miss 代价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DDIO 的 LLC 争用（REPORT A5）；Cornflakes 注册簿记 [26]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微基准 + perf 计数器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U1 U6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035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这张表与 REPORT 6.4 的"待测清单"一致；前三项是 UB 在 RPC 场景立论的第一步，第七项是 UB 在 AI 场景立论的第一步。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 8/8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争议与待内部确认项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67512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807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cache 会被算法压没吗？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36776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MLA 已把每 token KV 压到 Llama 架构的 1/4–1/5，线性/稀疏注意力在继续；但 Agent 上下文 20K→200K→1M 反向增长。判断：总量增、每 token 降，"CPU DRAM 作 KV 池"稳。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667512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3134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沙箱会更轻吗？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69464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本地已进程级（bubblewrap/seccomp/Landlock）[74]；云端仍容器/microVM；RL 进程级后 &lt;5% [76]。轻隔离解决创建税，不解决 28 GB 工作集与 I/O 税 [57]。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667512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2461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税会被"绕过 CPU"消灭吗？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502152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侧采样 [44]、graph 模式 [60]、DPU+GPU 持久 kernel [58]——会缩小但不消失（连续批处理决策仍在 CPU）；GH200 显示只要 host 在路上，Arm launch 劣势就进延迟 [59]。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4123944"/>
            <a:ext cx="667512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1788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压缩在 AI 里还值得投吗？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43484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直接压 KV 无效 [48]；位平面变换 + codec 无损 1.9× [70]；zswap 压空闲状态 +62–67% [74]。结论：值得，但部件在内存侧、前端要有张量变换。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5056632"/>
            <a:ext cx="667512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1114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推理成气候吗？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367528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Neoverse V2 上 BF16 2.7×、INT8 4.8–6.2× [74]；Arm AGI CPU 136×V3。围绕大模型的小模型（rerank/embedding/draft）在 CPU 上可行，取决于客户负载。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52360" y="1325880"/>
            <a:ext cx="4160520" cy="4572000"/>
          </a:xfrm>
          <a:prstGeom prst="roundRect">
            <a:avLst>
              <a:gd name="adj" fmla="val 1758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待内部确认（本文不替代内部数据）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1783080"/>
            <a:ext cx="3931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鲲鹏 950：SVE 版本、内存通道数、L3（仅二手来源：12 ch、SVE；与 48 TB/32 颗 = 1.5 TB/颗自洽）</a:t>
            </a:r>
            <a:endParaRPr lang="en-US" sz="8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各路径延迟与 Mops：EMS、XCCL（&lt;20 µs@&lt;1 MB 为 NPU 侧）、Mooncake kunpeng_transport——CPU 侧 URMA 一个数都没有</a:t>
            </a:r>
            <a:endParaRPr lang="en-US" sz="8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x32 UB lane 的实际出口带宽 vs DRAM 带宽（哪端先饱和）</a:t>
            </a:r>
            <a:endParaRPr lang="en-US" sz="8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鲲鹏–昇腾 graph dispatch 延迟（对标 0.6–0.8 ms [44]、x86 2.3 µs/launch [59]）</a:t>
            </a:r>
            <a:endParaRPr lang="en-US" sz="8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流量的 fleet 级占比（三份 trace 都是单位量，不是占比）</a:t>
            </a:r>
            <a:endParaRPr lang="en-US" sz="8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集群每 rollout NPU 需要的 CPU 核（沙箱 + 前端）</a:t>
            </a:r>
            <a:endParaRPr lang="en-US" sz="8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Firecracker/gVisor/进程级沙箱在 950 上的创建·恢复·密度；机密计算开销（对标 virtCCA &lt;29.7%）</a:t>
            </a:r>
            <a:endParaRPr lang="en-US" sz="8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KAE zip 对 bf16 张量的实测压缩率（推算 1.1–1.5×）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35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没有找到 fleet 级"AI 时代 datacenter tax 再刻画"论文——[69] 给了原因：AI 时代 CPU 侧的税以加速器空转而非 CPU 周期的形式出现。最接近的是 AgentSysBench 的"控制面税" [57] 与 Blink 的"serving-stack tax" [58]。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资料索引 · 关键数字速查 · 方法局限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全部笔记见 RPC_PAPERS/notes/（01–77），洞察正文见 INSIGHT_AI_WORKLOAD.md，RPC/微服务综述见 REPORT.md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1/3  ·  完整列表见 notes/INDEX.md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资料索引：本 PPT 引用的笔记编号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4406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108960"/>
                <a:gridCol w="182880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 / 资料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出处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Profiling a WSC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ISCA 2015 Google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Cloud-Scale Characterization of RPCs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SOSP 2023 Google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Lifting the Veil (Meta microservices)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ATC 2023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Alibaba Trace Analysis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SoCC 2021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CRISP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ATC 2022 Uber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Cerebros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 2021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mRPC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NSDI 2023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zBuffer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PPoPP 2026 阿里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Accelerometer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ASPLOS 2020 Meta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ServiceRouter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OSDI 2023 Meta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ProtoAcc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 2021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Cornflakes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SOSP 2023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RPCool / Telepathic CXL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arXiv 2024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32/33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Homa Linux / Host network path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ATC 2021 / 2021–25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CDPU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ISCA 2023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Memory Allocator at WSC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ASPLOS 2024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XLB / Alibaba 2025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arXiv 2025–26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Profiling Hyperscale Big Data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ISCA 2023 Google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CloudMatrix384 Serving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arXiv 2025 华为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Mooncake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FAST 2025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Splitwise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ISCA 2024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DistServe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OSDI 2024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CacheGen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SIGCOMM 2024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NanoFlow + WukLab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OSDI 2025 / 博客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Autellix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arXiv 2025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Firecracker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NSDI 2020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280160"/>
          <a:ext cx="54406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108960"/>
                <a:gridCol w="182880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 / 资料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出处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RAGO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ISCA 2025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DSI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ISCA 2022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UB-Mesh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ISCA 2025 华为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TraceLab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arXiv 2026-06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AgentSysBench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arXiv 2026-08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Blink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arXiv 2026-04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GH200 刻画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arXiv 2025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xDeepServe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arXiv 2025 华为云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virtCCA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arXiv 2023 华为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Acme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NSDI 2024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ByteCheckpoint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NSDI 2025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gVisor + REAP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HotCloud 2019 / ASPLOS 2021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向量检索第二层内存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arXiv 2024 SJTU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Parrot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OSDI 2024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SMetric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arXiv 2026-07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TokTier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arXiv 2026-07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欠配刻画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arXiv 2026-03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CXL 作 KV 层（4 篇）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2024–26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 host 合集（4 篇）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2024–25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推荐推理合集（3 篇）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HPCA/ISCA 2020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 合集（10 篇）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2023–25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网络资料（6 份）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2024–26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Mooncake UB 后端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 2026-09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后训练 host 侧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arXiv 2025–26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生成式推荐 HSTU / OneRec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ICML 2024 / arXiv 2025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2/3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关键数字速查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13816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 fleet 税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alloc 6–7 / compress 5–6 / memcpy 4–5 / protobuf 3–4 / rpc 3 / hash 1–2 → 22–27% cycles；内核 18–20%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全路径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7.1% cycles；延迟税均值 2%、尾 96%；P90 请求 11.8 KB、P99 196 KB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[02]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 token KV（bf16）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Llama-3-70B 320 KB；Qwen3-235B 188 KB；DeepSeek-V3 69 KB；2 TB ≈ 310 个 100K 会话（DS-V3）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KV 传输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1.13 GB/512 tok@66B，10 rps → 90 Gbps；逐层流水后 &lt;7%、5–8 ms、E2E +0.8%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[47][46]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EMS over UB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prefill +1.52×；TTFT −34%（50% 复用）/−59%（90%）；模型切换 5 s vs 281 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[44]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host 调度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vLLM V0 ~50%（A100/8B）；SGLang ≤18%；graph dispatch 0.6–0.8 ms；共置 TTFT 139×；Grace launch 2.77 µs vs x86 2.26–2.37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[49][44][58][59]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HF 2–4 MB/s/核；命中率→0.99 时占 TTFT 64%；16 核前端 40 req/s 饱和；CPU 欠配 TTFT 1.47–7.11×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[68][69]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真实 trace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8.8 调用 + 10.8 工具/请求、4.3 min；119K/875/214 token/步；命中 95.7%、冗余 prefill 3.8×；工具占响应 59.8%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[56]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生产会话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中位 20% 时间执行；TTL 驱逐 59.4% 会话、占 31.5% 费用；沙箱 0.8/28 GB；每会话数十 MB 序列化；复用 &gt;80%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[57][67]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Firecracker &lt;125 ms、&lt;5 MB、150 VM/s；gVisor syscall 2.2×、open 216×；快照 +95% → 预取 3.7×；virtCCA &lt;29.7%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[51][64][61]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rollout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容器环境准备占 19–29% → 进程级 8–9%（89 s → 24 s）；ASandbox 100 ms / 5,000 QPS；rollout 占设备 3/4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[76]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训练数据层 / checkpoint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加载占 40% CPU + 55% 带宽、TLS 3×；checkpoint 200 s@175B/4096 GPU、同步 −43%；CPU 16:1 闲置、DRAM &lt;50%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[53][63][62]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向量检索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&lt;1%–86% 端到端；PQ 18 GB/s/核、80% 带宽；SSD 放大 5.8–7.7×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[52][65]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推荐（DLRM → 生成式）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DLRM 占 AI 推理周期 79%、内存主导、近内存 9.8×；HSTU 1.5T、A/B +12.4%；OneRec 25% QPS、OPEX 10.6%、MFU 23.7/28.8%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[72][77]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CacheGen 比 8-bit 再压 3.5–4.3×（有损）；TRACE 变换后 KV 46.9%（无损）；IAA-zswap +62–67%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[48][70][74]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事实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x32 / NPU x72 lane；UB 2.0 2.1 µs、TB/s；XCCL &lt;20 µs@&lt;1 MB；TaiShan 950 SuperPoD 16 节点/32 颗/48 TB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[54][60] HC2025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3/3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方法局限与标注说明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占比不可跨流程直接相加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70992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每条流程的 A 口径是"一次请求/一条轨迹"内的份额，分母不同；p3 热力图的等级只表示量级，不表示 fleet 加权。fleet 加权需要各业务的流量占比——Agent 的 fleet 占比目前没有公开数据。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36792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实测数字有各自的硬件与年代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36792" y="170992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V0 的 50% 是 2024 年 A100 数据（V1 已 +1.7×）；Firecracker 是 2019 年 x86；Kanev 是 2015 年 Ivy Bridge。用作量级与方向，不用作绝对值；鲲鹏上的数字全部待测。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971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推算值给出输入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26440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字节数按公开模型配置；托管会话数按 2 TB / 每 token KV / 100K；流式消息按 [33] 的每条 2–5 µs；重处理量按 TraceLab 中位数 × 步数。输入变则结论变。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28803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36792" y="2971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三份 Agent trace 的代表性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36792" y="326440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TraceLab 是 43 名开发者的编码 Agent；AgentSysBench 的生产 trace 是三个应用 24 h；SMetric 是阿里百炼。都不是 fleet 级，但三者独立同向。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华为公开资料的使用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81888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CloudMatrix384、xDeepServe、UB-Mesh、virtCCA 论文与 HC2025 发布按〔公开〕引用；内部有更准数据时以内部为准；本 PPT 不猜测内部规格（标〔待内部确认〕）。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44348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没有做的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36792" y="481888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没有跑任何实测；没有读 Llama 3 基础设施章节、MTIA、Catalyzer/VEE 等付费或被覆盖的 6 篇；没有 fleet 级 AI 税再刻画（不存在）；生成式推荐（HSTU/OneRec）的 host 侧无公开剖析，② 的 AI 化部分以趋势标注。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时代的数据中心税：六个业务场景与鲲鹏基础加速的发力点</dc:title>
  <dc:subject>PptxGenJS Presentation</dc:subject>
  <dc:creator>Kunpeng 基础加速 / 洞察工作组</dc:creator>
  <cp:lastModifiedBy>Kunpeng 基础加速 / 洞察工作组</cp:lastModifiedBy>
  <cp:revision>1</cp:revision>
  <dcterms:created xsi:type="dcterms:W3CDTF">2026-09-30T03:08:45Z</dcterms:created>
  <dcterms:modified xsi:type="dcterms:W3CDTF">2026-09-30T03:08:45Z</dcterms:modified>
</cp:coreProperties>
</file>